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6948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E07856">
              <a:alpha val="12000"/>
            </a:srgbClr>
          </a:solidFill>
          <a:ln/>
        </p:spPr>
      </p:sp>
      <p:sp>
        <p:nvSpPr>
          <p:cNvPr id="3" name="Shape 1"/>
          <p:cNvSpPr/>
          <p:nvPr/>
        </p:nvSpPr>
        <p:spPr>
          <a:xfrm>
            <a:off x="-2194560" y="3840480"/>
            <a:ext cx="5120640" cy="5120640"/>
          </a:xfrm>
          <a:prstGeom prst="ellipse">
            <a:avLst/>
          </a:prstGeom>
          <a:solidFill>
            <a:srgbClr val="9D7BFF">
              <a:alpha val="10000"/>
            </a:srgbClr>
          </a:solidFill>
          <a:ln/>
        </p:spPr>
      </p:sp>
      <p:sp>
        <p:nvSpPr>
          <p:cNvPr id="4" name="Shape 2"/>
          <p:cNvSpPr/>
          <p:nvPr/>
        </p:nvSpPr>
        <p:spPr>
          <a:xfrm>
            <a:off x="4389120" y="5120640"/>
            <a:ext cx="2926080" cy="2926080"/>
          </a:xfrm>
          <a:prstGeom prst="ellipse">
            <a:avLst/>
          </a:prstGeom>
          <a:solidFill>
            <a:srgbClr val="1FD1A8">
              <a:alpha val="8000"/>
            </a:srgbClr>
          </a:solidFill>
          <a:ln/>
        </p:spPr>
      </p:sp>
      <p:sp>
        <p:nvSpPr>
          <p:cNvPr id="5" name="Text 3"/>
          <p:cNvSpPr/>
          <p:nvPr/>
        </p:nvSpPr>
        <p:spPr>
          <a:xfrm>
            <a:off x="822960" y="1234440"/>
            <a:ext cx="10515600" cy="365760"/>
          </a:xfrm>
          <a:prstGeom prst="rect">
            <a:avLst/>
          </a:prstGeom>
          <a:noFill/>
          <a:ln/>
        </p:spPr>
        <p:txBody>
          <a:bodyPr wrap="square" rtlCol="0" anchor="ctr"/>
          <a:lstStyle/>
          <a:p>
            <a:pPr marL="0" indent="0">
              <a:buNone/>
            </a:pPr>
            <a:r>
              <a:rPr lang="en-US" sz="1400" b="1" kern="0" spc="300" dirty="0">
                <a:solidFill>
                  <a:srgbClr val="1FD1A8"/>
                </a:solidFill>
                <a:latin typeface="Calibri" pitchFamily="34" charset="0"/>
                <a:ea typeface="Calibri" pitchFamily="34" charset="-122"/>
                <a:cs typeface="Calibri" pitchFamily="34" charset="-120"/>
              </a:rPr>
              <a:t>AI AUTOMATION · AGENTIC SYSTEMS</a:t>
            </a:r>
            <a:endParaRPr lang="en-US" sz="1400" dirty="0"/>
          </a:p>
        </p:txBody>
      </p:sp>
      <p:sp>
        <p:nvSpPr>
          <p:cNvPr id="6" name="Text 4"/>
          <p:cNvSpPr/>
          <p:nvPr/>
        </p:nvSpPr>
        <p:spPr>
          <a:xfrm>
            <a:off x="822960" y="1691640"/>
            <a:ext cx="10515600" cy="1828800"/>
          </a:xfrm>
          <a:prstGeom prst="rect">
            <a:avLst/>
          </a:prstGeom>
          <a:noFill/>
          <a:ln/>
        </p:spPr>
        <p:txBody>
          <a:bodyPr wrap="square" rtlCol="0" anchor="ctr"/>
          <a:lstStyle/>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AI-Powered Workflow</a:t>
            </a:r>
            <a:endParaRPr lang="en-US" sz="4800" dirty="0"/>
          </a:p>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Automation</a:t>
            </a:r>
            <a:endParaRPr lang="en-US" sz="4800" dirty="0"/>
          </a:p>
        </p:txBody>
      </p:sp>
      <p:sp>
        <p:nvSpPr>
          <p:cNvPr id="7" name="Text 5"/>
          <p:cNvSpPr/>
          <p:nvPr/>
        </p:nvSpPr>
        <p:spPr>
          <a:xfrm>
            <a:off x="822960" y="3611880"/>
            <a:ext cx="10241280" cy="457200"/>
          </a:xfrm>
          <a:prstGeom prst="rect">
            <a:avLst/>
          </a:prstGeom>
          <a:noFill/>
          <a:ln/>
        </p:spPr>
        <p:txBody>
          <a:bodyPr wrap="square" rtlCol="0" anchor="ctr"/>
          <a:lstStyle/>
          <a:p>
            <a:pPr marL="0" indent="0">
              <a:buNone/>
            </a:pPr>
            <a:r>
              <a:rPr lang="en-US" sz="1700" i="1" dirty="0">
                <a:solidFill>
                  <a:srgbClr val="94A0C7"/>
                </a:solidFill>
                <a:latin typeface="Calibri" pitchFamily="34" charset="0"/>
                <a:ea typeface="Calibri" pitchFamily="34" charset="-122"/>
                <a:cs typeface="Calibri" pitchFamily="34" charset="-120"/>
              </a:rPr>
              <a:t>How </a:t>
            </a:r>
            <a:r>
              <a:rPr lang="en-US" sz="1700" b="1" i="1" dirty="0">
                <a:solidFill>
                  <a:srgbClr val="E07856"/>
                </a:solidFill>
                <a:latin typeface="Calibri" pitchFamily="34" charset="0"/>
                <a:ea typeface="Calibri" pitchFamily="34" charset="-122"/>
                <a:cs typeface="Calibri" pitchFamily="34" charset="-120"/>
              </a:rPr>
              <a:t>Claude</a:t>
            </a:r>
            <a:r>
              <a:rPr lang="en-US" sz="1700" i="1" dirty="0">
                <a:solidFill>
                  <a:srgbClr val="94A0C7"/>
                </a:solidFill>
                <a:latin typeface="Calibri" pitchFamily="34" charset="0"/>
                <a:ea typeface="Calibri" pitchFamily="34" charset="-122"/>
                <a:cs typeface="Calibri" pitchFamily="34" charset="-120"/>
              </a:rPr>
              <a:t>, </a:t>
            </a:r>
            <a:r>
              <a:rPr lang="en-US" sz="1700" b="1" i="1" dirty="0">
                <a:solidFill>
                  <a:srgbClr val="FFB930"/>
                </a:solidFill>
                <a:latin typeface="Calibri" pitchFamily="34" charset="0"/>
                <a:ea typeface="Calibri" pitchFamily="34" charset="-122"/>
                <a:cs typeface="Calibri" pitchFamily="34" charset="-120"/>
              </a:rPr>
              <a:t>LM Arena</a:t>
            </a:r>
            <a:r>
              <a:rPr lang="en-US" sz="1700" i="1" dirty="0">
                <a:solidFill>
                  <a:srgbClr val="94A0C7"/>
                </a:solidFill>
                <a:latin typeface="Calibri" pitchFamily="34" charset="0"/>
                <a:ea typeface="Calibri" pitchFamily="34" charset="-122"/>
                <a:cs typeface="Calibri" pitchFamily="34" charset="-120"/>
              </a:rPr>
              <a:t>, </a:t>
            </a:r>
            <a:r>
              <a:rPr lang="en-US" sz="1700" b="1" i="1" dirty="0">
                <a:solidFill>
                  <a:srgbClr val="3B82F6"/>
                </a:solidFill>
                <a:latin typeface="Calibri" pitchFamily="34" charset="0"/>
                <a:ea typeface="Calibri" pitchFamily="34" charset="-122"/>
                <a:cs typeface="Calibri" pitchFamily="34" charset="-120"/>
              </a:rPr>
              <a:t>Jira</a:t>
            </a:r>
            <a:r>
              <a:rPr lang="en-US" sz="1700" i="1" dirty="0">
                <a:solidFill>
                  <a:srgbClr val="94A0C7"/>
                </a:solidFill>
                <a:latin typeface="Calibri" pitchFamily="34" charset="0"/>
                <a:ea typeface="Calibri" pitchFamily="34" charset="-122"/>
                <a:cs typeface="Calibri" pitchFamily="34" charset="-120"/>
              </a:rPr>
              <a:t> &amp; </a:t>
            </a:r>
            <a:r>
              <a:rPr lang="en-US" sz="1700" b="1" i="1" dirty="0">
                <a:solidFill>
                  <a:srgbClr val="FF6B81"/>
                </a:solidFill>
                <a:latin typeface="Calibri" pitchFamily="34" charset="0"/>
                <a:ea typeface="Calibri" pitchFamily="34" charset="-122"/>
                <a:cs typeface="Calibri" pitchFamily="34" charset="-120"/>
              </a:rPr>
              <a:t>N8N</a:t>
            </a:r>
            <a:r>
              <a:rPr lang="en-US" sz="1700" i="1" dirty="0">
                <a:solidFill>
                  <a:srgbClr val="94A0C7"/>
                </a:solidFill>
                <a:latin typeface="Calibri" pitchFamily="34" charset="0"/>
                <a:ea typeface="Calibri" pitchFamily="34" charset="-122"/>
                <a:cs typeface="Calibri" pitchFamily="34" charset="-120"/>
              </a:rPr>
              <a:t> Work Together with </a:t>
            </a:r>
            <a:r>
              <a:rPr lang="en-US" sz="1700" b="1" i="1" dirty="0">
                <a:solidFill>
                  <a:srgbClr val="9D7BFF"/>
                </a:solidFill>
                <a:latin typeface="Calibri" pitchFamily="34" charset="0"/>
                <a:ea typeface="Calibri" pitchFamily="34" charset="-122"/>
                <a:cs typeface="Calibri" pitchFamily="34" charset="-120"/>
              </a:rPr>
              <a:t>Agentic AI</a:t>
            </a:r>
            <a:endParaRPr lang="en-US" sz="1700" dirty="0"/>
          </a:p>
        </p:txBody>
      </p:sp>
      <p:sp>
        <p:nvSpPr>
          <p:cNvPr id="8" name="Text 6"/>
          <p:cNvSpPr/>
          <p:nvPr/>
        </p:nvSpPr>
        <p:spPr>
          <a:xfrm>
            <a:off x="822960" y="4114800"/>
            <a:ext cx="10058400" cy="365760"/>
          </a:xfrm>
          <a:prstGeom prst="rect">
            <a:avLst/>
          </a:prstGeom>
          <a:noFill/>
          <a:ln/>
        </p:spPr>
        <p:txBody>
          <a:bodyPr wrap="square" rtlCol="0" anchor="ctr"/>
          <a:lstStyle/>
          <a:p>
            <a:pPr marL="0" indent="0">
              <a:buNone/>
            </a:pPr>
            <a:r>
              <a:rPr lang="en-US" sz="1300" dirty="0">
                <a:solidFill>
                  <a:srgbClr val="6B77A6"/>
                </a:solidFill>
                <a:latin typeface="Calibri" pitchFamily="34" charset="0"/>
                <a:ea typeface="Calibri" pitchFamily="34" charset="-122"/>
                <a:cs typeface="Calibri" pitchFamily="34" charset="-120"/>
              </a:rPr>
              <a:t>Understanding Modern AI Automation Ecosystems &amp; Intelligent Agent Systems</a:t>
            </a:r>
            <a:endParaRPr lang="en-US" sz="1300" dirty="0"/>
          </a:p>
        </p:txBody>
      </p:sp>
      <p:sp>
        <p:nvSpPr>
          <p:cNvPr id="9" name="Shape 7"/>
          <p:cNvSpPr/>
          <p:nvPr/>
        </p:nvSpPr>
        <p:spPr>
          <a:xfrm>
            <a:off x="822960" y="5074920"/>
            <a:ext cx="1965960" cy="868680"/>
          </a:xfrm>
          <a:prstGeom prst="roundRect">
            <a:avLst>
              <a:gd name="adj" fmla="val 10526"/>
            </a:avLst>
          </a:prstGeom>
          <a:solidFill>
            <a:srgbClr val="141A3D"/>
          </a:solidFill>
          <a:ln w="15875">
            <a:solidFill>
              <a:srgbClr val="E07856"/>
            </a:solidFill>
            <a:prstDash val="solid"/>
          </a:ln>
        </p:spPr>
      </p:sp>
      <p:sp>
        <p:nvSpPr>
          <p:cNvPr id="10" name="Text 8"/>
          <p:cNvSpPr/>
          <p:nvPr/>
        </p:nvSpPr>
        <p:spPr>
          <a:xfrm>
            <a:off x="822960" y="5148072"/>
            <a:ext cx="1965960" cy="38404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822960" y="5541264"/>
            <a:ext cx="1965960" cy="29260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Claude</a:t>
            </a:r>
            <a:endParaRPr lang="en-US" sz="1150" dirty="0"/>
          </a:p>
        </p:txBody>
      </p:sp>
      <p:sp>
        <p:nvSpPr>
          <p:cNvPr id="12" name="Shape 10"/>
          <p:cNvSpPr/>
          <p:nvPr/>
        </p:nvSpPr>
        <p:spPr>
          <a:xfrm>
            <a:off x="2953512" y="5074920"/>
            <a:ext cx="1965960" cy="868680"/>
          </a:xfrm>
          <a:prstGeom prst="roundRect">
            <a:avLst>
              <a:gd name="adj" fmla="val 10526"/>
            </a:avLst>
          </a:prstGeom>
          <a:solidFill>
            <a:srgbClr val="141A3D"/>
          </a:solidFill>
          <a:ln w="15875">
            <a:solidFill>
              <a:srgbClr val="FFB930"/>
            </a:solidFill>
            <a:prstDash val="solid"/>
          </a:ln>
        </p:spPr>
      </p:sp>
      <p:sp>
        <p:nvSpPr>
          <p:cNvPr id="13" name="Text 11"/>
          <p:cNvSpPr/>
          <p:nvPr/>
        </p:nvSpPr>
        <p:spPr>
          <a:xfrm>
            <a:off x="2953512" y="5148072"/>
            <a:ext cx="1965960" cy="38404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2953512" y="5541264"/>
            <a:ext cx="1965960" cy="29260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LM Arena</a:t>
            </a:r>
            <a:endParaRPr lang="en-US" sz="1150" dirty="0"/>
          </a:p>
        </p:txBody>
      </p:sp>
      <p:sp>
        <p:nvSpPr>
          <p:cNvPr id="15" name="Shape 13"/>
          <p:cNvSpPr/>
          <p:nvPr/>
        </p:nvSpPr>
        <p:spPr>
          <a:xfrm>
            <a:off x="5084064" y="5074920"/>
            <a:ext cx="1965960" cy="868680"/>
          </a:xfrm>
          <a:prstGeom prst="roundRect">
            <a:avLst>
              <a:gd name="adj" fmla="val 10526"/>
            </a:avLst>
          </a:prstGeom>
          <a:solidFill>
            <a:srgbClr val="141A3D"/>
          </a:solidFill>
          <a:ln w="15875">
            <a:solidFill>
              <a:srgbClr val="3B82F6"/>
            </a:solidFill>
            <a:prstDash val="solid"/>
          </a:ln>
        </p:spPr>
      </p:sp>
      <p:sp>
        <p:nvSpPr>
          <p:cNvPr id="16" name="Text 14"/>
          <p:cNvSpPr/>
          <p:nvPr/>
        </p:nvSpPr>
        <p:spPr>
          <a:xfrm>
            <a:off x="5084064" y="5148072"/>
            <a:ext cx="1965960" cy="38404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5084064" y="5541264"/>
            <a:ext cx="1965960" cy="29260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Jira</a:t>
            </a:r>
            <a:endParaRPr lang="en-US" sz="1150" dirty="0"/>
          </a:p>
        </p:txBody>
      </p:sp>
      <p:sp>
        <p:nvSpPr>
          <p:cNvPr id="18" name="Shape 16"/>
          <p:cNvSpPr/>
          <p:nvPr/>
        </p:nvSpPr>
        <p:spPr>
          <a:xfrm>
            <a:off x="7214616" y="5074920"/>
            <a:ext cx="1965960" cy="868680"/>
          </a:xfrm>
          <a:prstGeom prst="roundRect">
            <a:avLst>
              <a:gd name="adj" fmla="val 10526"/>
            </a:avLst>
          </a:prstGeom>
          <a:solidFill>
            <a:srgbClr val="141A3D"/>
          </a:solidFill>
          <a:ln w="15875">
            <a:solidFill>
              <a:srgbClr val="FF6B81"/>
            </a:solidFill>
            <a:prstDash val="solid"/>
          </a:ln>
        </p:spPr>
      </p:sp>
      <p:sp>
        <p:nvSpPr>
          <p:cNvPr id="19" name="Text 17"/>
          <p:cNvSpPr/>
          <p:nvPr/>
        </p:nvSpPr>
        <p:spPr>
          <a:xfrm>
            <a:off x="7214616" y="5148072"/>
            <a:ext cx="1965960" cy="38404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7214616" y="5541264"/>
            <a:ext cx="1965960" cy="29260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N8N</a:t>
            </a:r>
            <a:endParaRPr lang="en-US" sz="1150" dirty="0"/>
          </a:p>
        </p:txBody>
      </p:sp>
      <p:sp>
        <p:nvSpPr>
          <p:cNvPr id="21" name="Shape 19"/>
          <p:cNvSpPr/>
          <p:nvPr/>
        </p:nvSpPr>
        <p:spPr>
          <a:xfrm>
            <a:off x="9345168" y="5074920"/>
            <a:ext cx="1965960" cy="868680"/>
          </a:xfrm>
          <a:prstGeom prst="roundRect">
            <a:avLst>
              <a:gd name="adj" fmla="val 10526"/>
            </a:avLst>
          </a:prstGeom>
          <a:solidFill>
            <a:srgbClr val="141A3D"/>
          </a:solidFill>
          <a:ln w="15875">
            <a:solidFill>
              <a:srgbClr val="9D7BFF"/>
            </a:solidFill>
            <a:prstDash val="solid"/>
          </a:ln>
        </p:spPr>
      </p:sp>
      <p:sp>
        <p:nvSpPr>
          <p:cNvPr id="22" name="Text 20"/>
          <p:cNvSpPr/>
          <p:nvPr/>
        </p:nvSpPr>
        <p:spPr>
          <a:xfrm>
            <a:off x="9345168" y="5148072"/>
            <a:ext cx="1965960" cy="38404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9345168" y="5541264"/>
            <a:ext cx="1965960" cy="29260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Agentic AI</a:t>
            </a:r>
            <a:endParaRPr lang="en-US" sz="1150" dirty="0"/>
          </a:p>
        </p:txBody>
      </p:sp>
      <p:sp>
        <p:nvSpPr>
          <p:cNvPr id="24" name="Text 22"/>
          <p:cNvSpPr/>
          <p:nvPr/>
        </p:nvSpPr>
        <p:spPr>
          <a:xfrm>
            <a:off x="822960" y="6236208"/>
            <a:ext cx="5486400" cy="274320"/>
          </a:xfrm>
          <a:prstGeom prst="rect">
            <a:avLst/>
          </a:prstGeom>
          <a:noFill/>
          <a:ln/>
        </p:spPr>
        <p:txBody>
          <a:bodyPr wrap="square" rtlCol="0" anchor="ctr"/>
          <a:lstStyle/>
          <a:p>
            <a:pPr marL="0" indent="0">
              <a:buNone/>
            </a:pPr>
            <a:r>
              <a:rPr lang="en-US" sz="1050" dirty="0">
                <a:solidFill>
                  <a:srgbClr val="6B77A6"/>
                </a:solidFill>
                <a:latin typeface="Calibri" pitchFamily="34" charset="0"/>
                <a:ea typeface="Calibri" pitchFamily="34" charset="-122"/>
                <a:cs typeface="Calibri" pitchFamily="34" charset="-120"/>
              </a:rPr>
              <a:t>Project Presentation  ·  Guided Review</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1FD1A8">
              <a:alpha val="10000"/>
            </a:srgbClr>
          </a:solidFill>
          <a:ln/>
        </p:spPr>
      </p:sp>
      <p:sp>
        <p:nvSpPr>
          <p:cNvPr id="3" name="Shape 1"/>
          <p:cNvSpPr/>
          <p:nvPr/>
        </p:nvSpPr>
        <p:spPr>
          <a:xfrm>
            <a:off x="-1645920" y="5120640"/>
            <a:ext cx="3291840" cy="3291840"/>
          </a:xfrm>
          <a:prstGeom prst="ellipse">
            <a:avLst/>
          </a:prstGeom>
          <a:solidFill>
            <a:srgbClr val="1FD1A8">
              <a:alpha val="8000"/>
            </a:srgbClr>
          </a:solidFill>
          <a:ln/>
        </p:spPr>
      </p:sp>
      <p:sp>
        <p:nvSpPr>
          <p:cNvPr id="4" name="Shape 2"/>
          <p:cNvSpPr/>
          <p:nvPr/>
        </p:nvSpPr>
        <p:spPr>
          <a:xfrm>
            <a:off x="502920" y="457200"/>
            <a:ext cx="658368" cy="658368"/>
          </a:xfrm>
          <a:prstGeom prst="ellipse">
            <a:avLst/>
          </a:prstGeom>
          <a:solidFill>
            <a:srgbClr val="1FD1A8">
              <a:alpha val="22000"/>
            </a:srgbClr>
          </a:solidFill>
          <a:ln w="15875">
            <a:solidFill>
              <a:srgbClr val="1FD1A8"/>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1FD1A8"/>
                </a:solidFill>
                <a:latin typeface="Calibri" pitchFamily="34" charset="0"/>
                <a:ea typeface="Calibri" pitchFamily="34" charset="-122"/>
                <a:cs typeface="Calibri" pitchFamily="34" charset="-120"/>
              </a:rPr>
              <a:t>ROADMAP</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Agenda — What We'll Cover Today</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Complete roadmap of this presentation</a:t>
            </a:r>
            <a:endParaRPr lang="en-US" sz="1350" dirty="0"/>
          </a:p>
        </p:txBody>
      </p:sp>
      <p:sp>
        <p:nvSpPr>
          <p:cNvPr id="9" name="Shape 7"/>
          <p:cNvSpPr/>
          <p:nvPr/>
        </p:nvSpPr>
        <p:spPr>
          <a:xfrm>
            <a:off x="502920" y="1691640"/>
            <a:ext cx="3611880" cy="896112"/>
          </a:xfrm>
          <a:prstGeom prst="roundRect">
            <a:avLst>
              <a:gd name="adj" fmla="val 9184"/>
            </a:avLst>
          </a:prstGeom>
          <a:solidFill>
            <a:srgbClr val="141A3D"/>
          </a:solidFill>
          <a:ln w="12700">
            <a:solidFill>
              <a:srgbClr val="2A3468"/>
            </a:solidFill>
            <a:prstDash val="solid"/>
          </a:ln>
        </p:spPr>
      </p:sp>
      <p:sp>
        <p:nvSpPr>
          <p:cNvPr id="10" name="Text 8"/>
          <p:cNvSpPr/>
          <p:nvPr/>
        </p:nvSpPr>
        <p:spPr>
          <a:xfrm>
            <a:off x="612648" y="1783080"/>
            <a:ext cx="640080" cy="713232"/>
          </a:xfrm>
          <a:prstGeom prst="rect">
            <a:avLst/>
          </a:prstGeom>
          <a:noFill/>
          <a:ln/>
        </p:spPr>
        <p:txBody>
          <a:bodyPr wrap="square" rtlCol="0" anchor="ctr"/>
          <a:lstStyle/>
          <a:p>
            <a:pPr marL="0" indent="0">
              <a:buNone/>
            </a:pPr>
            <a:r>
              <a:rPr lang="en-US" sz="2400" b="1" dirty="0">
                <a:solidFill>
                  <a:srgbClr val="E07856"/>
                </a:solidFill>
                <a:latin typeface="Cambria" pitchFamily="34" charset="0"/>
                <a:ea typeface="Cambria" pitchFamily="34" charset="-122"/>
                <a:cs typeface="Cambria" pitchFamily="34" charset="-120"/>
              </a:rPr>
              <a:t>01</a:t>
            </a:r>
            <a:endParaRPr lang="en-US" sz="2400" dirty="0"/>
          </a:p>
        </p:txBody>
      </p:sp>
      <p:sp>
        <p:nvSpPr>
          <p:cNvPr id="11" name="Text 9"/>
          <p:cNvSpPr/>
          <p:nvPr/>
        </p:nvSpPr>
        <p:spPr>
          <a:xfrm>
            <a:off x="1280160" y="1764792"/>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What is Claude AI?</a:t>
            </a:r>
            <a:endParaRPr lang="en-US" sz="1200" dirty="0"/>
          </a:p>
        </p:txBody>
      </p:sp>
      <p:sp>
        <p:nvSpPr>
          <p:cNvPr id="12" name="Shape 10"/>
          <p:cNvSpPr/>
          <p:nvPr/>
        </p:nvSpPr>
        <p:spPr>
          <a:xfrm>
            <a:off x="502920" y="2724912"/>
            <a:ext cx="3611880" cy="896112"/>
          </a:xfrm>
          <a:prstGeom prst="roundRect">
            <a:avLst>
              <a:gd name="adj" fmla="val 9184"/>
            </a:avLst>
          </a:prstGeom>
          <a:solidFill>
            <a:srgbClr val="141A3D"/>
          </a:solidFill>
          <a:ln w="12700">
            <a:solidFill>
              <a:srgbClr val="2A3468"/>
            </a:solidFill>
            <a:prstDash val="solid"/>
          </a:ln>
        </p:spPr>
      </p:sp>
      <p:sp>
        <p:nvSpPr>
          <p:cNvPr id="13" name="Text 11"/>
          <p:cNvSpPr/>
          <p:nvPr/>
        </p:nvSpPr>
        <p:spPr>
          <a:xfrm>
            <a:off x="612648" y="2816352"/>
            <a:ext cx="640080" cy="713232"/>
          </a:xfrm>
          <a:prstGeom prst="rect">
            <a:avLst/>
          </a:prstGeom>
          <a:noFill/>
          <a:ln/>
        </p:spPr>
        <p:txBody>
          <a:bodyPr wrap="square" rtlCol="0" anchor="ctr"/>
          <a:lstStyle/>
          <a:p>
            <a:pPr marL="0" indent="0">
              <a:buNone/>
            </a:pPr>
            <a:r>
              <a:rPr lang="en-US" sz="2400" b="1" dirty="0">
                <a:solidFill>
                  <a:srgbClr val="E07856"/>
                </a:solidFill>
                <a:latin typeface="Cambria" pitchFamily="34" charset="0"/>
                <a:ea typeface="Cambria" pitchFamily="34" charset="-122"/>
                <a:cs typeface="Cambria" pitchFamily="34" charset="-120"/>
              </a:rPr>
              <a:t>02</a:t>
            </a:r>
            <a:endParaRPr lang="en-US" sz="2400" dirty="0"/>
          </a:p>
        </p:txBody>
      </p:sp>
      <p:sp>
        <p:nvSpPr>
          <p:cNvPr id="14" name="Text 12"/>
          <p:cNvSpPr/>
          <p:nvPr/>
        </p:nvSpPr>
        <p:spPr>
          <a:xfrm>
            <a:off x="1280160" y="2798064"/>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Claude Deep Dive — Versions &amp; Modes</a:t>
            </a:r>
            <a:endParaRPr lang="en-US" sz="1200" dirty="0"/>
          </a:p>
        </p:txBody>
      </p:sp>
      <p:sp>
        <p:nvSpPr>
          <p:cNvPr id="15" name="Shape 13"/>
          <p:cNvSpPr/>
          <p:nvPr/>
        </p:nvSpPr>
        <p:spPr>
          <a:xfrm>
            <a:off x="502920" y="3758184"/>
            <a:ext cx="3611880" cy="896112"/>
          </a:xfrm>
          <a:prstGeom prst="roundRect">
            <a:avLst>
              <a:gd name="adj" fmla="val 9184"/>
            </a:avLst>
          </a:prstGeom>
          <a:solidFill>
            <a:srgbClr val="141A3D"/>
          </a:solidFill>
          <a:ln w="12700">
            <a:solidFill>
              <a:srgbClr val="2A3468"/>
            </a:solidFill>
            <a:prstDash val="solid"/>
          </a:ln>
        </p:spPr>
      </p:sp>
      <p:sp>
        <p:nvSpPr>
          <p:cNvPr id="16" name="Text 14"/>
          <p:cNvSpPr/>
          <p:nvPr/>
        </p:nvSpPr>
        <p:spPr>
          <a:xfrm>
            <a:off x="612648" y="3849624"/>
            <a:ext cx="640080" cy="713232"/>
          </a:xfrm>
          <a:prstGeom prst="rect">
            <a:avLst/>
          </a:prstGeom>
          <a:noFill/>
          <a:ln/>
        </p:spPr>
        <p:txBody>
          <a:bodyPr wrap="square" rtlCol="0" anchor="ctr"/>
          <a:lstStyle/>
          <a:p>
            <a:pPr marL="0" indent="0">
              <a:buNone/>
            </a:pPr>
            <a:r>
              <a:rPr lang="en-US" sz="2400" b="1" dirty="0">
                <a:solidFill>
                  <a:srgbClr val="FFB930"/>
                </a:solidFill>
                <a:latin typeface="Cambria" pitchFamily="34" charset="0"/>
                <a:ea typeface="Cambria" pitchFamily="34" charset="-122"/>
                <a:cs typeface="Cambria" pitchFamily="34" charset="-120"/>
              </a:rPr>
              <a:t>03</a:t>
            </a:r>
            <a:endParaRPr lang="en-US" sz="2400" dirty="0"/>
          </a:p>
        </p:txBody>
      </p:sp>
      <p:sp>
        <p:nvSpPr>
          <p:cNvPr id="17" name="Text 15"/>
          <p:cNvSpPr/>
          <p:nvPr/>
        </p:nvSpPr>
        <p:spPr>
          <a:xfrm>
            <a:off x="1280160" y="3831336"/>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What is LM Arena?</a:t>
            </a:r>
            <a:endParaRPr lang="en-US" sz="1200" dirty="0"/>
          </a:p>
        </p:txBody>
      </p:sp>
      <p:sp>
        <p:nvSpPr>
          <p:cNvPr id="18" name="Shape 16"/>
          <p:cNvSpPr/>
          <p:nvPr/>
        </p:nvSpPr>
        <p:spPr>
          <a:xfrm>
            <a:off x="502920" y="4791456"/>
            <a:ext cx="3611880" cy="896112"/>
          </a:xfrm>
          <a:prstGeom prst="roundRect">
            <a:avLst>
              <a:gd name="adj" fmla="val 9184"/>
            </a:avLst>
          </a:prstGeom>
          <a:solidFill>
            <a:srgbClr val="141A3D"/>
          </a:solidFill>
          <a:ln w="12700">
            <a:solidFill>
              <a:srgbClr val="2A3468"/>
            </a:solidFill>
            <a:prstDash val="solid"/>
          </a:ln>
        </p:spPr>
      </p:sp>
      <p:sp>
        <p:nvSpPr>
          <p:cNvPr id="19" name="Text 17"/>
          <p:cNvSpPr/>
          <p:nvPr/>
        </p:nvSpPr>
        <p:spPr>
          <a:xfrm>
            <a:off x="612648" y="4882896"/>
            <a:ext cx="640080" cy="713232"/>
          </a:xfrm>
          <a:prstGeom prst="rect">
            <a:avLst/>
          </a:prstGeom>
          <a:noFill/>
          <a:ln/>
        </p:spPr>
        <p:txBody>
          <a:bodyPr wrap="square" rtlCol="0" anchor="ctr"/>
          <a:lstStyle/>
          <a:p>
            <a:pPr marL="0" indent="0">
              <a:buNone/>
            </a:pPr>
            <a:r>
              <a:rPr lang="en-US" sz="2400" b="1" dirty="0">
                <a:solidFill>
                  <a:srgbClr val="3B82F6"/>
                </a:solidFill>
                <a:latin typeface="Cambria" pitchFamily="34" charset="0"/>
                <a:ea typeface="Cambria" pitchFamily="34" charset="-122"/>
                <a:cs typeface="Cambria" pitchFamily="34" charset="-120"/>
              </a:rPr>
              <a:t>04</a:t>
            </a:r>
            <a:endParaRPr lang="en-US" sz="2400" dirty="0"/>
          </a:p>
        </p:txBody>
      </p:sp>
      <p:sp>
        <p:nvSpPr>
          <p:cNvPr id="20" name="Text 18"/>
          <p:cNvSpPr/>
          <p:nvPr/>
        </p:nvSpPr>
        <p:spPr>
          <a:xfrm>
            <a:off x="1280160" y="4864608"/>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What is Jira?</a:t>
            </a:r>
            <a:endParaRPr lang="en-US" sz="1200" dirty="0"/>
          </a:p>
        </p:txBody>
      </p:sp>
      <p:sp>
        <p:nvSpPr>
          <p:cNvPr id="21" name="Shape 19"/>
          <p:cNvSpPr/>
          <p:nvPr/>
        </p:nvSpPr>
        <p:spPr>
          <a:xfrm>
            <a:off x="502920" y="5824728"/>
            <a:ext cx="3611880" cy="896112"/>
          </a:xfrm>
          <a:prstGeom prst="roundRect">
            <a:avLst>
              <a:gd name="adj" fmla="val 9184"/>
            </a:avLst>
          </a:prstGeom>
          <a:solidFill>
            <a:srgbClr val="141A3D"/>
          </a:solidFill>
          <a:ln w="12700">
            <a:solidFill>
              <a:srgbClr val="2A3468"/>
            </a:solidFill>
            <a:prstDash val="solid"/>
          </a:ln>
        </p:spPr>
      </p:sp>
      <p:sp>
        <p:nvSpPr>
          <p:cNvPr id="22" name="Text 20"/>
          <p:cNvSpPr/>
          <p:nvPr/>
        </p:nvSpPr>
        <p:spPr>
          <a:xfrm>
            <a:off x="612648" y="5916168"/>
            <a:ext cx="640080" cy="713232"/>
          </a:xfrm>
          <a:prstGeom prst="rect">
            <a:avLst/>
          </a:prstGeom>
          <a:noFill/>
          <a:ln/>
        </p:spPr>
        <p:txBody>
          <a:bodyPr wrap="square" rtlCol="0" anchor="ctr"/>
          <a:lstStyle/>
          <a:p>
            <a:pPr marL="0" indent="0">
              <a:buNone/>
            </a:pPr>
            <a:r>
              <a:rPr lang="en-US" sz="2400" b="1" dirty="0">
                <a:solidFill>
                  <a:srgbClr val="3B82F6"/>
                </a:solidFill>
                <a:latin typeface="Cambria" pitchFamily="34" charset="0"/>
                <a:ea typeface="Cambria" pitchFamily="34" charset="-122"/>
                <a:cs typeface="Cambria" pitchFamily="34" charset="-120"/>
              </a:rPr>
              <a:t>05</a:t>
            </a:r>
            <a:endParaRPr lang="en-US" sz="2400" dirty="0"/>
          </a:p>
        </p:txBody>
      </p:sp>
      <p:sp>
        <p:nvSpPr>
          <p:cNvPr id="23" name="Text 21"/>
          <p:cNvSpPr/>
          <p:nvPr/>
        </p:nvSpPr>
        <p:spPr>
          <a:xfrm>
            <a:off x="1280160" y="5897880"/>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Jira Workflow &amp; API Automation</a:t>
            </a:r>
            <a:endParaRPr lang="en-US" sz="1200" dirty="0"/>
          </a:p>
        </p:txBody>
      </p:sp>
      <p:sp>
        <p:nvSpPr>
          <p:cNvPr id="24" name="Shape 22"/>
          <p:cNvSpPr/>
          <p:nvPr/>
        </p:nvSpPr>
        <p:spPr>
          <a:xfrm>
            <a:off x="4279392" y="1691640"/>
            <a:ext cx="3611880" cy="896112"/>
          </a:xfrm>
          <a:prstGeom prst="roundRect">
            <a:avLst>
              <a:gd name="adj" fmla="val 9184"/>
            </a:avLst>
          </a:prstGeom>
          <a:solidFill>
            <a:srgbClr val="141A3D"/>
          </a:solidFill>
          <a:ln w="12700">
            <a:solidFill>
              <a:srgbClr val="2A3468"/>
            </a:solidFill>
            <a:prstDash val="solid"/>
          </a:ln>
        </p:spPr>
      </p:sp>
      <p:sp>
        <p:nvSpPr>
          <p:cNvPr id="25" name="Text 23"/>
          <p:cNvSpPr/>
          <p:nvPr/>
        </p:nvSpPr>
        <p:spPr>
          <a:xfrm>
            <a:off x="4389120" y="1783080"/>
            <a:ext cx="640080" cy="713232"/>
          </a:xfrm>
          <a:prstGeom prst="rect">
            <a:avLst/>
          </a:prstGeom>
          <a:noFill/>
          <a:ln/>
        </p:spPr>
        <p:txBody>
          <a:bodyPr wrap="square" rtlCol="0" anchor="ctr"/>
          <a:lstStyle/>
          <a:p>
            <a:pPr marL="0" indent="0">
              <a:buNone/>
            </a:pPr>
            <a:r>
              <a:rPr lang="en-US" sz="2400" b="1" dirty="0">
                <a:solidFill>
                  <a:srgbClr val="FF6B81"/>
                </a:solidFill>
                <a:latin typeface="Cambria" pitchFamily="34" charset="0"/>
                <a:ea typeface="Cambria" pitchFamily="34" charset="-122"/>
                <a:cs typeface="Cambria" pitchFamily="34" charset="-120"/>
              </a:rPr>
              <a:t>06</a:t>
            </a:r>
            <a:endParaRPr lang="en-US" sz="2400" dirty="0"/>
          </a:p>
        </p:txBody>
      </p:sp>
      <p:sp>
        <p:nvSpPr>
          <p:cNvPr id="26" name="Text 24"/>
          <p:cNvSpPr/>
          <p:nvPr/>
        </p:nvSpPr>
        <p:spPr>
          <a:xfrm>
            <a:off x="5056632" y="1764792"/>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What is N8N?</a:t>
            </a:r>
            <a:endParaRPr lang="en-US" sz="1200" dirty="0"/>
          </a:p>
        </p:txBody>
      </p:sp>
      <p:sp>
        <p:nvSpPr>
          <p:cNvPr id="27" name="Shape 25"/>
          <p:cNvSpPr/>
          <p:nvPr/>
        </p:nvSpPr>
        <p:spPr>
          <a:xfrm>
            <a:off x="4279392" y="2724912"/>
            <a:ext cx="3611880" cy="896112"/>
          </a:xfrm>
          <a:prstGeom prst="roundRect">
            <a:avLst>
              <a:gd name="adj" fmla="val 9184"/>
            </a:avLst>
          </a:prstGeom>
          <a:solidFill>
            <a:srgbClr val="141A3D"/>
          </a:solidFill>
          <a:ln w="12700">
            <a:solidFill>
              <a:srgbClr val="2A3468"/>
            </a:solidFill>
            <a:prstDash val="solid"/>
          </a:ln>
        </p:spPr>
      </p:sp>
      <p:sp>
        <p:nvSpPr>
          <p:cNvPr id="28" name="Text 26"/>
          <p:cNvSpPr/>
          <p:nvPr/>
        </p:nvSpPr>
        <p:spPr>
          <a:xfrm>
            <a:off x="4389120" y="2816352"/>
            <a:ext cx="640080" cy="713232"/>
          </a:xfrm>
          <a:prstGeom prst="rect">
            <a:avLst/>
          </a:prstGeom>
          <a:noFill/>
          <a:ln/>
        </p:spPr>
        <p:txBody>
          <a:bodyPr wrap="square" rtlCol="0" anchor="ctr"/>
          <a:lstStyle/>
          <a:p>
            <a:pPr marL="0" indent="0">
              <a:buNone/>
            </a:pPr>
            <a:r>
              <a:rPr lang="en-US" sz="2400" b="1" dirty="0">
                <a:solidFill>
                  <a:srgbClr val="FF6B81"/>
                </a:solidFill>
                <a:latin typeface="Cambria" pitchFamily="34" charset="0"/>
                <a:ea typeface="Cambria" pitchFamily="34" charset="-122"/>
                <a:cs typeface="Cambria" pitchFamily="34" charset="-120"/>
              </a:rPr>
              <a:t>07</a:t>
            </a:r>
            <a:endParaRPr lang="en-US" sz="2400" dirty="0"/>
          </a:p>
        </p:txBody>
      </p:sp>
      <p:sp>
        <p:nvSpPr>
          <p:cNvPr id="29" name="Text 27"/>
          <p:cNvSpPr/>
          <p:nvPr/>
        </p:nvSpPr>
        <p:spPr>
          <a:xfrm>
            <a:off x="5056632" y="2798064"/>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N8N Features &amp; Comparison</a:t>
            </a:r>
            <a:endParaRPr lang="en-US" sz="1200" dirty="0"/>
          </a:p>
        </p:txBody>
      </p:sp>
      <p:sp>
        <p:nvSpPr>
          <p:cNvPr id="30" name="Shape 28"/>
          <p:cNvSpPr/>
          <p:nvPr/>
        </p:nvSpPr>
        <p:spPr>
          <a:xfrm>
            <a:off x="4279392" y="3758184"/>
            <a:ext cx="3611880" cy="896112"/>
          </a:xfrm>
          <a:prstGeom prst="roundRect">
            <a:avLst>
              <a:gd name="adj" fmla="val 9184"/>
            </a:avLst>
          </a:prstGeom>
          <a:solidFill>
            <a:srgbClr val="141A3D"/>
          </a:solidFill>
          <a:ln w="12700">
            <a:solidFill>
              <a:srgbClr val="2A3468"/>
            </a:solidFill>
            <a:prstDash val="solid"/>
          </a:ln>
        </p:spPr>
      </p:sp>
      <p:sp>
        <p:nvSpPr>
          <p:cNvPr id="31" name="Text 29"/>
          <p:cNvSpPr/>
          <p:nvPr/>
        </p:nvSpPr>
        <p:spPr>
          <a:xfrm>
            <a:off x="4389120" y="3849624"/>
            <a:ext cx="640080" cy="713232"/>
          </a:xfrm>
          <a:prstGeom prst="rect">
            <a:avLst/>
          </a:prstGeom>
          <a:noFill/>
          <a:ln/>
        </p:spPr>
        <p:txBody>
          <a:bodyPr wrap="square" rtlCol="0" anchor="ctr"/>
          <a:lstStyle/>
          <a:p>
            <a:pPr marL="0" indent="0">
              <a:buNone/>
            </a:pPr>
            <a:r>
              <a:rPr lang="en-US" sz="2400" b="1" dirty="0">
                <a:solidFill>
                  <a:srgbClr val="9D7BFF"/>
                </a:solidFill>
                <a:latin typeface="Cambria" pitchFamily="34" charset="0"/>
                <a:ea typeface="Cambria" pitchFamily="34" charset="-122"/>
                <a:cs typeface="Cambria" pitchFamily="34" charset="-120"/>
              </a:rPr>
              <a:t>08</a:t>
            </a:r>
            <a:endParaRPr lang="en-US" sz="2400" dirty="0"/>
          </a:p>
        </p:txBody>
      </p:sp>
      <p:sp>
        <p:nvSpPr>
          <p:cNvPr id="32" name="Text 30"/>
          <p:cNvSpPr/>
          <p:nvPr/>
        </p:nvSpPr>
        <p:spPr>
          <a:xfrm>
            <a:off x="5056632" y="3831336"/>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What is Agentic AI?</a:t>
            </a:r>
            <a:endParaRPr lang="en-US" sz="1200" dirty="0"/>
          </a:p>
        </p:txBody>
      </p:sp>
      <p:sp>
        <p:nvSpPr>
          <p:cNvPr id="33" name="Shape 31"/>
          <p:cNvSpPr/>
          <p:nvPr/>
        </p:nvSpPr>
        <p:spPr>
          <a:xfrm>
            <a:off x="4279392" y="4791456"/>
            <a:ext cx="3611880" cy="896112"/>
          </a:xfrm>
          <a:prstGeom prst="roundRect">
            <a:avLst>
              <a:gd name="adj" fmla="val 9184"/>
            </a:avLst>
          </a:prstGeom>
          <a:solidFill>
            <a:srgbClr val="141A3D"/>
          </a:solidFill>
          <a:ln w="12700">
            <a:solidFill>
              <a:srgbClr val="2A3468"/>
            </a:solidFill>
            <a:prstDash val="solid"/>
          </a:ln>
        </p:spPr>
      </p:sp>
      <p:sp>
        <p:nvSpPr>
          <p:cNvPr id="34" name="Text 32"/>
          <p:cNvSpPr/>
          <p:nvPr/>
        </p:nvSpPr>
        <p:spPr>
          <a:xfrm>
            <a:off x="4389120" y="4882896"/>
            <a:ext cx="640080" cy="713232"/>
          </a:xfrm>
          <a:prstGeom prst="rect">
            <a:avLst/>
          </a:prstGeom>
          <a:noFill/>
          <a:ln/>
        </p:spPr>
        <p:txBody>
          <a:bodyPr wrap="square" rtlCol="0" anchor="ctr"/>
          <a:lstStyle/>
          <a:p>
            <a:pPr marL="0" indent="0">
              <a:buNone/>
            </a:pPr>
            <a:r>
              <a:rPr lang="en-US" sz="2400" b="1" dirty="0">
                <a:solidFill>
                  <a:srgbClr val="9D7BFF"/>
                </a:solidFill>
                <a:latin typeface="Cambria" pitchFamily="34" charset="0"/>
                <a:ea typeface="Cambria" pitchFamily="34" charset="-122"/>
                <a:cs typeface="Cambria" pitchFamily="34" charset="-120"/>
              </a:rPr>
              <a:t>09</a:t>
            </a:r>
            <a:endParaRPr lang="en-US" sz="2400" dirty="0"/>
          </a:p>
        </p:txBody>
      </p:sp>
      <p:sp>
        <p:nvSpPr>
          <p:cNvPr id="35" name="Text 33"/>
          <p:cNvSpPr/>
          <p:nvPr/>
        </p:nvSpPr>
        <p:spPr>
          <a:xfrm>
            <a:off x="5056632" y="4864608"/>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Agentic AI — 5 Core Components</a:t>
            </a:r>
            <a:endParaRPr lang="en-US" sz="1200" dirty="0"/>
          </a:p>
        </p:txBody>
      </p:sp>
      <p:sp>
        <p:nvSpPr>
          <p:cNvPr id="36" name="Shape 34"/>
          <p:cNvSpPr/>
          <p:nvPr/>
        </p:nvSpPr>
        <p:spPr>
          <a:xfrm>
            <a:off x="4279392" y="5824728"/>
            <a:ext cx="3611880" cy="896112"/>
          </a:xfrm>
          <a:prstGeom prst="roundRect">
            <a:avLst>
              <a:gd name="adj" fmla="val 9184"/>
            </a:avLst>
          </a:prstGeom>
          <a:solidFill>
            <a:srgbClr val="141A3D"/>
          </a:solidFill>
          <a:ln w="12700">
            <a:solidFill>
              <a:srgbClr val="2A3468"/>
            </a:solidFill>
            <a:prstDash val="solid"/>
          </a:ln>
        </p:spPr>
      </p:sp>
      <p:sp>
        <p:nvSpPr>
          <p:cNvPr id="37" name="Text 35"/>
          <p:cNvSpPr/>
          <p:nvPr/>
        </p:nvSpPr>
        <p:spPr>
          <a:xfrm>
            <a:off x="4389120" y="5916168"/>
            <a:ext cx="640080" cy="713232"/>
          </a:xfrm>
          <a:prstGeom prst="rect">
            <a:avLst/>
          </a:prstGeom>
          <a:noFill/>
          <a:ln/>
        </p:spPr>
        <p:txBody>
          <a:bodyPr wrap="square" rtlCol="0" anchor="ctr"/>
          <a:lstStyle/>
          <a:p>
            <a:pPr marL="0" indent="0">
              <a:buNone/>
            </a:pPr>
            <a:r>
              <a:rPr lang="en-US" sz="2400" b="1" dirty="0">
                <a:solidFill>
                  <a:srgbClr val="1FD1A8"/>
                </a:solidFill>
                <a:latin typeface="Cambria" pitchFamily="34" charset="0"/>
                <a:ea typeface="Cambria" pitchFamily="34" charset="-122"/>
                <a:cs typeface="Cambria" pitchFamily="34" charset="-120"/>
              </a:rPr>
              <a:t>10</a:t>
            </a:r>
            <a:endParaRPr lang="en-US" sz="2400" dirty="0"/>
          </a:p>
        </p:txBody>
      </p:sp>
      <p:sp>
        <p:nvSpPr>
          <p:cNvPr id="38" name="Text 36"/>
          <p:cNvSpPr/>
          <p:nvPr/>
        </p:nvSpPr>
        <p:spPr>
          <a:xfrm>
            <a:off x="5056632" y="5897880"/>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How All 4 Tools Co-Work</a:t>
            </a:r>
            <a:endParaRPr lang="en-US" sz="1200" dirty="0"/>
          </a:p>
        </p:txBody>
      </p:sp>
      <p:sp>
        <p:nvSpPr>
          <p:cNvPr id="39" name="Shape 37"/>
          <p:cNvSpPr/>
          <p:nvPr/>
        </p:nvSpPr>
        <p:spPr>
          <a:xfrm>
            <a:off x="8055864" y="1691640"/>
            <a:ext cx="3611880" cy="896112"/>
          </a:xfrm>
          <a:prstGeom prst="roundRect">
            <a:avLst>
              <a:gd name="adj" fmla="val 9184"/>
            </a:avLst>
          </a:prstGeom>
          <a:solidFill>
            <a:srgbClr val="141A3D"/>
          </a:solidFill>
          <a:ln w="12700">
            <a:solidFill>
              <a:srgbClr val="2A3468"/>
            </a:solidFill>
            <a:prstDash val="solid"/>
          </a:ln>
        </p:spPr>
      </p:sp>
      <p:sp>
        <p:nvSpPr>
          <p:cNvPr id="40" name="Text 38"/>
          <p:cNvSpPr/>
          <p:nvPr/>
        </p:nvSpPr>
        <p:spPr>
          <a:xfrm>
            <a:off x="8165592" y="1783080"/>
            <a:ext cx="640080" cy="713232"/>
          </a:xfrm>
          <a:prstGeom prst="rect">
            <a:avLst/>
          </a:prstGeom>
          <a:noFill/>
          <a:ln/>
        </p:spPr>
        <p:txBody>
          <a:bodyPr wrap="square" rtlCol="0" anchor="ctr"/>
          <a:lstStyle/>
          <a:p>
            <a:pPr marL="0" indent="0">
              <a:buNone/>
            </a:pPr>
            <a:r>
              <a:rPr lang="en-US" sz="2400" b="1" dirty="0">
                <a:solidFill>
                  <a:srgbClr val="FFC960"/>
                </a:solidFill>
                <a:latin typeface="Cambria" pitchFamily="34" charset="0"/>
                <a:ea typeface="Cambria" pitchFamily="34" charset="-122"/>
                <a:cs typeface="Cambria" pitchFamily="34" charset="-120"/>
              </a:rPr>
              <a:t>11</a:t>
            </a:r>
            <a:endParaRPr lang="en-US" sz="2400" dirty="0"/>
          </a:p>
        </p:txBody>
      </p:sp>
      <p:sp>
        <p:nvSpPr>
          <p:cNvPr id="41" name="Text 39"/>
          <p:cNvSpPr/>
          <p:nvPr/>
        </p:nvSpPr>
        <p:spPr>
          <a:xfrm>
            <a:off x="8833104" y="1764792"/>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Example — Automated Bug Tracking</a:t>
            </a:r>
            <a:endParaRPr lang="en-US" sz="1200" dirty="0"/>
          </a:p>
        </p:txBody>
      </p:sp>
      <p:sp>
        <p:nvSpPr>
          <p:cNvPr id="42" name="Shape 40"/>
          <p:cNvSpPr/>
          <p:nvPr/>
        </p:nvSpPr>
        <p:spPr>
          <a:xfrm>
            <a:off x="8055864" y="2724912"/>
            <a:ext cx="3611880" cy="896112"/>
          </a:xfrm>
          <a:prstGeom prst="roundRect">
            <a:avLst>
              <a:gd name="adj" fmla="val 9184"/>
            </a:avLst>
          </a:prstGeom>
          <a:solidFill>
            <a:srgbClr val="141A3D"/>
          </a:solidFill>
          <a:ln w="12700">
            <a:solidFill>
              <a:srgbClr val="2A3468"/>
            </a:solidFill>
            <a:prstDash val="solid"/>
          </a:ln>
        </p:spPr>
      </p:sp>
      <p:sp>
        <p:nvSpPr>
          <p:cNvPr id="43" name="Text 41"/>
          <p:cNvSpPr/>
          <p:nvPr/>
        </p:nvSpPr>
        <p:spPr>
          <a:xfrm>
            <a:off x="8165592" y="2816352"/>
            <a:ext cx="640080" cy="713232"/>
          </a:xfrm>
          <a:prstGeom prst="rect">
            <a:avLst/>
          </a:prstGeom>
          <a:noFill/>
          <a:ln/>
        </p:spPr>
        <p:txBody>
          <a:bodyPr wrap="square" rtlCol="0" anchor="ctr"/>
          <a:lstStyle/>
          <a:p>
            <a:pPr marL="0" indent="0">
              <a:buNone/>
            </a:pPr>
            <a:r>
              <a:rPr lang="en-US" sz="2400" b="1" dirty="0">
                <a:solidFill>
                  <a:srgbClr val="FFC960"/>
                </a:solidFill>
                <a:latin typeface="Cambria" pitchFamily="34" charset="0"/>
                <a:ea typeface="Cambria" pitchFamily="34" charset="-122"/>
                <a:cs typeface="Cambria" pitchFamily="34" charset="-120"/>
              </a:rPr>
              <a:t>12</a:t>
            </a:r>
            <a:endParaRPr lang="en-US" sz="2400" dirty="0"/>
          </a:p>
        </p:txBody>
      </p:sp>
      <p:sp>
        <p:nvSpPr>
          <p:cNvPr id="44" name="Text 42"/>
          <p:cNvSpPr/>
          <p:nvPr/>
        </p:nvSpPr>
        <p:spPr>
          <a:xfrm>
            <a:off x="8833104" y="2798064"/>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Example — Smart Customer Support</a:t>
            </a:r>
            <a:endParaRPr lang="en-US" sz="1200" dirty="0"/>
          </a:p>
        </p:txBody>
      </p:sp>
      <p:sp>
        <p:nvSpPr>
          <p:cNvPr id="45" name="Shape 43"/>
          <p:cNvSpPr/>
          <p:nvPr/>
        </p:nvSpPr>
        <p:spPr>
          <a:xfrm>
            <a:off x="8055864" y="3758184"/>
            <a:ext cx="3611880" cy="896112"/>
          </a:xfrm>
          <a:prstGeom prst="roundRect">
            <a:avLst>
              <a:gd name="adj" fmla="val 9184"/>
            </a:avLst>
          </a:prstGeom>
          <a:solidFill>
            <a:srgbClr val="141A3D"/>
          </a:solidFill>
          <a:ln w="12700">
            <a:solidFill>
              <a:srgbClr val="2A3468"/>
            </a:solidFill>
            <a:prstDash val="solid"/>
          </a:ln>
        </p:spPr>
      </p:sp>
      <p:sp>
        <p:nvSpPr>
          <p:cNvPr id="46" name="Text 44"/>
          <p:cNvSpPr/>
          <p:nvPr/>
        </p:nvSpPr>
        <p:spPr>
          <a:xfrm>
            <a:off x="8165592" y="3849624"/>
            <a:ext cx="640080" cy="713232"/>
          </a:xfrm>
          <a:prstGeom prst="rect">
            <a:avLst/>
          </a:prstGeom>
          <a:noFill/>
          <a:ln/>
        </p:spPr>
        <p:txBody>
          <a:bodyPr wrap="square" rtlCol="0" anchor="ctr"/>
          <a:lstStyle/>
          <a:p>
            <a:pPr marL="0" indent="0">
              <a:buNone/>
            </a:pPr>
            <a:r>
              <a:rPr lang="en-US" sz="2400" b="1" dirty="0">
                <a:solidFill>
                  <a:srgbClr val="FFC960"/>
                </a:solidFill>
                <a:latin typeface="Cambria" pitchFamily="34" charset="0"/>
                <a:ea typeface="Cambria" pitchFamily="34" charset="-122"/>
                <a:cs typeface="Cambria" pitchFamily="34" charset="-120"/>
              </a:rPr>
              <a:t>13</a:t>
            </a:r>
            <a:endParaRPr lang="en-US" sz="2400" dirty="0"/>
          </a:p>
        </p:txBody>
      </p:sp>
      <p:sp>
        <p:nvSpPr>
          <p:cNvPr id="47" name="Text 45"/>
          <p:cNvSpPr/>
          <p:nvPr/>
        </p:nvSpPr>
        <p:spPr>
          <a:xfrm>
            <a:off x="8833104" y="3831336"/>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Example — AI Sprint Planning</a:t>
            </a:r>
            <a:endParaRPr lang="en-US" sz="1200" dirty="0"/>
          </a:p>
        </p:txBody>
      </p:sp>
      <p:sp>
        <p:nvSpPr>
          <p:cNvPr id="48" name="Shape 46"/>
          <p:cNvSpPr/>
          <p:nvPr/>
        </p:nvSpPr>
        <p:spPr>
          <a:xfrm>
            <a:off x="8055864" y="4791456"/>
            <a:ext cx="3611880" cy="896112"/>
          </a:xfrm>
          <a:prstGeom prst="roundRect">
            <a:avLst>
              <a:gd name="adj" fmla="val 9184"/>
            </a:avLst>
          </a:prstGeom>
          <a:solidFill>
            <a:srgbClr val="141A3D"/>
          </a:solidFill>
          <a:ln w="12700">
            <a:solidFill>
              <a:srgbClr val="2A3468"/>
            </a:solidFill>
            <a:prstDash val="solid"/>
          </a:ln>
        </p:spPr>
      </p:sp>
      <p:sp>
        <p:nvSpPr>
          <p:cNvPr id="49" name="Text 47"/>
          <p:cNvSpPr/>
          <p:nvPr/>
        </p:nvSpPr>
        <p:spPr>
          <a:xfrm>
            <a:off x="8165592" y="4882896"/>
            <a:ext cx="640080" cy="713232"/>
          </a:xfrm>
          <a:prstGeom prst="rect">
            <a:avLst/>
          </a:prstGeom>
          <a:noFill/>
          <a:ln/>
        </p:spPr>
        <p:txBody>
          <a:bodyPr wrap="square" rtlCol="0" anchor="ctr"/>
          <a:lstStyle/>
          <a:p>
            <a:pPr marL="0" indent="0">
              <a:buNone/>
            </a:pPr>
            <a:r>
              <a:rPr lang="en-US" sz="2400" b="1" dirty="0">
                <a:solidFill>
                  <a:srgbClr val="1FD1A8"/>
                </a:solidFill>
                <a:latin typeface="Cambria" pitchFamily="34" charset="0"/>
                <a:ea typeface="Cambria" pitchFamily="34" charset="-122"/>
                <a:cs typeface="Cambria" pitchFamily="34" charset="-120"/>
              </a:rPr>
              <a:t>14</a:t>
            </a:r>
            <a:endParaRPr lang="en-US" sz="2400" dirty="0"/>
          </a:p>
        </p:txBody>
      </p:sp>
      <p:sp>
        <p:nvSpPr>
          <p:cNvPr id="50" name="Text 48"/>
          <p:cNvSpPr/>
          <p:nvPr/>
        </p:nvSpPr>
        <p:spPr>
          <a:xfrm>
            <a:off x="8833104" y="4864608"/>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Complete System Architecture</a:t>
            </a:r>
            <a:endParaRPr lang="en-US" sz="1200" dirty="0"/>
          </a:p>
        </p:txBody>
      </p:sp>
      <p:sp>
        <p:nvSpPr>
          <p:cNvPr id="51" name="Shape 49"/>
          <p:cNvSpPr/>
          <p:nvPr/>
        </p:nvSpPr>
        <p:spPr>
          <a:xfrm>
            <a:off x="8055864" y="5824728"/>
            <a:ext cx="3611880" cy="896112"/>
          </a:xfrm>
          <a:prstGeom prst="roundRect">
            <a:avLst>
              <a:gd name="adj" fmla="val 9184"/>
            </a:avLst>
          </a:prstGeom>
          <a:solidFill>
            <a:srgbClr val="141A3D"/>
          </a:solidFill>
          <a:ln w="12700">
            <a:solidFill>
              <a:srgbClr val="2A3468"/>
            </a:solidFill>
            <a:prstDash val="solid"/>
          </a:ln>
        </p:spPr>
      </p:sp>
      <p:sp>
        <p:nvSpPr>
          <p:cNvPr id="52" name="Text 50"/>
          <p:cNvSpPr/>
          <p:nvPr/>
        </p:nvSpPr>
        <p:spPr>
          <a:xfrm>
            <a:off x="8165592" y="5916168"/>
            <a:ext cx="640080" cy="713232"/>
          </a:xfrm>
          <a:prstGeom prst="rect">
            <a:avLst/>
          </a:prstGeom>
          <a:noFill/>
          <a:ln/>
        </p:spPr>
        <p:txBody>
          <a:bodyPr wrap="square" rtlCol="0" anchor="ctr"/>
          <a:lstStyle/>
          <a:p>
            <a:pPr marL="0" indent="0">
              <a:buNone/>
            </a:pPr>
            <a:r>
              <a:rPr lang="en-US" sz="2400" b="1" dirty="0">
                <a:solidFill>
                  <a:srgbClr val="E07856"/>
                </a:solidFill>
                <a:latin typeface="Cambria" pitchFamily="34" charset="0"/>
                <a:ea typeface="Cambria" pitchFamily="34" charset="-122"/>
                <a:cs typeface="Cambria" pitchFamily="34" charset="-120"/>
              </a:rPr>
              <a:t>15</a:t>
            </a:r>
            <a:endParaRPr lang="en-US" sz="2400" dirty="0"/>
          </a:p>
        </p:txBody>
      </p:sp>
      <p:sp>
        <p:nvSpPr>
          <p:cNvPr id="53" name="Text 51"/>
          <p:cNvSpPr/>
          <p:nvPr/>
        </p:nvSpPr>
        <p:spPr>
          <a:xfrm>
            <a:off x="8833104" y="5897880"/>
            <a:ext cx="2697480" cy="749808"/>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Business Impact &amp; Getting Started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E07856">
              <a:alpha val="10000"/>
            </a:srgbClr>
          </a:solidFill>
          <a:ln/>
        </p:spPr>
      </p:sp>
      <p:sp>
        <p:nvSpPr>
          <p:cNvPr id="3" name="Shape 1"/>
          <p:cNvSpPr/>
          <p:nvPr/>
        </p:nvSpPr>
        <p:spPr>
          <a:xfrm>
            <a:off x="-1645920" y="5120640"/>
            <a:ext cx="3291840" cy="3291840"/>
          </a:xfrm>
          <a:prstGeom prst="ellipse">
            <a:avLst/>
          </a:prstGeom>
          <a:solidFill>
            <a:srgbClr val="E07856">
              <a:alpha val="8000"/>
            </a:srgbClr>
          </a:solidFill>
          <a:ln/>
        </p:spPr>
      </p:sp>
      <p:sp>
        <p:nvSpPr>
          <p:cNvPr id="4" name="Shape 2"/>
          <p:cNvSpPr/>
          <p:nvPr/>
        </p:nvSpPr>
        <p:spPr>
          <a:xfrm>
            <a:off x="502920" y="457200"/>
            <a:ext cx="658368" cy="658368"/>
          </a:xfrm>
          <a:prstGeom prst="ellipse">
            <a:avLst/>
          </a:prstGeom>
          <a:solidFill>
            <a:srgbClr val="E07856">
              <a:alpha val="22000"/>
            </a:srgbClr>
          </a:solidFill>
          <a:ln w="15875">
            <a:solidFill>
              <a:srgbClr val="E07856"/>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E07856"/>
                </a:solidFill>
                <a:latin typeface="Calibri" pitchFamily="34" charset="0"/>
                <a:ea typeface="Calibri" pitchFamily="34" charset="-122"/>
                <a:cs typeface="Calibri" pitchFamily="34" charset="-120"/>
              </a:rPr>
              <a:t>TOOL 01</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is Claude AI?</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Your intelligent AI co-worker — built by Anthropic</a:t>
            </a:r>
            <a:endParaRPr lang="en-US" sz="1350" dirty="0"/>
          </a:p>
        </p:txBody>
      </p:sp>
      <p:sp>
        <p:nvSpPr>
          <p:cNvPr id="9" name="Shape 7"/>
          <p:cNvSpPr/>
          <p:nvPr/>
        </p:nvSpPr>
        <p:spPr>
          <a:xfrm>
            <a:off x="502920" y="1691640"/>
            <a:ext cx="5212080" cy="4480560"/>
          </a:xfrm>
          <a:prstGeom prst="roundRect">
            <a:avLst>
              <a:gd name="adj" fmla="val 1837"/>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74520"/>
            <a:ext cx="4572000" cy="292608"/>
          </a:xfrm>
          <a:prstGeom prst="rect">
            <a:avLst/>
          </a:prstGeom>
          <a:noFill/>
          <a:ln/>
        </p:spPr>
        <p:txBody>
          <a:bodyPr wrap="square" rtlCol="0" anchor="ctr"/>
          <a:lstStyle/>
          <a:p>
            <a:pPr marL="0" indent="0">
              <a:buNone/>
            </a:pPr>
            <a:r>
              <a:rPr lang="en-US" sz="1300" b="1" kern="0" spc="100" dirty="0">
                <a:solidFill>
                  <a:srgbClr val="E07856"/>
                </a:solidFill>
                <a:latin typeface="Calibri" pitchFamily="34" charset="0"/>
                <a:ea typeface="Calibri" pitchFamily="34" charset="-122"/>
                <a:cs typeface="Calibri" pitchFamily="34" charset="-120"/>
              </a:rPr>
              <a:t>📌  DEFINITION</a:t>
            </a:r>
            <a:endParaRPr lang="en-US" sz="1300" dirty="0"/>
          </a:p>
        </p:txBody>
      </p:sp>
      <p:sp>
        <p:nvSpPr>
          <p:cNvPr id="11" name="Text 9"/>
          <p:cNvSpPr/>
          <p:nvPr/>
        </p:nvSpPr>
        <p:spPr>
          <a:xfrm>
            <a:off x="777240" y="2240280"/>
            <a:ext cx="4709160" cy="1371600"/>
          </a:xfrm>
          <a:prstGeom prst="rect">
            <a:avLst/>
          </a:prstGeom>
          <a:noFill/>
          <a:ln/>
        </p:spPr>
        <p:txBody>
          <a:bodyPr wrap="square" rtlCol="0" anchor="t"/>
          <a:lstStyle/>
          <a:p>
            <a:pPr marL="0" indent="0">
              <a:lnSpc>
                <a:spcPct val="120000"/>
              </a:lnSpc>
              <a:buNone/>
            </a:pPr>
            <a:r>
              <a:rPr lang="en-US" sz="1300" dirty="0">
                <a:solidFill>
                  <a:srgbClr val="E8ECFA"/>
                </a:solidFill>
                <a:latin typeface="Calibri" pitchFamily="34" charset="0"/>
                <a:ea typeface="Calibri" pitchFamily="34" charset="-122"/>
                <a:cs typeface="Calibri" pitchFamily="34" charset="-120"/>
              </a:rPr>
              <a:t>Claude is a Large Language Model (LLM) developed by Anthropic. Unlike simple chatbots, Claude can handle complex reasoning, analyze long documents, write and debug code, and maintain context across very long conversations.</a:t>
            </a:r>
            <a:endParaRPr lang="en-US" sz="1300" dirty="0"/>
          </a:p>
        </p:txBody>
      </p:sp>
      <p:sp>
        <p:nvSpPr>
          <p:cNvPr id="12" name="Text 10"/>
          <p:cNvSpPr/>
          <p:nvPr/>
        </p:nvSpPr>
        <p:spPr>
          <a:xfrm>
            <a:off x="777240" y="3566160"/>
            <a:ext cx="4709160" cy="502920"/>
          </a:xfrm>
          <a:prstGeom prst="rect">
            <a:avLst/>
          </a:prstGeom>
          <a:noFill/>
          <a:ln/>
        </p:spPr>
        <p:txBody>
          <a:bodyPr wrap="square" rtlCol="0" anchor="t"/>
          <a:lstStyle/>
          <a:p>
            <a:pPr marL="0" indent="0">
              <a:buNone/>
            </a:pPr>
            <a:r>
              <a:rPr lang="en-US" sz="1250" i="1" dirty="0">
                <a:solidFill>
                  <a:srgbClr val="94A0C7"/>
                </a:solidFill>
                <a:latin typeface="Calibri" pitchFamily="34" charset="0"/>
                <a:ea typeface="Calibri" pitchFamily="34" charset="-122"/>
                <a:cs typeface="Calibri" pitchFamily="34" charset="-120"/>
              </a:rPr>
              <a:t>It is designed with safety and helpfulness as core principles.</a:t>
            </a:r>
            <a:endParaRPr lang="en-US" sz="1250" dirty="0"/>
          </a:p>
        </p:txBody>
      </p:sp>
      <p:sp>
        <p:nvSpPr>
          <p:cNvPr id="13" name="Shape 11"/>
          <p:cNvSpPr/>
          <p:nvPr/>
        </p:nvSpPr>
        <p:spPr>
          <a:xfrm>
            <a:off x="777240" y="4160520"/>
            <a:ext cx="4663440" cy="0"/>
          </a:xfrm>
          <a:prstGeom prst="line">
            <a:avLst/>
          </a:prstGeom>
          <a:noFill/>
          <a:ln w="12700">
            <a:solidFill>
              <a:srgbClr val="2A3468"/>
            </a:solidFill>
            <a:prstDash val="solid"/>
          </a:ln>
        </p:spPr>
      </p:sp>
      <p:sp>
        <p:nvSpPr>
          <p:cNvPr id="14" name="Text 12"/>
          <p:cNvSpPr/>
          <p:nvPr/>
        </p:nvSpPr>
        <p:spPr>
          <a:xfrm>
            <a:off x="777240" y="4297680"/>
            <a:ext cx="4572000" cy="292608"/>
          </a:xfrm>
          <a:prstGeom prst="rect">
            <a:avLst/>
          </a:prstGeom>
          <a:noFill/>
          <a:ln/>
        </p:spPr>
        <p:txBody>
          <a:bodyPr wrap="square" rtlCol="0" anchor="ctr"/>
          <a:lstStyle/>
          <a:p>
            <a:pPr marL="0" indent="0">
              <a:buNone/>
            </a:pPr>
            <a:r>
              <a:rPr lang="en-US" sz="1300" b="1" kern="0" spc="100" dirty="0">
                <a:solidFill>
                  <a:srgbClr val="E07856"/>
                </a:solidFill>
                <a:latin typeface="Calibri" pitchFamily="34" charset="0"/>
                <a:ea typeface="Calibri" pitchFamily="34" charset="-122"/>
                <a:cs typeface="Calibri" pitchFamily="34" charset="-120"/>
              </a:rPr>
              <a:t>💡  REAL EXAMPLE</a:t>
            </a:r>
            <a:endParaRPr lang="en-US" sz="1300" dirty="0"/>
          </a:p>
        </p:txBody>
      </p:sp>
      <p:sp>
        <p:nvSpPr>
          <p:cNvPr id="15" name="Text 13"/>
          <p:cNvSpPr/>
          <p:nvPr/>
        </p:nvSpPr>
        <p:spPr>
          <a:xfrm>
            <a:off x="777240" y="4617720"/>
            <a:ext cx="4709160" cy="1371600"/>
          </a:xfrm>
          <a:prstGeom prst="rect">
            <a:avLst/>
          </a:prstGeom>
          <a:noFill/>
          <a:ln/>
        </p:spPr>
        <p:txBody>
          <a:bodyPr wrap="square" rtlCol="0" anchor="t"/>
          <a:lstStyle/>
          <a:p>
            <a:pPr marL="0" indent="0">
              <a:lnSpc>
                <a:spcPct val="125000"/>
              </a:lnSpc>
              <a:buNone/>
            </a:pPr>
            <a:r>
              <a:rPr lang="en-US" sz="1150" b="1" dirty="0">
                <a:solidFill>
                  <a:srgbClr val="FFFFFF"/>
                </a:solidFill>
                <a:latin typeface="Calibri" pitchFamily="34" charset="0"/>
                <a:ea typeface="Calibri" pitchFamily="34" charset="-122"/>
                <a:cs typeface="Calibri" pitchFamily="34" charset="-120"/>
              </a:rPr>
              <a:t>Input:  </a:t>
            </a:r>
            <a:r>
              <a:rPr lang="en-US" sz="1150" i="1" dirty="0">
                <a:solidFill>
                  <a:srgbClr val="94A0C7"/>
                </a:solidFill>
                <a:latin typeface="Calibri" pitchFamily="34" charset="0"/>
                <a:ea typeface="Calibri" pitchFamily="34" charset="-122"/>
                <a:cs typeface="Calibri" pitchFamily="34" charset="-120"/>
              </a:rPr>
              <a:t>"Summarize this 50-page doc &amp; create 5 Jira tickets."
</a:t>
            </a:r>
            <a:r>
              <a:rPr lang="en-US" sz="1150" b="1" dirty="0">
                <a:solidFill>
                  <a:srgbClr val="FFFFFF"/>
                </a:solidFill>
                <a:latin typeface="Calibri" pitchFamily="34" charset="0"/>
                <a:ea typeface="Calibri" pitchFamily="34" charset="-122"/>
                <a:cs typeface="Calibri" pitchFamily="34" charset="-120"/>
              </a:rPr>
              <a:t>Output:  </a:t>
            </a:r>
            <a:r>
              <a:rPr lang="en-US" sz="1150" dirty="0">
                <a:solidFill>
                  <a:srgbClr val="94A0C7"/>
                </a:solidFill>
                <a:latin typeface="Calibri" pitchFamily="34" charset="0"/>
                <a:ea typeface="Calibri" pitchFamily="34" charset="-122"/>
                <a:cs typeface="Calibri" pitchFamily="34" charset="-120"/>
              </a:rPr>
              <a:t>Reads full doc → identifies 5 risk areas → writes structured, ready-to-use Jira tickets.</a:t>
            </a:r>
            <a:endParaRPr lang="en-US" sz="1150" dirty="0"/>
          </a:p>
        </p:txBody>
      </p:sp>
      <p:sp>
        <p:nvSpPr>
          <p:cNvPr id="16" name="Shape 14"/>
          <p:cNvSpPr/>
          <p:nvPr/>
        </p:nvSpPr>
        <p:spPr>
          <a:xfrm>
            <a:off x="5943600" y="1691640"/>
            <a:ext cx="5742432" cy="4480560"/>
          </a:xfrm>
          <a:prstGeom prst="roundRect">
            <a:avLst>
              <a:gd name="adj" fmla="val 1837"/>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7" name="Text 15"/>
          <p:cNvSpPr/>
          <p:nvPr/>
        </p:nvSpPr>
        <p:spPr>
          <a:xfrm>
            <a:off x="6217920" y="1874520"/>
            <a:ext cx="5029200" cy="292608"/>
          </a:xfrm>
          <a:prstGeom prst="rect">
            <a:avLst/>
          </a:prstGeom>
          <a:noFill/>
          <a:ln/>
        </p:spPr>
        <p:txBody>
          <a:bodyPr wrap="square" rtlCol="0" anchor="ctr"/>
          <a:lstStyle/>
          <a:p>
            <a:pPr marL="0" indent="0">
              <a:buNone/>
            </a:pPr>
            <a:r>
              <a:rPr lang="en-US" sz="1300" b="1" kern="0" spc="100" dirty="0">
                <a:solidFill>
                  <a:srgbClr val="E07856"/>
                </a:solidFill>
                <a:latin typeface="Calibri" pitchFamily="34" charset="0"/>
                <a:ea typeface="Calibri" pitchFamily="34" charset="-122"/>
                <a:cs typeface="Calibri" pitchFamily="34" charset="-120"/>
              </a:rPr>
              <a:t>🔹  CORE CAPABILITIES</a:t>
            </a:r>
            <a:endParaRPr lang="en-US" sz="1300" dirty="0"/>
          </a:p>
        </p:txBody>
      </p:sp>
      <p:sp>
        <p:nvSpPr>
          <p:cNvPr id="18" name="Shape 16"/>
          <p:cNvSpPr/>
          <p:nvPr/>
        </p:nvSpPr>
        <p:spPr>
          <a:xfrm>
            <a:off x="6217920" y="2313432"/>
            <a:ext cx="201168" cy="201168"/>
          </a:xfrm>
          <a:prstGeom prst="ellipse">
            <a:avLst/>
          </a:prstGeom>
          <a:solidFill>
            <a:srgbClr val="E07856">
              <a:alpha val="80000"/>
            </a:srgbClr>
          </a:solidFill>
          <a:ln/>
        </p:spPr>
      </p:sp>
      <p:sp>
        <p:nvSpPr>
          <p:cNvPr id="19" name="Text 17"/>
          <p:cNvSpPr/>
          <p:nvPr/>
        </p:nvSpPr>
        <p:spPr>
          <a:xfrm>
            <a:off x="6217920" y="228142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20" name="Text 18"/>
          <p:cNvSpPr/>
          <p:nvPr/>
        </p:nvSpPr>
        <p:spPr>
          <a:xfrm>
            <a:off x="6510528" y="223113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Text Generation &amp; Creative Writing</a:t>
            </a:r>
            <a:endParaRPr lang="en-US" sz="1200" dirty="0"/>
          </a:p>
        </p:txBody>
      </p:sp>
      <p:sp>
        <p:nvSpPr>
          <p:cNvPr id="21" name="Shape 19"/>
          <p:cNvSpPr/>
          <p:nvPr/>
        </p:nvSpPr>
        <p:spPr>
          <a:xfrm>
            <a:off x="8846820" y="2313432"/>
            <a:ext cx="201168" cy="201168"/>
          </a:xfrm>
          <a:prstGeom prst="ellipse">
            <a:avLst/>
          </a:prstGeom>
          <a:solidFill>
            <a:srgbClr val="E07856">
              <a:alpha val="80000"/>
            </a:srgbClr>
          </a:solidFill>
          <a:ln/>
        </p:spPr>
      </p:sp>
      <p:sp>
        <p:nvSpPr>
          <p:cNvPr id="22" name="Text 20"/>
          <p:cNvSpPr/>
          <p:nvPr/>
        </p:nvSpPr>
        <p:spPr>
          <a:xfrm>
            <a:off x="8846820" y="228142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23" name="Text 21"/>
          <p:cNvSpPr/>
          <p:nvPr/>
        </p:nvSpPr>
        <p:spPr>
          <a:xfrm>
            <a:off x="9139428" y="223113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Code Writing, Review &amp; Debugging</a:t>
            </a:r>
            <a:endParaRPr lang="en-US" sz="1200" dirty="0"/>
          </a:p>
        </p:txBody>
      </p:sp>
      <p:sp>
        <p:nvSpPr>
          <p:cNvPr id="24" name="Shape 22"/>
          <p:cNvSpPr/>
          <p:nvPr/>
        </p:nvSpPr>
        <p:spPr>
          <a:xfrm>
            <a:off x="6217920" y="3239262"/>
            <a:ext cx="201168" cy="201168"/>
          </a:xfrm>
          <a:prstGeom prst="ellipse">
            <a:avLst/>
          </a:prstGeom>
          <a:solidFill>
            <a:srgbClr val="E07856">
              <a:alpha val="80000"/>
            </a:srgbClr>
          </a:solidFill>
          <a:ln/>
        </p:spPr>
      </p:sp>
      <p:sp>
        <p:nvSpPr>
          <p:cNvPr id="25" name="Text 23"/>
          <p:cNvSpPr/>
          <p:nvPr/>
        </p:nvSpPr>
        <p:spPr>
          <a:xfrm>
            <a:off x="6217920" y="320725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26" name="Text 24"/>
          <p:cNvSpPr/>
          <p:nvPr/>
        </p:nvSpPr>
        <p:spPr>
          <a:xfrm>
            <a:off x="6510528" y="315696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Document Analysis &amp; Q&amp;A</a:t>
            </a:r>
            <a:endParaRPr lang="en-US" sz="1200" dirty="0"/>
          </a:p>
        </p:txBody>
      </p:sp>
      <p:sp>
        <p:nvSpPr>
          <p:cNvPr id="27" name="Shape 25"/>
          <p:cNvSpPr/>
          <p:nvPr/>
        </p:nvSpPr>
        <p:spPr>
          <a:xfrm>
            <a:off x="8846820" y="3239262"/>
            <a:ext cx="201168" cy="201168"/>
          </a:xfrm>
          <a:prstGeom prst="ellipse">
            <a:avLst/>
          </a:prstGeom>
          <a:solidFill>
            <a:srgbClr val="E07856">
              <a:alpha val="80000"/>
            </a:srgbClr>
          </a:solidFill>
          <a:ln/>
        </p:spPr>
      </p:sp>
      <p:sp>
        <p:nvSpPr>
          <p:cNvPr id="28" name="Text 26"/>
          <p:cNvSpPr/>
          <p:nvPr/>
        </p:nvSpPr>
        <p:spPr>
          <a:xfrm>
            <a:off x="8846820" y="320725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29" name="Text 27"/>
          <p:cNvSpPr/>
          <p:nvPr/>
        </p:nvSpPr>
        <p:spPr>
          <a:xfrm>
            <a:off x="9139428" y="315696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200,000-Token Context Window</a:t>
            </a:r>
            <a:endParaRPr lang="en-US" sz="1200" dirty="0"/>
          </a:p>
        </p:txBody>
      </p:sp>
      <p:sp>
        <p:nvSpPr>
          <p:cNvPr id="30" name="Shape 28"/>
          <p:cNvSpPr/>
          <p:nvPr/>
        </p:nvSpPr>
        <p:spPr>
          <a:xfrm>
            <a:off x="6217920" y="4165092"/>
            <a:ext cx="201168" cy="201168"/>
          </a:xfrm>
          <a:prstGeom prst="ellipse">
            <a:avLst/>
          </a:prstGeom>
          <a:solidFill>
            <a:srgbClr val="E07856">
              <a:alpha val="80000"/>
            </a:srgbClr>
          </a:solidFill>
          <a:ln/>
        </p:spPr>
      </p:sp>
      <p:sp>
        <p:nvSpPr>
          <p:cNvPr id="31" name="Text 29"/>
          <p:cNvSpPr/>
          <p:nvPr/>
        </p:nvSpPr>
        <p:spPr>
          <a:xfrm>
            <a:off x="6217920" y="413308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32" name="Text 30"/>
          <p:cNvSpPr/>
          <p:nvPr/>
        </p:nvSpPr>
        <p:spPr>
          <a:xfrm>
            <a:off x="6510528" y="408279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Task Planning &amp; Reasoning</a:t>
            </a:r>
            <a:endParaRPr lang="en-US" sz="1200" dirty="0"/>
          </a:p>
        </p:txBody>
      </p:sp>
      <p:sp>
        <p:nvSpPr>
          <p:cNvPr id="33" name="Shape 31"/>
          <p:cNvSpPr/>
          <p:nvPr/>
        </p:nvSpPr>
        <p:spPr>
          <a:xfrm>
            <a:off x="8846820" y="4165092"/>
            <a:ext cx="201168" cy="201168"/>
          </a:xfrm>
          <a:prstGeom prst="ellipse">
            <a:avLst/>
          </a:prstGeom>
          <a:solidFill>
            <a:srgbClr val="E07856">
              <a:alpha val="80000"/>
            </a:srgbClr>
          </a:solidFill>
          <a:ln/>
        </p:spPr>
      </p:sp>
      <p:sp>
        <p:nvSpPr>
          <p:cNvPr id="34" name="Text 32"/>
          <p:cNvSpPr/>
          <p:nvPr/>
        </p:nvSpPr>
        <p:spPr>
          <a:xfrm>
            <a:off x="8846820" y="413308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35" name="Text 33"/>
          <p:cNvSpPr/>
          <p:nvPr/>
        </p:nvSpPr>
        <p:spPr>
          <a:xfrm>
            <a:off x="9139428" y="408279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API Integration — any application</a:t>
            </a:r>
            <a:endParaRPr lang="en-US" sz="1200" dirty="0"/>
          </a:p>
        </p:txBody>
      </p:sp>
      <p:sp>
        <p:nvSpPr>
          <p:cNvPr id="36" name="Shape 34"/>
          <p:cNvSpPr/>
          <p:nvPr/>
        </p:nvSpPr>
        <p:spPr>
          <a:xfrm>
            <a:off x="6217920" y="5090922"/>
            <a:ext cx="201168" cy="201168"/>
          </a:xfrm>
          <a:prstGeom prst="ellipse">
            <a:avLst/>
          </a:prstGeom>
          <a:solidFill>
            <a:srgbClr val="E07856">
              <a:alpha val="80000"/>
            </a:srgbClr>
          </a:solidFill>
          <a:ln/>
        </p:spPr>
      </p:sp>
      <p:sp>
        <p:nvSpPr>
          <p:cNvPr id="37" name="Text 35"/>
          <p:cNvSpPr/>
          <p:nvPr/>
        </p:nvSpPr>
        <p:spPr>
          <a:xfrm>
            <a:off x="6217920" y="505891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38" name="Text 36"/>
          <p:cNvSpPr/>
          <p:nvPr/>
        </p:nvSpPr>
        <p:spPr>
          <a:xfrm>
            <a:off x="6510528" y="500862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Tool Use / Function Calling</a:t>
            </a:r>
            <a:endParaRPr lang="en-US" sz="1200" dirty="0"/>
          </a:p>
        </p:txBody>
      </p:sp>
      <p:sp>
        <p:nvSpPr>
          <p:cNvPr id="39" name="Shape 37"/>
          <p:cNvSpPr/>
          <p:nvPr/>
        </p:nvSpPr>
        <p:spPr>
          <a:xfrm>
            <a:off x="8846820" y="5090922"/>
            <a:ext cx="201168" cy="201168"/>
          </a:xfrm>
          <a:prstGeom prst="ellipse">
            <a:avLst/>
          </a:prstGeom>
          <a:solidFill>
            <a:srgbClr val="E07856">
              <a:alpha val="80000"/>
            </a:srgbClr>
          </a:solidFill>
          <a:ln/>
        </p:spPr>
      </p:sp>
      <p:sp>
        <p:nvSpPr>
          <p:cNvPr id="40" name="Text 38"/>
          <p:cNvSpPr/>
          <p:nvPr/>
        </p:nvSpPr>
        <p:spPr>
          <a:xfrm>
            <a:off x="8846820" y="505891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41" name="Text 39"/>
          <p:cNvSpPr/>
          <p:nvPr/>
        </p:nvSpPr>
        <p:spPr>
          <a:xfrm>
            <a:off x="9139428" y="5008626"/>
            <a:ext cx="2263140" cy="92583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Constitutional AI — safe by design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E07856">
              <a:alpha val="10000"/>
            </a:srgbClr>
          </a:solidFill>
          <a:ln/>
        </p:spPr>
      </p:sp>
      <p:sp>
        <p:nvSpPr>
          <p:cNvPr id="3" name="Shape 1"/>
          <p:cNvSpPr/>
          <p:nvPr/>
        </p:nvSpPr>
        <p:spPr>
          <a:xfrm>
            <a:off x="-1645920" y="5120640"/>
            <a:ext cx="3291840" cy="3291840"/>
          </a:xfrm>
          <a:prstGeom prst="ellipse">
            <a:avLst/>
          </a:prstGeom>
          <a:solidFill>
            <a:srgbClr val="E07856">
              <a:alpha val="8000"/>
            </a:srgbClr>
          </a:solidFill>
          <a:ln/>
        </p:spPr>
      </p:sp>
      <p:sp>
        <p:nvSpPr>
          <p:cNvPr id="4" name="Shape 2"/>
          <p:cNvSpPr/>
          <p:nvPr/>
        </p:nvSpPr>
        <p:spPr>
          <a:xfrm>
            <a:off x="502920" y="457200"/>
            <a:ext cx="658368" cy="658368"/>
          </a:xfrm>
          <a:prstGeom prst="ellipse">
            <a:avLst/>
          </a:prstGeom>
          <a:solidFill>
            <a:srgbClr val="E07856">
              <a:alpha val="22000"/>
            </a:srgbClr>
          </a:solidFill>
          <a:ln w="15875">
            <a:solidFill>
              <a:srgbClr val="E07856"/>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E07856"/>
                </a:solidFill>
                <a:latin typeface="Calibri" pitchFamily="34" charset="0"/>
                <a:ea typeface="Calibri" pitchFamily="34" charset="-122"/>
                <a:cs typeface="Calibri" pitchFamily="34" charset="-120"/>
              </a:rPr>
              <a:t>TOOL 01 · DEEP DIVE</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Claude — Model Versions &amp; Co-Working Modes</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Integration modes &amp; collaboration patterns</a:t>
            </a:r>
            <a:endParaRPr lang="en-US" sz="1350" dirty="0"/>
          </a:p>
        </p:txBody>
      </p:sp>
      <p:sp>
        <p:nvSpPr>
          <p:cNvPr id="9" name="Text 7"/>
          <p:cNvSpPr/>
          <p:nvPr/>
        </p:nvSpPr>
        <p:spPr>
          <a:xfrm>
            <a:off x="502920" y="1783080"/>
            <a:ext cx="5486400" cy="292608"/>
          </a:xfrm>
          <a:prstGeom prst="rect">
            <a:avLst/>
          </a:prstGeom>
          <a:noFill/>
          <a:ln/>
        </p:spPr>
        <p:txBody>
          <a:bodyPr wrap="square" rtlCol="0" anchor="ctr"/>
          <a:lstStyle/>
          <a:p>
            <a:pPr marL="0" indent="0">
              <a:buNone/>
            </a:pPr>
            <a:r>
              <a:rPr lang="en-US" sz="1300" b="1" kern="0" spc="100" dirty="0">
                <a:solidFill>
                  <a:srgbClr val="E07856"/>
                </a:solidFill>
                <a:latin typeface="Calibri" pitchFamily="34" charset="0"/>
                <a:ea typeface="Calibri" pitchFamily="34" charset="-122"/>
                <a:cs typeface="Calibri" pitchFamily="34" charset="-120"/>
              </a:rPr>
              <a:t>📦  CLAUDE MODEL VERSIONS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557784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84048">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VERSION</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E07856"/>
                    </a:solidFill>
                  </a:tcPr>
                </a:tc>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E07856"/>
                    </a:solidFill>
                  </a:tcPr>
                </a:tc>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E07856"/>
                    </a:solidFill>
                  </a:tcPr>
                </a:tc>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SPEED</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E07856"/>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Claude 3</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Haiku</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Quick tasks, high-volume automation</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Fastest</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Claude 3</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Sonnet</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Balanced performance &amp; intelligence</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Fast</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Claude 3</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Opus</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Complex reasoning &amp; analysis</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Thorough</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Claude 3.5</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Sonnet</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Latest — best overall performance</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100" dirty="0">
                          <a:solidFill>
                            <a:srgbClr val="E8ECFA"/>
                          </a:solidFill>
                          <a:latin typeface="Calibri" pitchFamily="34" charset="0"/>
                          <a:ea typeface="Calibri" pitchFamily="34" charset="-122"/>
                          <a:cs typeface="Calibri" pitchFamily="34" charset="-120"/>
                        </a:rPr>
                        <a:t>Fast+</a:t>
                      </a:r>
                      <a:endParaRPr lang="en-US" sz="11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4"/>
                  </a:ext>
                </a:extLst>
              </a:tr>
            </a:tbl>
          </a:graphicData>
        </a:graphic>
      </p:graphicFrame>
      <p:sp>
        <p:nvSpPr>
          <p:cNvPr id="11" name="Text 8"/>
          <p:cNvSpPr/>
          <p:nvPr/>
        </p:nvSpPr>
        <p:spPr>
          <a:xfrm>
            <a:off x="502920" y="4343400"/>
            <a:ext cx="5486400" cy="292608"/>
          </a:xfrm>
          <a:prstGeom prst="rect">
            <a:avLst/>
          </a:prstGeom>
          <a:noFill/>
          <a:ln/>
        </p:spPr>
        <p:txBody>
          <a:bodyPr wrap="square" rtlCol="0" anchor="ctr"/>
          <a:lstStyle/>
          <a:p>
            <a:pPr marL="0" indent="0">
              <a:buNone/>
            </a:pPr>
            <a:r>
              <a:rPr lang="en-US" sz="1300" b="1" kern="0" spc="100" dirty="0">
                <a:solidFill>
                  <a:srgbClr val="E07856"/>
                </a:solidFill>
                <a:latin typeface="Calibri" pitchFamily="34" charset="0"/>
                <a:ea typeface="Calibri" pitchFamily="34" charset="-122"/>
                <a:cs typeface="Calibri" pitchFamily="34" charset="-120"/>
              </a:rPr>
              <a:t>🔄  THE BASIC FLOW</a:t>
            </a:r>
            <a:endParaRPr lang="en-US" sz="1300" dirty="0"/>
          </a:p>
        </p:txBody>
      </p:sp>
      <p:sp>
        <p:nvSpPr>
          <p:cNvPr id="12" name="Shape 9"/>
          <p:cNvSpPr/>
          <p:nvPr/>
        </p:nvSpPr>
        <p:spPr>
          <a:xfrm>
            <a:off x="502920" y="4663440"/>
            <a:ext cx="5577840" cy="1417320"/>
          </a:xfrm>
          <a:prstGeom prst="roundRect">
            <a:avLst>
              <a:gd name="adj" fmla="val 5806"/>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3" name="Text 10"/>
          <p:cNvSpPr/>
          <p:nvPr/>
        </p:nvSpPr>
        <p:spPr>
          <a:xfrm>
            <a:off x="685800" y="4828032"/>
            <a:ext cx="5212080" cy="365760"/>
          </a:xfrm>
          <a:prstGeom prst="rect">
            <a:avLst/>
          </a:prstGeom>
          <a:no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INPUT (Prompt)   ──▶   CLAUDE API (Reasons)   ──▶   OUTPUT (Action)</a:t>
            </a:r>
            <a:endParaRPr lang="en-US" sz="1100" dirty="0"/>
          </a:p>
        </p:txBody>
      </p:sp>
      <p:sp>
        <p:nvSpPr>
          <p:cNvPr id="14" name="Text 11"/>
          <p:cNvSpPr/>
          <p:nvPr/>
        </p:nvSpPr>
        <p:spPr>
          <a:xfrm>
            <a:off x="685800" y="5138928"/>
            <a:ext cx="5212080" cy="274320"/>
          </a:xfrm>
          <a:prstGeom prst="rect">
            <a:avLst/>
          </a:prstGeom>
          <a:noFill/>
          <a:ln/>
        </p:spPr>
        <p:txBody>
          <a:bodyPr wrap="square" rtlCol="0" anchor="ctr"/>
          <a:lstStyle/>
          <a:p>
            <a:pPr marL="0" indent="0">
              <a:buNone/>
            </a:pPr>
            <a:r>
              <a:rPr lang="en-US" sz="1000" dirty="0">
                <a:solidFill>
                  <a:srgbClr val="94A0C7"/>
                </a:solidFill>
                <a:latin typeface="Courier New" pitchFamily="34" charset="0"/>
                <a:ea typeface="Courier New" pitchFamily="34" charset="-122"/>
                <a:cs typeface="Courier New" pitchFamily="34" charset="-120"/>
              </a:rPr>
              <a:t>▲                                                                    │</a:t>
            </a:r>
            <a:endParaRPr lang="en-US" sz="1000" dirty="0"/>
          </a:p>
        </p:txBody>
      </p:sp>
      <p:sp>
        <p:nvSpPr>
          <p:cNvPr id="15" name="Text 12"/>
          <p:cNvSpPr/>
          <p:nvPr/>
        </p:nvSpPr>
        <p:spPr>
          <a:xfrm>
            <a:off x="685800" y="5394960"/>
            <a:ext cx="5212080" cy="365760"/>
          </a:xfrm>
          <a:prstGeom prst="rect">
            <a:avLst/>
          </a:prstGeom>
          <a:noFill/>
          <a:ln/>
        </p:spPr>
        <p:txBody>
          <a:bodyPr wrap="square" rtlCol="0" anchor="ctr"/>
          <a:lstStyle/>
          <a:p>
            <a:pPr marL="0" indent="0">
              <a:buNone/>
            </a:pPr>
            <a:r>
              <a:rPr lang="en-US" sz="1100" b="1" dirty="0">
                <a:solidFill>
                  <a:srgbClr val="1FD1A8"/>
                </a:solidFill>
                <a:latin typeface="Courier New" pitchFamily="34" charset="0"/>
                <a:ea typeface="Courier New" pitchFamily="34" charset="-122"/>
                <a:cs typeface="Courier New" pitchFamily="34" charset="-120"/>
              </a:rPr>
              <a:t>└──────────── FEEDBACK LOOP (Agentic Mode) ─────────────┘</a:t>
            </a:r>
            <a:endParaRPr lang="en-US" sz="1100" dirty="0"/>
          </a:p>
        </p:txBody>
      </p:sp>
      <p:sp>
        <p:nvSpPr>
          <p:cNvPr id="16" name="Text 13"/>
          <p:cNvSpPr/>
          <p:nvPr/>
        </p:nvSpPr>
        <p:spPr>
          <a:xfrm>
            <a:off x="6355080" y="1783080"/>
            <a:ext cx="5394960" cy="292608"/>
          </a:xfrm>
          <a:prstGeom prst="rect">
            <a:avLst/>
          </a:prstGeom>
          <a:noFill/>
          <a:ln/>
        </p:spPr>
        <p:txBody>
          <a:bodyPr wrap="square" rtlCol="0" anchor="ctr"/>
          <a:lstStyle/>
          <a:p>
            <a:pPr marL="0" indent="0">
              <a:buNone/>
            </a:pPr>
            <a:r>
              <a:rPr lang="en-US" sz="1300" b="1" kern="0" spc="100" dirty="0">
                <a:solidFill>
                  <a:srgbClr val="E07856"/>
                </a:solidFill>
                <a:latin typeface="Calibri" pitchFamily="34" charset="0"/>
                <a:ea typeface="Calibri" pitchFamily="34" charset="-122"/>
                <a:cs typeface="Calibri" pitchFamily="34" charset="-120"/>
              </a:rPr>
              <a:t>🔹  4 CO-WORKING MODES</a:t>
            </a:r>
            <a:endParaRPr lang="en-US" sz="1300" dirty="0"/>
          </a:p>
        </p:txBody>
      </p:sp>
      <p:sp>
        <p:nvSpPr>
          <p:cNvPr id="17" name="Shape 14"/>
          <p:cNvSpPr/>
          <p:nvPr/>
        </p:nvSpPr>
        <p:spPr>
          <a:xfrm>
            <a:off x="6355080" y="2103120"/>
            <a:ext cx="5394960" cy="694944"/>
          </a:xfrm>
          <a:prstGeom prst="roundRect">
            <a:avLst>
              <a:gd name="adj" fmla="val 11842"/>
            </a:avLst>
          </a:prstGeom>
          <a:solidFill>
            <a:srgbClr val="1B2350"/>
          </a:solidFill>
          <a:ln w="12700">
            <a:solidFill>
              <a:srgbClr val="2A3468"/>
            </a:solidFill>
            <a:prstDash val="solid"/>
          </a:ln>
        </p:spPr>
      </p:sp>
      <p:sp>
        <p:nvSpPr>
          <p:cNvPr id="18" name="Text 15"/>
          <p:cNvSpPr/>
          <p:nvPr/>
        </p:nvSpPr>
        <p:spPr>
          <a:xfrm>
            <a:off x="6537960" y="2157984"/>
            <a:ext cx="50292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1️⃣   Assistant Mode</a:t>
            </a:r>
            <a:endParaRPr lang="en-US" sz="1250" dirty="0"/>
          </a:p>
        </p:txBody>
      </p:sp>
      <p:sp>
        <p:nvSpPr>
          <p:cNvPr id="19" name="Text 16"/>
          <p:cNvSpPr/>
          <p:nvPr/>
        </p:nvSpPr>
        <p:spPr>
          <a:xfrm>
            <a:off x="6537960" y="2432304"/>
            <a:ext cx="5074920" cy="329184"/>
          </a:xfrm>
          <a:prstGeom prst="rect">
            <a:avLst/>
          </a:prstGeom>
          <a:noFill/>
          <a:ln/>
        </p:spPr>
        <p:txBody>
          <a:bodyPr wrap="square" rtlCol="0" anchor="ctr"/>
          <a:lstStyle/>
          <a:p>
            <a:pPr marL="0" indent="0">
              <a:buNone/>
            </a:pPr>
            <a:r>
              <a:rPr lang="en-US" sz="1050" dirty="0">
                <a:solidFill>
                  <a:srgbClr val="94A0C7"/>
                </a:solidFill>
                <a:latin typeface="Calibri" pitchFamily="34" charset="0"/>
                <a:ea typeface="Calibri" pitchFamily="34" charset="-122"/>
                <a:cs typeface="Calibri" pitchFamily="34" charset="-120"/>
              </a:rPr>
              <a:t>User asks → Claude responds. Simple request-response.</a:t>
            </a:r>
            <a:endParaRPr lang="en-US" sz="1050" dirty="0"/>
          </a:p>
        </p:txBody>
      </p:sp>
      <p:sp>
        <p:nvSpPr>
          <p:cNvPr id="20" name="Shape 17"/>
          <p:cNvSpPr/>
          <p:nvPr/>
        </p:nvSpPr>
        <p:spPr>
          <a:xfrm>
            <a:off x="6355080" y="2889504"/>
            <a:ext cx="5394960" cy="694944"/>
          </a:xfrm>
          <a:prstGeom prst="roundRect">
            <a:avLst>
              <a:gd name="adj" fmla="val 11842"/>
            </a:avLst>
          </a:prstGeom>
          <a:solidFill>
            <a:srgbClr val="1B2350"/>
          </a:solidFill>
          <a:ln w="12700">
            <a:solidFill>
              <a:srgbClr val="2A3468"/>
            </a:solidFill>
            <a:prstDash val="solid"/>
          </a:ln>
        </p:spPr>
      </p:sp>
      <p:sp>
        <p:nvSpPr>
          <p:cNvPr id="21" name="Text 18"/>
          <p:cNvSpPr/>
          <p:nvPr/>
        </p:nvSpPr>
        <p:spPr>
          <a:xfrm>
            <a:off x="6537960" y="2944368"/>
            <a:ext cx="50292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2️⃣   Tool-Use Mode</a:t>
            </a:r>
            <a:endParaRPr lang="en-US" sz="1250" dirty="0"/>
          </a:p>
        </p:txBody>
      </p:sp>
      <p:sp>
        <p:nvSpPr>
          <p:cNvPr id="22" name="Text 19"/>
          <p:cNvSpPr/>
          <p:nvPr/>
        </p:nvSpPr>
        <p:spPr>
          <a:xfrm>
            <a:off x="6537960" y="3218688"/>
            <a:ext cx="5074920" cy="329184"/>
          </a:xfrm>
          <a:prstGeom prst="rect">
            <a:avLst/>
          </a:prstGeom>
          <a:noFill/>
          <a:ln/>
        </p:spPr>
        <p:txBody>
          <a:bodyPr wrap="square" rtlCol="0" anchor="ctr"/>
          <a:lstStyle/>
          <a:p>
            <a:pPr marL="0" indent="0">
              <a:buNone/>
            </a:pPr>
            <a:r>
              <a:rPr lang="en-US" sz="1050" dirty="0">
                <a:solidFill>
                  <a:srgbClr val="94A0C7"/>
                </a:solidFill>
                <a:latin typeface="Calibri" pitchFamily="34" charset="0"/>
                <a:ea typeface="Calibri" pitchFamily="34" charset="-122"/>
                <a:cs typeface="Calibri" pitchFamily="34" charset="-120"/>
              </a:rPr>
              <a:t>Claude decides when &amp; how to call external APIs.</a:t>
            </a:r>
            <a:endParaRPr lang="en-US" sz="1050" dirty="0"/>
          </a:p>
        </p:txBody>
      </p:sp>
      <p:sp>
        <p:nvSpPr>
          <p:cNvPr id="23" name="Shape 20"/>
          <p:cNvSpPr/>
          <p:nvPr/>
        </p:nvSpPr>
        <p:spPr>
          <a:xfrm>
            <a:off x="6355080" y="3675888"/>
            <a:ext cx="5394960" cy="694944"/>
          </a:xfrm>
          <a:prstGeom prst="roundRect">
            <a:avLst>
              <a:gd name="adj" fmla="val 11842"/>
            </a:avLst>
          </a:prstGeom>
          <a:solidFill>
            <a:srgbClr val="1B2350"/>
          </a:solidFill>
          <a:ln w="12700">
            <a:solidFill>
              <a:srgbClr val="2A3468"/>
            </a:solidFill>
            <a:prstDash val="solid"/>
          </a:ln>
        </p:spPr>
      </p:sp>
      <p:sp>
        <p:nvSpPr>
          <p:cNvPr id="24" name="Text 21"/>
          <p:cNvSpPr/>
          <p:nvPr/>
        </p:nvSpPr>
        <p:spPr>
          <a:xfrm>
            <a:off x="6537960" y="3730752"/>
            <a:ext cx="50292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3️⃣   Agentic Mode</a:t>
            </a:r>
            <a:endParaRPr lang="en-US" sz="1250" dirty="0"/>
          </a:p>
        </p:txBody>
      </p:sp>
      <p:sp>
        <p:nvSpPr>
          <p:cNvPr id="25" name="Text 22"/>
          <p:cNvSpPr/>
          <p:nvPr/>
        </p:nvSpPr>
        <p:spPr>
          <a:xfrm>
            <a:off x="6537960" y="4005072"/>
            <a:ext cx="5074920" cy="329184"/>
          </a:xfrm>
          <a:prstGeom prst="rect">
            <a:avLst/>
          </a:prstGeom>
          <a:noFill/>
          <a:ln/>
        </p:spPr>
        <p:txBody>
          <a:bodyPr wrap="square" rtlCol="0" anchor="ctr"/>
          <a:lstStyle/>
          <a:p>
            <a:pPr marL="0" indent="0">
              <a:buNone/>
            </a:pPr>
            <a:r>
              <a:rPr lang="en-US" sz="1050" dirty="0">
                <a:solidFill>
                  <a:srgbClr val="94A0C7"/>
                </a:solidFill>
                <a:latin typeface="Calibri" pitchFamily="34" charset="0"/>
                <a:ea typeface="Calibri" pitchFamily="34" charset="-122"/>
                <a:cs typeface="Calibri" pitchFamily="34" charset="-120"/>
              </a:rPr>
              <a:t>Claude plans &amp; executes multi-step tasks autonomously.</a:t>
            </a:r>
            <a:endParaRPr lang="en-US" sz="1050" dirty="0"/>
          </a:p>
        </p:txBody>
      </p:sp>
      <p:sp>
        <p:nvSpPr>
          <p:cNvPr id="26" name="Shape 23"/>
          <p:cNvSpPr/>
          <p:nvPr/>
        </p:nvSpPr>
        <p:spPr>
          <a:xfrm>
            <a:off x="6355080" y="4462272"/>
            <a:ext cx="5394960" cy="694944"/>
          </a:xfrm>
          <a:prstGeom prst="roundRect">
            <a:avLst>
              <a:gd name="adj" fmla="val 11842"/>
            </a:avLst>
          </a:prstGeom>
          <a:solidFill>
            <a:srgbClr val="1B2350"/>
          </a:solidFill>
          <a:ln w="12700">
            <a:solidFill>
              <a:srgbClr val="2A3468"/>
            </a:solidFill>
            <a:prstDash val="solid"/>
          </a:ln>
        </p:spPr>
      </p:sp>
      <p:sp>
        <p:nvSpPr>
          <p:cNvPr id="27" name="Text 24"/>
          <p:cNvSpPr/>
          <p:nvPr/>
        </p:nvSpPr>
        <p:spPr>
          <a:xfrm>
            <a:off x="6537960" y="4517136"/>
            <a:ext cx="50292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4️⃣   Pipeline Mode (N8N)</a:t>
            </a:r>
            <a:endParaRPr lang="en-US" sz="1250" dirty="0"/>
          </a:p>
        </p:txBody>
      </p:sp>
      <p:sp>
        <p:nvSpPr>
          <p:cNvPr id="28" name="Text 25"/>
          <p:cNvSpPr/>
          <p:nvPr/>
        </p:nvSpPr>
        <p:spPr>
          <a:xfrm>
            <a:off x="6537960" y="4791456"/>
            <a:ext cx="5074920" cy="329184"/>
          </a:xfrm>
          <a:prstGeom prst="rect">
            <a:avLst/>
          </a:prstGeom>
          <a:noFill/>
          <a:ln/>
        </p:spPr>
        <p:txBody>
          <a:bodyPr wrap="square" rtlCol="0" anchor="ctr"/>
          <a:lstStyle/>
          <a:p>
            <a:pPr marL="0" indent="0">
              <a:buNone/>
            </a:pPr>
            <a:r>
              <a:rPr lang="en-US" sz="1050" dirty="0">
                <a:solidFill>
                  <a:srgbClr val="94A0C7"/>
                </a:solidFill>
                <a:latin typeface="Calibri" pitchFamily="34" charset="0"/>
                <a:ea typeface="Calibri" pitchFamily="34" charset="-122"/>
                <a:cs typeface="Calibri" pitchFamily="34" charset="-120"/>
              </a:rPr>
              <a:t>Claude is a processing node inside an automation workflow.</a:t>
            </a:r>
            <a:endParaRPr lang="en-US" sz="1050" dirty="0"/>
          </a:p>
        </p:txBody>
      </p:sp>
      <p:sp>
        <p:nvSpPr>
          <p:cNvPr id="29" name="Shape 26"/>
          <p:cNvSpPr/>
          <p:nvPr/>
        </p:nvSpPr>
        <p:spPr>
          <a:xfrm>
            <a:off x="6355080" y="5349240"/>
            <a:ext cx="5394960" cy="777240"/>
          </a:xfrm>
          <a:prstGeom prst="roundRect">
            <a:avLst>
              <a:gd name="adj" fmla="val 10588"/>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30" name="Text 27"/>
          <p:cNvSpPr/>
          <p:nvPr/>
        </p:nvSpPr>
        <p:spPr>
          <a:xfrm>
            <a:off x="6537960" y="5468112"/>
            <a:ext cx="5074920" cy="548640"/>
          </a:xfrm>
          <a:prstGeom prst="rect">
            <a:avLst/>
          </a:prstGeom>
          <a:noFill/>
          <a:ln/>
        </p:spPr>
        <p:txBody>
          <a:bodyPr wrap="square" rtlCol="0" anchor="ctr"/>
          <a:lstStyle/>
          <a:p>
            <a:pPr marL="0" indent="0">
              <a:buNone/>
            </a:pPr>
            <a:r>
              <a:rPr lang="en-US" sz="1050" dirty="0">
                <a:solidFill>
                  <a:srgbClr val="E8ECFA"/>
                </a:solidFill>
                <a:latin typeface="Calibri" pitchFamily="34" charset="0"/>
                <a:ea typeface="Calibri" pitchFamily="34" charset="-122"/>
                <a:cs typeface="Calibri" pitchFamily="34" charset="-120"/>
              </a:rPr>
              <a:t>🔑  KEY FEATURES:  200K context  ·  custom system prompts  ·  structured JSON output  ·  streaming  ·  temperature control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FFB930">
              <a:alpha val="10000"/>
            </a:srgbClr>
          </a:solidFill>
          <a:ln/>
        </p:spPr>
      </p:sp>
      <p:sp>
        <p:nvSpPr>
          <p:cNvPr id="3" name="Shape 1"/>
          <p:cNvSpPr/>
          <p:nvPr/>
        </p:nvSpPr>
        <p:spPr>
          <a:xfrm>
            <a:off x="-1645920" y="5120640"/>
            <a:ext cx="3291840" cy="3291840"/>
          </a:xfrm>
          <a:prstGeom prst="ellipse">
            <a:avLst/>
          </a:prstGeom>
          <a:solidFill>
            <a:srgbClr val="FFB930">
              <a:alpha val="8000"/>
            </a:srgbClr>
          </a:solidFill>
          <a:ln/>
        </p:spPr>
      </p:sp>
      <p:sp>
        <p:nvSpPr>
          <p:cNvPr id="4" name="Shape 2"/>
          <p:cNvSpPr/>
          <p:nvPr/>
        </p:nvSpPr>
        <p:spPr>
          <a:xfrm>
            <a:off x="502920" y="457200"/>
            <a:ext cx="658368" cy="658368"/>
          </a:xfrm>
          <a:prstGeom prst="ellipse">
            <a:avLst/>
          </a:prstGeom>
          <a:solidFill>
            <a:srgbClr val="FFB930">
              <a:alpha val="22000"/>
            </a:srgbClr>
          </a:solidFill>
          <a:ln w="15875">
            <a:solidFill>
              <a:srgbClr val="FFB930"/>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FFB930"/>
                </a:solidFill>
                <a:latin typeface="Calibri" pitchFamily="34" charset="0"/>
                <a:ea typeface="Calibri" pitchFamily="34" charset="-122"/>
                <a:cs typeface="Calibri" pitchFamily="34" charset="-120"/>
              </a:rPr>
              <a:t>TOOL 02</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is LM Arena?</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The AI model benchmarking &amp; evaluation platform</a:t>
            </a:r>
            <a:endParaRPr lang="en-US" sz="1350" dirty="0"/>
          </a:p>
        </p:txBody>
      </p:sp>
      <p:sp>
        <p:nvSpPr>
          <p:cNvPr id="9" name="Shape 7"/>
          <p:cNvSpPr/>
          <p:nvPr/>
        </p:nvSpPr>
        <p:spPr>
          <a:xfrm>
            <a:off x="502920" y="1691640"/>
            <a:ext cx="11201400" cy="1051560"/>
          </a:xfrm>
          <a:prstGeom prst="roundRect">
            <a:avLst>
              <a:gd name="adj" fmla="val 7826"/>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10512"/>
            <a:ext cx="10698480" cy="822960"/>
          </a:xfrm>
          <a:prstGeom prst="rect">
            <a:avLst/>
          </a:prstGeom>
          <a:noFill/>
          <a:ln/>
        </p:spPr>
        <p:txBody>
          <a:bodyPr wrap="square" rtlCol="0" anchor="ctr"/>
          <a:lstStyle/>
          <a:p>
            <a:pPr marL="0" indent="0">
              <a:lnSpc>
                <a:spcPct val="120000"/>
              </a:lnSpc>
              <a:buNone/>
            </a:pPr>
            <a:r>
              <a:rPr lang="en-US" sz="1300" dirty="0">
                <a:solidFill>
                  <a:srgbClr val="E8ECFA"/>
                </a:solidFill>
                <a:latin typeface="Calibri" pitchFamily="34" charset="0"/>
                <a:ea typeface="Calibri" pitchFamily="34" charset="-122"/>
                <a:cs typeface="Calibri" pitchFamily="34" charset="-120"/>
              </a:rPr>
              <a:t>LM Arena (Chatbot Arena) is an open benchmark platform by UC Berkeley's LMSYS research group. It lets humans compare AI models side-by-side through anonymous, blind voting — producing unbiased, real-world performance rankings.</a:t>
            </a:r>
            <a:endParaRPr lang="en-US" sz="1300" dirty="0"/>
          </a:p>
        </p:txBody>
      </p:sp>
      <p:sp>
        <p:nvSpPr>
          <p:cNvPr id="11" name="Text 9"/>
          <p:cNvSpPr/>
          <p:nvPr/>
        </p:nvSpPr>
        <p:spPr>
          <a:xfrm>
            <a:off x="502920" y="2926080"/>
            <a:ext cx="7315200" cy="292608"/>
          </a:xfrm>
          <a:prstGeom prst="rect">
            <a:avLst/>
          </a:prstGeom>
          <a:noFill/>
          <a:ln/>
        </p:spPr>
        <p:txBody>
          <a:bodyPr wrap="square" rtlCol="0" anchor="ctr"/>
          <a:lstStyle/>
          <a:p>
            <a:pPr marL="0" indent="0">
              <a:buNone/>
            </a:pPr>
            <a:r>
              <a:rPr lang="en-US" sz="1300" b="1" kern="0" spc="100" dirty="0">
                <a:solidFill>
                  <a:srgbClr val="FFB930"/>
                </a:solidFill>
                <a:latin typeface="Calibri" pitchFamily="34" charset="0"/>
                <a:ea typeface="Calibri" pitchFamily="34" charset="-122"/>
                <a:cs typeface="Calibri" pitchFamily="34" charset="-120"/>
              </a:rPr>
              <a:t>🔄  HOW LM ARENA WORKS</a:t>
            </a:r>
            <a:endParaRPr lang="en-US" sz="1300" dirty="0"/>
          </a:p>
        </p:txBody>
      </p:sp>
      <p:sp>
        <p:nvSpPr>
          <p:cNvPr id="12" name="Shape 10"/>
          <p:cNvSpPr/>
          <p:nvPr/>
        </p:nvSpPr>
        <p:spPr>
          <a:xfrm>
            <a:off x="502920" y="3246120"/>
            <a:ext cx="1653540" cy="960120"/>
          </a:xfrm>
          <a:prstGeom prst="roundRect">
            <a:avLst>
              <a:gd name="adj" fmla="val 8571"/>
            </a:avLst>
          </a:prstGeom>
          <a:solidFill>
            <a:srgbClr val="1B2350"/>
          </a:solidFill>
          <a:ln w="12700">
            <a:solidFill>
              <a:srgbClr val="2A3468"/>
            </a:solidFill>
            <a:prstDash val="solid"/>
          </a:ln>
        </p:spPr>
      </p:sp>
      <p:sp>
        <p:nvSpPr>
          <p:cNvPr id="13" name="Shape 11"/>
          <p:cNvSpPr/>
          <p:nvPr/>
        </p:nvSpPr>
        <p:spPr>
          <a:xfrm>
            <a:off x="612648" y="3355848"/>
            <a:ext cx="292608" cy="292608"/>
          </a:xfrm>
          <a:prstGeom prst="ellipse">
            <a:avLst/>
          </a:prstGeom>
          <a:solidFill>
            <a:srgbClr val="FFB930"/>
          </a:solidFill>
          <a:ln/>
        </p:spPr>
      </p:sp>
      <p:sp>
        <p:nvSpPr>
          <p:cNvPr id="14" name="Text 12"/>
          <p:cNvSpPr/>
          <p:nvPr/>
        </p:nvSpPr>
        <p:spPr>
          <a:xfrm>
            <a:off x="612648" y="3337560"/>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15" name="Text 13"/>
          <p:cNvSpPr/>
          <p:nvPr/>
        </p:nvSpPr>
        <p:spPr>
          <a:xfrm>
            <a:off x="612648" y="3685032"/>
            <a:ext cx="1434084"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User visits lmarena.ai &amp; asks a question</a:t>
            </a:r>
            <a:endParaRPr lang="en-US" sz="1000" dirty="0"/>
          </a:p>
        </p:txBody>
      </p:sp>
      <p:sp>
        <p:nvSpPr>
          <p:cNvPr id="16" name="Text 14"/>
          <p:cNvSpPr/>
          <p:nvPr/>
        </p:nvSpPr>
        <p:spPr>
          <a:xfrm>
            <a:off x="2156460" y="3502152"/>
            <a:ext cx="256032" cy="365760"/>
          </a:xfrm>
          <a:prstGeom prst="rect">
            <a:avLst/>
          </a:prstGeom>
          <a:noFill/>
          <a:ln/>
        </p:spPr>
        <p:txBody>
          <a:bodyPr wrap="square" rtlCol="0" anchor="ctr"/>
          <a:lstStyle/>
          <a:p>
            <a:pPr marL="0" indent="0" algn="ctr">
              <a:buNone/>
            </a:pPr>
            <a:r>
              <a:rPr lang="en-US" sz="1600" b="1" dirty="0">
                <a:solidFill>
                  <a:srgbClr val="FFB930"/>
                </a:solidFill>
              </a:rPr>
              <a:t>→</a:t>
            </a:r>
            <a:endParaRPr lang="en-US" sz="1600" dirty="0"/>
          </a:p>
        </p:txBody>
      </p:sp>
      <p:sp>
        <p:nvSpPr>
          <p:cNvPr id="17" name="Shape 15"/>
          <p:cNvSpPr/>
          <p:nvPr/>
        </p:nvSpPr>
        <p:spPr>
          <a:xfrm>
            <a:off x="2412492" y="3246120"/>
            <a:ext cx="1653540" cy="960120"/>
          </a:xfrm>
          <a:prstGeom prst="roundRect">
            <a:avLst>
              <a:gd name="adj" fmla="val 8571"/>
            </a:avLst>
          </a:prstGeom>
          <a:solidFill>
            <a:srgbClr val="1B2350"/>
          </a:solidFill>
          <a:ln w="12700">
            <a:solidFill>
              <a:srgbClr val="2A3468"/>
            </a:solidFill>
            <a:prstDash val="solid"/>
          </a:ln>
        </p:spPr>
      </p:sp>
      <p:sp>
        <p:nvSpPr>
          <p:cNvPr id="18" name="Shape 16"/>
          <p:cNvSpPr/>
          <p:nvPr/>
        </p:nvSpPr>
        <p:spPr>
          <a:xfrm>
            <a:off x="2522220" y="3355848"/>
            <a:ext cx="292608" cy="292608"/>
          </a:xfrm>
          <a:prstGeom prst="ellipse">
            <a:avLst/>
          </a:prstGeom>
          <a:solidFill>
            <a:srgbClr val="FFB930"/>
          </a:solidFill>
          <a:ln/>
        </p:spPr>
      </p:sp>
      <p:sp>
        <p:nvSpPr>
          <p:cNvPr id="19" name="Text 17"/>
          <p:cNvSpPr/>
          <p:nvPr/>
        </p:nvSpPr>
        <p:spPr>
          <a:xfrm>
            <a:off x="2522220" y="3337560"/>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20" name="Text 18"/>
          <p:cNvSpPr/>
          <p:nvPr/>
        </p:nvSpPr>
        <p:spPr>
          <a:xfrm>
            <a:off x="2522220" y="3685032"/>
            <a:ext cx="1434084"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TWO anonymous models respond</a:t>
            </a:r>
            <a:endParaRPr lang="en-US" sz="1000" dirty="0"/>
          </a:p>
        </p:txBody>
      </p:sp>
      <p:sp>
        <p:nvSpPr>
          <p:cNvPr id="21" name="Text 19"/>
          <p:cNvSpPr/>
          <p:nvPr/>
        </p:nvSpPr>
        <p:spPr>
          <a:xfrm>
            <a:off x="4066032" y="3502152"/>
            <a:ext cx="256032" cy="365760"/>
          </a:xfrm>
          <a:prstGeom prst="rect">
            <a:avLst/>
          </a:prstGeom>
          <a:noFill/>
          <a:ln/>
        </p:spPr>
        <p:txBody>
          <a:bodyPr wrap="square" rtlCol="0" anchor="ctr"/>
          <a:lstStyle/>
          <a:p>
            <a:pPr marL="0" indent="0" algn="ctr">
              <a:buNone/>
            </a:pPr>
            <a:r>
              <a:rPr lang="en-US" sz="1600" b="1" dirty="0">
                <a:solidFill>
                  <a:srgbClr val="FFB930"/>
                </a:solidFill>
              </a:rPr>
              <a:t>→</a:t>
            </a:r>
            <a:endParaRPr lang="en-US" sz="1600" dirty="0"/>
          </a:p>
        </p:txBody>
      </p:sp>
      <p:sp>
        <p:nvSpPr>
          <p:cNvPr id="22" name="Shape 20"/>
          <p:cNvSpPr/>
          <p:nvPr/>
        </p:nvSpPr>
        <p:spPr>
          <a:xfrm>
            <a:off x="4322064" y="3246120"/>
            <a:ext cx="1653540" cy="960120"/>
          </a:xfrm>
          <a:prstGeom prst="roundRect">
            <a:avLst>
              <a:gd name="adj" fmla="val 8571"/>
            </a:avLst>
          </a:prstGeom>
          <a:solidFill>
            <a:srgbClr val="1B2350"/>
          </a:solidFill>
          <a:ln w="12700">
            <a:solidFill>
              <a:srgbClr val="2A3468"/>
            </a:solidFill>
            <a:prstDash val="solid"/>
          </a:ln>
        </p:spPr>
      </p:sp>
      <p:sp>
        <p:nvSpPr>
          <p:cNvPr id="23" name="Shape 21"/>
          <p:cNvSpPr/>
          <p:nvPr/>
        </p:nvSpPr>
        <p:spPr>
          <a:xfrm>
            <a:off x="4431792" y="3355848"/>
            <a:ext cx="292608" cy="292608"/>
          </a:xfrm>
          <a:prstGeom prst="ellipse">
            <a:avLst/>
          </a:prstGeom>
          <a:solidFill>
            <a:srgbClr val="FFB930"/>
          </a:solidFill>
          <a:ln/>
        </p:spPr>
      </p:sp>
      <p:sp>
        <p:nvSpPr>
          <p:cNvPr id="24" name="Text 22"/>
          <p:cNvSpPr/>
          <p:nvPr/>
        </p:nvSpPr>
        <p:spPr>
          <a:xfrm>
            <a:off x="4431792" y="3337560"/>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25" name="Text 23"/>
          <p:cNvSpPr/>
          <p:nvPr/>
        </p:nvSpPr>
        <p:spPr>
          <a:xfrm>
            <a:off x="4431792" y="3685032"/>
            <a:ext cx="1434084"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User reads both — blind</a:t>
            </a:r>
            <a:endParaRPr lang="en-US" sz="1000" dirty="0"/>
          </a:p>
        </p:txBody>
      </p:sp>
      <p:sp>
        <p:nvSpPr>
          <p:cNvPr id="26" name="Text 24"/>
          <p:cNvSpPr/>
          <p:nvPr/>
        </p:nvSpPr>
        <p:spPr>
          <a:xfrm>
            <a:off x="5975604" y="3502152"/>
            <a:ext cx="256032" cy="365760"/>
          </a:xfrm>
          <a:prstGeom prst="rect">
            <a:avLst/>
          </a:prstGeom>
          <a:noFill/>
          <a:ln/>
        </p:spPr>
        <p:txBody>
          <a:bodyPr wrap="square" rtlCol="0" anchor="ctr"/>
          <a:lstStyle/>
          <a:p>
            <a:pPr marL="0" indent="0" algn="ctr">
              <a:buNone/>
            </a:pPr>
            <a:r>
              <a:rPr lang="en-US" sz="1600" b="1" dirty="0">
                <a:solidFill>
                  <a:srgbClr val="FFB930"/>
                </a:solidFill>
              </a:rPr>
              <a:t>→</a:t>
            </a:r>
            <a:endParaRPr lang="en-US" sz="1600" dirty="0"/>
          </a:p>
        </p:txBody>
      </p:sp>
      <p:sp>
        <p:nvSpPr>
          <p:cNvPr id="27" name="Shape 25"/>
          <p:cNvSpPr/>
          <p:nvPr/>
        </p:nvSpPr>
        <p:spPr>
          <a:xfrm>
            <a:off x="6231636" y="3246120"/>
            <a:ext cx="1653540" cy="960120"/>
          </a:xfrm>
          <a:prstGeom prst="roundRect">
            <a:avLst>
              <a:gd name="adj" fmla="val 8571"/>
            </a:avLst>
          </a:prstGeom>
          <a:solidFill>
            <a:srgbClr val="1B2350"/>
          </a:solidFill>
          <a:ln w="12700">
            <a:solidFill>
              <a:srgbClr val="2A3468"/>
            </a:solidFill>
            <a:prstDash val="solid"/>
          </a:ln>
        </p:spPr>
      </p:sp>
      <p:sp>
        <p:nvSpPr>
          <p:cNvPr id="28" name="Shape 26"/>
          <p:cNvSpPr/>
          <p:nvPr/>
        </p:nvSpPr>
        <p:spPr>
          <a:xfrm>
            <a:off x="6341364" y="3355848"/>
            <a:ext cx="292608" cy="292608"/>
          </a:xfrm>
          <a:prstGeom prst="ellipse">
            <a:avLst/>
          </a:prstGeom>
          <a:solidFill>
            <a:srgbClr val="FFB930"/>
          </a:solidFill>
          <a:ln/>
        </p:spPr>
      </p:sp>
      <p:sp>
        <p:nvSpPr>
          <p:cNvPr id="29" name="Text 27"/>
          <p:cNvSpPr/>
          <p:nvPr/>
        </p:nvSpPr>
        <p:spPr>
          <a:xfrm>
            <a:off x="6341364" y="3337560"/>
            <a:ext cx="292608" cy="292608"/>
          </a:xfrm>
          <a:prstGeom prst="rect">
            <a:avLst/>
          </a:prstGeom>
          <a:noFill/>
          <a:ln/>
        </p:spPr>
        <p:txBody>
          <a:bodyPr wrap="square" rtlCol="0" anchor="ctr"/>
          <a:lstStyle/>
          <a:p>
            <a:pPr marL="0" indent="0" algn="ctr">
              <a:buNone/>
            </a:pPr>
            <a:r>
              <a:rPr lang="en-US" sz="1200" b="1" dirty="0">
                <a:solidFill>
                  <a:srgbClr val="0A0E27"/>
                </a:solidFill>
              </a:rPr>
              <a:t>4</a:t>
            </a:r>
            <a:endParaRPr lang="en-US" sz="1200" dirty="0"/>
          </a:p>
        </p:txBody>
      </p:sp>
      <p:sp>
        <p:nvSpPr>
          <p:cNvPr id="30" name="Text 28"/>
          <p:cNvSpPr/>
          <p:nvPr/>
        </p:nvSpPr>
        <p:spPr>
          <a:xfrm>
            <a:off x="6341364" y="3685032"/>
            <a:ext cx="1434084"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Votes: A / B / Tie / Both Bad</a:t>
            </a:r>
            <a:endParaRPr lang="en-US" sz="1000" dirty="0"/>
          </a:p>
        </p:txBody>
      </p:sp>
      <p:sp>
        <p:nvSpPr>
          <p:cNvPr id="31" name="Text 29"/>
          <p:cNvSpPr/>
          <p:nvPr/>
        </p:nvSpPr>
        <p:spPr>
          <a:xfrm>
            <a:off x="7885176" y="3502152"/>
            <a:ext cx="256032" cy="365760"/>
          </a:xfrm>
          <a:prstGeom prst="rect">
            <a:avLst/>
          </a:prstGeom>
          <a:noFill/>
          <a:ln/>
        </p:spPr>
        <p:txBody>
          <a:bodyPr wrap="square" rtlCol="0" anchor="ctr"/>
          <a:lstStyle/>
          <a:p>
            <a:pPr marL="0" indent="0" algn="ctr">
              <a:buNone/>
            </a:pPr>
            <a:r>
              <a:rPr lang="en-US" sz="1600" b="1" dirty="0">
                <a:solidFill>
                  <a:srgbClr val="FFB930"/>
                </a:solidFill>
              </a:rPr>
              <a:t>→</a:t>
            </a:r>
            <a:endParaRPr lang="en-US" sz="1600" dirty="0"/>
          </a:p>
        </p:txBody>
      </p:sp>
      <p:sp>
        <p:nvSpPr>
          <p:cNvPr id="32" name="Shape 30"/>
          <p:cNvSpPr/>
          <p:nvPr/>
        </p:nvSpPr>
        <p:spPr>
          <a:xfrm>
            <a:off x="8141208" y="3246120"/>
            <a:ext cx="1653540" cy="960120"/>
          </a:xfrm>
          <a:prstGeom prst="roundRect">
            <a:avLst>
              <a:gd name="adj" fmla="val 8571"/>
            </a:avLst>
          </a:prstGeom>
          <a:solidFill>
            <a:srgbClr val="1B2350"/>
          </a:solidFill>
          <a:ln w="12700">
            <a:solidFill>
              <a:srgbClr val="2A3468"/>
            </a:solidFill>
            <a:prstDash val="solid"/>
          </a:ln>
        </p:spPr>
      </p:sp>
      <p:sp>
        <p:nvSpPr>
          <p:cNvPr id="33" name="Shape 31"/>
          <p:cNvSpPr/>
          <p:nvPr/>
        </p:nvSpPr>
        <p:spPr>
          <a:xfrm>
            <a:off x="8250936" y="3355848"/>
            <a:ext cx="292608" cy="292608"/>
          </a:xfrm>
          <a:prstGeom prst="ellipse">
            <a:avLst/>
          </a:prstGeom>
          <a:solidFill>
            <a:srgbClr val="FFB930"/>
          </a:solidFill>
          <a:ln/>
        </p:spPr>
      </p:sp>
      <p:sp>
        <p:nvSpPr>
          <p:cNvPr id="34" name="Text 32"/>
          <p:cNvSpPr/>
          <p:nvPr/>
        </p:nvSpPr>
        <p:spPr>
          <a:xfrm>
            <a:off x="8250936" y="3337560"/>
            <a:ext cx="292608" cy="292608"/>
          </a:xfrm>
          <a:prstGeom prst="rect">
            <a:avLst/>
          </a:prstGeom>
          <a:noFill/>
          <a:ln/>
        </p:spPr>
        <p:txBody>
          <a:bodyPr wrap="square" rtlCol="0" anchor="ctr"/>
          <a:lstStyle/>
          <a:p>
            <a:pPr marL="0" indent="0" algn="ctr">
              <a:buNone/>
            </a:pPr>
            <a:r>
              <a:rPr lang="en-US" sz="1200" b="1" dirty="0">
                <a:solidFill>
                  <a:srgbClr val="0A0E27"/>
                </a:solidFill>
              </a:rPr>
              <a:t>5</a:t>
            </a:r>
            <a:endParaRPr lang="en-US" sz="1200" dirty="0"/>
          </a:p>
        </p:txBody>
      </p:sp>
      <p:sp>
        <p:nvSpPr>
          <p:cNvPr id="35" name="Text 33"/>
          <p:cNvSpPr/>
          <p:nvPr/>
        </p:nvSpPr>
        <p:spPr>
          <a:xfrm>
            <a:off x="8250936" y="3685032"/>
            <a:ext cx="1434084"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ELO score calculated</a:t>
            </a:r>
            <a:endParaRPr lang="en-US" sz="1000" dirty="0"/>
          </a:p>
        </p:txBody>
      </p:sp>
      <p:sp>
        <p:nvSpPr>
          <p:cNvPr id="36" name="Text 34"/>
          <p:cNvSpPr/>
          <p:nvPr/>
        </p:nvSpPr>
        <p:spPr>
          <a:xfrm>
            <a:off x="9794748" y="3502152"/>
            <a:ext cx="256032" cy="365760"/>
          </a:xfrm>
          <a:prstGeom prst="rect">
            <a:avLst/>
          </a:prstGeom>
          <a:noFill/>
          <a:ln/>
        </p:spPr>
        <p:txBody>
          <a:bodyPr wrap="square" rtlCol="0" anchor="ctr"/>
          <a:lstStyle/>
          <a:p>
            <a:pPr marL="0" indent="0" algn="ctr">
              <a:buNone/>
            </a:pPr>
            <a:r>
              <a:rPr lang="en-US" sz="1600" b="1" dirty="0">
                <a:solidFill>
                  <a:srgbClr val="FFB930"/>
                </a:solidFill>
              </a:rPr>
              <a:t>→</a:t>
            </a:r>
            <a:endParaRPr lang="en-US" sz="1600" dirty="0"/>
          </a:p>
        </p:txBody>
      </p:sp>
      <p:sp>
        <p:nvSpPr>
          <p:cNvPr id="37" name="Shape 35"/>
          <p:cNvSpPr/>
          <p:nvPr/>
        </p:nvSpPr>
        <p:spPr>
          <a:xfrm>
            <a:off x="10050780" y="3246120"/>
            <a:ext cx="1653540" cy="960120"/>
          </a:xfrm>
          <a:prstGeom prst="roundRect">
            <a:avLst>
              <a:gd name="adj" fmla="val 8571"/>
            </a:avLst>
          </a:prstGeom>
          <a:solidFill>
            <a:srgbClr val="1B2350"/>
          </a:solidFill>
          <a:ln w="12700">
            <a:solidFill>
              <a:srgbClr val="2A3468"/>
            </a:solidFill>
            <a:prstDash val="solid"/>
          </a:ln>
        </p:spPr>
      </p:sp>
      <p:sp>
        <p:nvSpPr>
          <p:cNvPr id="38" name="Shape 36"/>
          <p:cNvSpPr/>
          <p:nvPr/>
        </p:nvSpPr>
        <p:spPr>
          <a:xfrm>
            <a:off x="10160508" y="3355848"/>
            <a:ext cx="292608" cy="292608"/>
          </a:xfrm>
          <a:prstGeom prst="ellipse">
            <a:avLst/>
          </a:prstGeom>
          <a:solidFill>
            <a:srgbClr val="FFB930"/>
          </a:solidFill>
          <a:ln/>
        </p:spPr>
      </p:sp>
      <p:sp>
        <p:nvSpPr>
          <p:cNvPr id="39" name="Text 37"/>
          <p:cNvSpPr/>
          <p:nvPr/>
        </p:nvSpPr>
        <p:spPr>
          <a:xfrm>
            <a:off x="10160508" y="3337560"/>
            <a:ext cx="292608" cy="292608"/>
          </a:xfrm>
          <a:prstGeom prst="rect">
            <a:avLst/>
          </a:prstGeom>
          <a:noFill/>
          <a:ln/>
        </p:spPr>
        <p:txBody>
          <a:bodyPr wrap="square" rtlCol="0" anchor="ctr"/>
          <a:lstStyle/>
          <a:p>
            <a:pPr marL="0" indent="0" algn="ctr">
              <a:buNone/>
            </a:pPr>
            <a:r>
              <a:rPr lang="en-US" sz="1200" b="1" dirty="0">
                <a:solidFill>
                  <a:srgbClr val="0A0E27"/>
                </a:solidFill>
              </a:rPr>
              <a:t>6</a:t>
            </a:r>
            <a:endParaRPr lang="en-US" sz="1200" dirty="0"/>
          </a:p>
        </p:txBody>
      </p:sp>
      <p:sp>
        <p:nvSpPr>
          <p:cNvPr id="40" name="Text 38"/>
          <p:cNvSpPr/>
          <p:nvPr/>
        </p:nvSpPr>
        <p:spPr>
          <a:xfrm>
            <a:off x="10160508" y="3685032"/>
            <a:ext cx="1434084"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Leaderboard updates live</a:t>
            </a:r>
            <a:endParaRPr lang="en-US" sz="1000" dirty="0"/>
          </a:p>
        </p:txBody>
      </p:sp>
      <p:sp>
        <p:nvSpPr>
          <p:cNvPr id="41" name="Text 39"/>
          <p:cNvSpPr/>
          <p:nvPr/>
        </p:nvSpPr>
        <p:spPr>
          <a:xfrm>
            <a:off x="502920" y="4526280"/>
            <a:ext cx="5486400" cy="292608"/>
          </a:xfrm>
          <a:prstGeom prst="rect">
            <a:avLst/>
          </a:prstGeom>
          <a:noFill/>
          <a:ln/>
        </p:spPr>
        <p:txBody>
          <a:bodyPr wrap="square" rtlCol="0" anchor="ctr"/>
          <a:lstStyle/>
          <a:p>
            <a:pPr marL="0" indent="0">
              <a:buNone/>
            </a:pPr>
            <a:r>
              <a:rPr lang="en-US" sz="1300" b="1" kern="0" spc="100" dirty="0">
                <a:solidFill>
                  <a:srgbClr val="FFB930"/>
                </a:solidFill>
                <a:latin typeface="Calibri" pitchFamily="34" charset="0"/>
                <a:ea typeface="Calibri" pitchFamily="34" charset="-122"/>
                <a:cs typeface="Calibri" pitchFamily="34" charset="-120"/>
              </a:rPr>
              <a:t>🤖  MODELS COMPARED</a:t>
            </a:r>
            <a:endParaRPr lang="en-US" sz="13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577840" cy="1645920"/>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29184">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COMPANY</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FFB930"/>
                    </a:solidFill>
                  </a:tcPr>
                </a:tc>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FFB930"/>
                    </a:solidFill>
                  </a:tcPr>
                </a:tc>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SPECIALTY</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FFB930"/>
                    </a:solidFill>
                  </a:tcPr>
                </a:tc>
                <a:extLst>
                  <a:ext uri="{0D108BD9-81ED-4DB2-BD59-A6C34878D82A}">
                    <a16:rowId xmlns:a16="http://schemas.microsoft.com/office/drawing/2014/main" val="10000"/>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Anthropic</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Claude 3.5 Sonnet / Opus</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Reasoning, safety, long context</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1"/>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OpenAI</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GPT-4o / GPT-4 Turbo</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General purpose, coding</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2"/>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Google</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Gemini Ultra / Pro</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Multimodal, integration</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3"/>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Meta</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Llama 3 (70B)</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Open source, self-hostable</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4"/>
                  </a:ext>
                </a:extLst>
              </a:tr>
            </a:tbl>
          </a:graphicData>
        </a:graphic>
      </p:graphicFrame>
      <p:sp>
        <p:nvSpPr>
          <p:cNvPr id="43" name="Shape 40"/>
          <p:cNvSpPr/>
          <p:nvPr/>
        </p:nvSpPr>
        <p:spPr>
          <a:xfrm>
            <a:off x="6355080" y="4846320"/>
            <a:ext cx="5349240" cy="1691640"/>
          </a:xfrm>
          <a:prstGeom prst="roundRect">
            <a:avLst>
              <a:gd name="adj" fmla="val 4865"/>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44" name="Text 41"/>
          <p:cNvSpPr/>
          <p:nvPr/>
        </p:nvSpPr>
        <p:spPr>
          <a:xfrm>
            <a:off x="6537960" y="4956048"/>
            <a:ext cx="5029200" cy="256032"/>
          </a:xfrm>
          <a:prstGeom prst="rect">
            <a:avLst/>
          </a:prstGeom>
          <a:noFill/>
          <a:ln/>
        </p:spPr>
        <p:txBody>
          <a:bodyPr wrap="square" rtlCol="0" anchor="ctr"/>
          <a:lstStyle/>
          <a:p>
            <a:pPr marL="0" indent="0">
              <a:buNone/>
            </a:pPr>
            <a:r>
              <a:rPr lang="en-US" sz="1150" b="1" dirty="0">
                <a:solidFill>
                  <a:srgbClr val="FFB930"/>
                </a:solidFill>
                <a:latin typeface="Calibri" pitchFamily="34" charset="0"/>
                <a:ea typeface="Calibri" pitchFamily="34" charset="-122"/>
                <a:cs typeface="Calibri" pitchFamily="34" charset="-120"/>
              </a:rPr>
              <a:t>💡  HOW LM ARENA FITS OUR ECOSYSTEM</a:t>
            </a:r>
            <a:endParaRPr lang="en-US" sz="1150" dirty="0"/>
          </a:p>
        </p:txBody>
      </p:sp>
      <p:sp>
        <p:nvSpPr>
          <p:cNvPr id="45" name="Text 42"/>
          <p:cNvSpPr/>
          <p:nvPr/>
        </p:nvSpPr>
        <p:spPr>
          <a:xfrm>
            <a:off x="6537960" y="5230368"/>
            <a:ext cx="5074920" cy="1188720"/>
          </a:xfrm>
          <a:prstGeom prst="rect">
            <a:avLst/>
          </a:prstGeom>
          <a:noFill/>
          <a:ln/>
        </p:spPr>
        <p:txBody>
          <a:bodyPr wrap="square" rtlCol="0" anchor="t"/>
          <a:lstStyle/>
          <a:p>
            <a:pPr marL="0" indent="0">
              <a:lnSpc>
                <a:spcPct val="120000"/>
              </a:lnSpc>
              <a:buNone/>
            </a:pPr>
            <a:r>
              <a:rPr lang="en-US" sz="1100" dirty="0">
                <a:solidFill>
                  <a:srgbClr val="E8ECFA"/>
                </a:solidFill>
                <a:latin typeface="Calibri" pitchFamily="34" charset="0"/>
                <a:ea typeface="Calibri" pitchFamily="34" charset="-122"/>
                <a:cs typeface="Calibri" pitchFamily="34" charset="-120"/>
              </a:rPr>
              <a:t>Before building automation with N8N, use LM Arena to test which AI model performs best for your use case (coding, writing, analysis) — ensuring you pick the right brain for the pipeline.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3B82F6">
              <a:alpha val="10000"/>
            </a:srgbClr>
          </a:solidFill>
          <a:ln/>
        </p:spPr>
      </p:sp>
      <p:sp>
        <p:nvSpPr>
          <p:cNvPr id="3" name="Shape 1"/>
          <p:cNvSpPr/>
          <p:nvPr/>
        </p:nvSpPr>
        <p:spPr>
          <a:xfrm>
            <a:off x="-1645920" y="5120640"/>
            <a:ext cx="3291840" cy="3291840"/>
          </a:xfrm>
          <a:prstGeom prst="ellipse">
            <a:avLst/>
          </a:prstGeom>
          <a:solidFill>
            <a:srgbClr val="3B82F6">
              <a:alpha val="8000"/>
            </a:srgbClr>
          </a:solidFill>
          <a:ln/>
        </p:spPr>
      </p:sp>
      <p:sp>
        <p:nvSpPr>
          <p:cNvPr id="4" name="Shape 2"/>
          <p:cNvSpPr/>
          <p:nvPr/>
        </p:nvSpPr>
        <p:spPr>
          <a:xfrm>
            <a:off x="502920" y="457200"/>
            <a:ext cx="658368" cy="658368"/>
          </a:xfrm>
          <a:prstGeom prst="ellipse">
            <a:avLst/>
          </a:prstGeom>
          <a:solidFill>
            <a:srgbClr val="3B82F6">
              <a:alpha val="22000"/>
            </a:srgbClr>
          </a:solidFill>
          <a:ln w="15875">
            <a:solidFill>
              <a:srgbClr val="3B82F6"/>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3B82F6"/>
                </a:solidFill>
                <a:latin typeface="Calibri" pitchFamily="34" charset="0"/>
                <a:ea typeface="Calibri" pitchFamily="34" charset="-122"/>
                <a:cs typeface="Calibri" pitchFamily="34" charset="-120"/>
              </a:rPr>
              <a:t>TOOL 03</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is Jira?</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The project &amp; issue tracking powerhouse by Atlassian</a:t>
            </a:r>
            <a:endParaRPr lang="en-US" sz="1350" dirty="0"/>
          </a:p>
        </p:txBody>
      </p:sp>
      <p:sp>
        <p:nvSpPr>
          <p:cNvPr id="9" name="Shape 7"/>
          <p:cNvSpPr/>
          <p:nvPr/>
        </p:nvSpPr>
        <p:spPr>
          <a:xfrm>
            <a:off x="502920" y="1691640"/>
            <a:ext cx="5577840" cy="4480560"/>
          </a:xfrm>
          <a:prstGeom prst="roundRect">
            <a:avLst>
              <a:gd name="adj" fmla="val 1837"/>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74520"/>
            <a:ext cx="5029200" cy="292608"/>
          </a:xfrm>
          <a:prstGeom prst="rect">
            <a:avLst/>
          </a:prstGeom>
          <a:noFill/>
          <a:ln/>
        </p:spPr>
        <p:txBody>
          <a:bodyPr wrap="square" rtlCol="0" anchor="ctr"/>
          <a:lstStyle/>
          <a:p>
            <a:pPr marL="0" indent="0">
              <a:buNone/>
            </a:pPr>
            <a:r>
              <a:rPr lang="en-US" sz="1300" b="1" kern="0" spc="100" dirty="0">
                <a:solidFill>
                  <a:srgbClr val="3B82F6"/>
                </a:solidFill>
                <a:latin typeface="Calibri" pitchFamily="34" charset="0"/>
                <a:ea typeface="Calibri" pitchFamily="34" charset="-122"/>
                <a:cs typeface="Calibri" pitchFamily="34" charset="-120"/>
              </a:rPr>
              <a:t>📌  DEFINITION</a:t>
            </a:r>
            <a:endParaRPr lang="en-US" sz="1300" dirty="0"/>
          </a:p>
        </p:txBody>
      </p:sp>
      <p:sp>
        <p:nvSpPr>
          <p:cNvPr id="11" name="Text 9"/>
          <p:cNvSpPr/>
          <p:nvPr/>
        </p:nvSpPr>
        <p:spPr>
          <a:xfrm>
            <a:off x="777240" y="2240280"/>
            <a:ext cx="5029200" cy="1554480"/>
          </a:xfrm>
          <a:prstGeom prst="rect">
            <a:avLst/>
          </a:prstGeom>
          <a:noFill/>
          <a:ln/>
        </p:spPr>
        <p:txBody>
          <a:bodyPr wrap="square" rtlCol="0" anchor="t"/>
          <a:lstStyle/>
          <a:p>
            <a:pPr marL="0" indent="0">
              <a:lnSpc>
                <a:spcPct val="125000"/>
              </a:lnSpc>
              <a:buNone/>
            </a:pPr>
            <a:r>
              <a:rPr lang="en-US" sz="1250" dirty="0">
                <a:solidFill>
                  <a:srgbClr val="E8ECFA"/>
                </a:solidFill>
                <a:latin typeface="Calibri" pitchFamily="34" charset="0"/>
                <a:ea typeface="Calibri" pitchFamily="34" charset="-122"/>
                <a:cs typeface="Calibri" pitchFamily="34" charset="-120"/>
              </a:rPr>
              <a:t>Jira is a project management and issue tracking platform by Atlassian. Used by over 65,000 companies worldwide, it helps teams plan, track, and release work — the central hub where bugs, features, tasks, and projects are organized throughout the development lifecycle.</a:t>
            </a:r>
            <a:endParaRPr lang="en-US" sz="1250" dirty="0"/>
          </a:p>
        </p:txBody>
      </p:sp>
      <p:sp>
        <p:nvSpPr>
          <p:cNvPr id="12" name="Shape 10"/>
          <p:cNvSpPr/>
          <p:nvPr/>
        </p:nvSpPr>
        <p:spPr>
          <a:xfrm>
            <a:off x="777240" y="3931920"/>
            <a:ext cx="5029200" cy="0"/>
          </a:xfrm>
          <a:prstGeom prst="line">
            <a:avLst/>
          </a:prstGeom>
          <a:noFill/>
          <a:ln w="12700">
            <a:solidFill>
              <a:srgbClr val="2A3468"/>
            </a:solidFill>
            <a:prstDash val="solid"/>
          </a:ln>
        </p:spPr>
      </p:sp>
      <p:sp>
        <p:nvSpPr>
          <p:cNvPr id="13" name="Text 11"/>
          <p:cNvSpPr/>
          <p:nvPr/>
        </p:nvSpPr>
        <p:spPr>
          <a:xfrm>
            <a:off x="777240" y="4069080"/>
            <a:ext cx="5029200" cy="292608"/>
          </a:xfrm>
          <a:prstGeom prst="rect">
            <a:avLst/>
          </a:prstGeom>
          <a:noFill/>
          <a:ln/>
        </p:spPr>
        <p:txBody>
          <a:bodyPr wrap="square" rtlCol="0" anchor="ctr"/>
          <a:lstStyle/>
          <a:p>
            <a:pPr marL="0" indent="0">
              <a:buNone/>
            </a:pPr>
            <a:r>
              <a:rPr lang="en-US" sz="1300" b="1" kern="0" spc="100" dirty="0">
                <a:solidFill>
                  <a:srgbClr val="3B82F6"/>
                </a:solidFill>
                <a:latin typeface="Calibri" pitchFamily="34" charset="0"/>
                <a:ea typeface="Calibri" pitchFamily="34" charset="-122"/>
                <a:cs typeface="Calibri" pitchFamily="34" charset="-120"/>
              </a:rPr>
              <a:t>🔑  JIRA API — KEY TO AUTOMATION</a:t>
            </a:r>
            <a:endParaRPr lang="en-US" sz="1300" dirty="0"/>
          </a:p>
        </p:txBody>
      </p:sp>
      <p:sp>
        <p:nvSpPr>
          <p:cNvPr id="14" name="Text 12"/>
          <p:cNvSpPr/>
          <p:nvPr/>
        </p:nvSpPr>
        <p:spPr>
          <a:xfrm>
            <a:off x="777240" y="4389120"/>
            <a:ext cx="5120640" cy="1737360"/>
          </a:xfrm>
          <a:prstGeom prst="rect">
            <a:avLst/>
          </a:prstGeom>
          <a:noFill/>
          <a:ln/>
        </p:spPr>
        <p:txBody>
          <a:bodyPr wrap="square" rtlCol="0" anchor="t"/>
          <a:lstStyle/>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REST API — create, read, update, delete programmatically</a:t>
            </a:r>
            <a:endParaRPr lang="en-US" sz="1150" dirty="0"/>
          </a:p>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Webhooks — real-time events sent to N8N</a:t>
            </a:r>
            <a:endParaRPr lang="en-US" sz="1150" dirty="0"/>
          </a:p>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JQL — query issues like SQL for databases</a:t>
            </a:r>
            <a:endParaRPr lang="en-US" sz="1150" dirty="0"/>
          </a:p>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Integrations — Slack, GitHub, Confluence, N8N &amp; 3000+ apps</a:t>
            </a:r>
            <a:endParaRPr lang="en-US" sz="1150" dirty="0"/>
          </a:p>
        </p:txBody>
      </p:sp>
      <p:sp>
        <p:nvSpPr>
          <p:cNvPr id="15" name="Shape 13"/>
          <p:cNvSpPr/>
          <p:nvPr/>
        </p:nvSpPr>
        <p:spPr>
          <a:xfrm>
            <a:off x="6355080" y="1691640"/>
            <a:ext cx="5349240" cy="4480560"/>
          </a:xfrm>
          <a:prstGeom prst="roundRect">
            <a:avLst>
              <a:gd name="adj" fmla="val 1837"/>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6" name="Text 14"/>
          <p:cNvSpPr/>
          <p:nvPr/>
        </p:nvSpPr>
        <p:spPr>
          <a:xfrm>
            <a:off x="6629400" y="1874520"/>
            <a:ext cx="4846320" cy="292608"/>
          </a:xfrm>
          <a:prstGeom prst="rect">
            <a:avLst/>
          </a:prstGeom>
          <a:noFill/>
          <a:ln/>
        </p:spPr>
        <p:txBody>
          <a:bodyPr wrap="square" rtlCol="0" anchor="ctr"/>
          <a:lstStyle/>
          <a:p>
            <a:pPr marL="0" indent="0">
              <a:buNone/>
            </a:pPr>
            <a:r>
              <a:rPr lang="en-US" sz="1300" b="1" kern="0" spc="100" dirty="0">
                <a:solidFill>
                  <a:srgbClr val="3B82F6"/>
                </a:solidFill>
                <a:latin typeface="Calibri" pitchFamily="34" charset="0"/>
                <a:ea typeface="Calibri" pitchFamily="34" charset="-122"/>
                <a:cs typeface="Calibri" pitchFamily="34" charset="-120"/>
              </a:rPr>
              <a:t>🔹  CORE JIRA CONCEPTS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29400" y="2194560"/>
          <a:ext cx="484632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29184">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CONCEPT</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3B82F6"/>
                    </a:solidFill>
                  </a:tcPr>
                </a:tc>
                <a:tc>
                  <a:txBody>
                    <a:bodyPr/>
                    <a:lstStyle/>
                    <a:p>
                      <a:pPr marL="0" indent="0" algn="l">
                        <a:buNone/>
                      </a:pPr>
                      <a:r>
                        <a:rPr lang="en-US" sz="1150" b="1" dirty="0">
                          <a:solidFill>
                            <a:srgbClr val="0A0E27"/>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3B82F6"/>
                    </a:solidFill>
                  </a:tcPr>
                </a:tc>
                <a:extLst>
                  <a:ext uri="{0D108BD9-81ED-4DB2-BD59-A6C34878D82A}">
                    <a16:rowId xmlns:a16="http://schemas.microsoft.com/office/drawing/2014/main" val="10000"/>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Project</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Mobile App Development</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1"/>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Epic</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User Authentication System</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2"/>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Story</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As a user, I can reset password</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3"/>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Task</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Set up OAuth 2.0 integration</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4"/>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Bug</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Login button unresponsive on iOS</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5"/>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Sprint</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Sprint 24: Auth + Payment</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6"/>
                  </a:ext>
                </a:extLst>
              </a:tr>
              <a:tr h="329184">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Backlog</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050" dirty="0">
                          <a:solidFill>
                            <a:srgbClr val="E8ECFA"/>
                          </a:solidFill>
                          <a:latin typeface="Calibri" pitchFamily="34" charset="0"/>
                          <a:ea typeface="Calibri" pitchFamily="34" charset="-122"/>
                          <a:cs typeface="Calibri" pitchFamily="34" charset="-120"/>
                        </a:rPr>
                        <a:t>All unstarted issues ranked</a:t>
                      </a:r>
                      <a:endParaRPr lang="en-US" sz="10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3B82F6">
              <a:alpha val="10000"/>
            </a:srgbClr>
          </a:solidFill>
          <a:ln/>
        </p:spPr>
      </p:sp>
      <p:sp>
        <p:nvSpPr>
          <p:cNvPr id="3" name="Shape 1"/>
          <p:cNvSpPr/>
          <p:nvPr/>
        </p:nvSpPr>
        <p:spPr>
          <a:xfrm>
            <a:off x="-1645920" y="5120640"/>
            <a:ext cx="3291840" cy="3291840"/>
          </a:xfrm>
          <a:prstGeom prst="ellipse">
            <a:avLst/>
          </a:prstGeom>
          <a:solidFill>
            <a:srgbClr val="3B82F6">
              <a:alpha val="8000"/>
            </a:srgbClr>
          </a:solidFill>
          <a:ln/>
        </p:spPr>
      </p:sp>
      <p:sp>
        <p:nvSpPr>
          <p:cNvPr id="4" name="Shape 2"/>
          <p:cNvSpPr/>
          <p:nvPr/>
        </p:nvSpPr>
        <p:spPr>
          <a:xfrm>
            <a:off x="502920" y="457200"/>
            <a:ext cx="658368" cy="658368"/>
          </a:xfrm>
          <a:prstGeom prst="ellipse">
            <a:avLst/>
          </a:prstGeom>
          <a:solidFill>
            <a:srgbClr val="3B82F6">
              <a:alpha val="22000"/>
            </a:srgbClr>
          </a:solidFill>
          <a:ln w="15875">
            <a:solidFill>
              <a:srgbClr val="3B82F6"/>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3B82F6"/>
                </a:solidFill>
                <a:latin typeface="Calibri" pitchFamily="34" charset="0"/>
                <a:ea typeface="Calibri" pitchFamily="34" charset="-122"/>
                <a:cs typeface="Calibri" pitchFamily="34" charset="-120"/>
              </a:rPr>
              <a:t>TOOL 03 · DEEP DIVE</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Jira Workflow &amp; Automation Rules</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Issue lifecycle and how automation plugs in</a:t>
            </a:r>
            <a:endParaRPr lang="en-US" sz="1350" dirty="0"/>
          </a:p>
        </p:txBody>
      </p:sp>
      <p:sp>
        <p:nvSpPr>
          <p:cNvPr id="9" name="Text 7"/>
          <p:cNvSpPr/>
          <p:nvPr/>
        </p:nvSpPr>
        <p:spPr>
          <a:xfrm>
            <a:off x="502920" y="1783080"/>
            <a:ext cx="9144000" cy="292608"/>
          </a:xfrm>
          <a:prstGeom prst="rect">
            <a:avLst/>
          </a:prstGeom>
          <a:noFill/>
          <a:ln/>
        </p:spPr>
        <p:txBody>
          <a:bodyPr wrap="square" rtlCol="0" anchor="ctr"/>
          <a:lstStyle/>
          <a:p>
            <a:pPr marL="0" indent="0">
              <a:buNone/>
            </a:pPr>
            <a:r>
              <a:rPr lang="en-US" sz="1300" b="1" kern="0" spc="100" dirty="0">
                <a:solidFill>
                  <a:srgbClr val="3B82F6"/>
                </a:solidFill>
                <a:latin typeface="Calibri" pitchFamily="34" charset="0"/>
                <a:ea typeface="Calibri" pitchFamily="34" charset="-122"/>
                <a:cs typeface="Calibri" pitchFamily="34" charset="-120"/>
              </a:rPr>
              <a:t>🔄  STANDARD ISSUE LIFECYCLE</a:t>
            </a:r>
            <a:endParaRPr lang="en-US" sz="1300" dirty="0"/>
          </a:p>
        </p:txBody>
      </p:sp>
      <p:sp>
        <p:nvSpPr>
          <p:cNvPr id="10" name="Shape 8"/>
          <p:cNvSpPr/>
          <p:nvPr/>
        </p:nvSpPr>
        <p:spPr>
          <a:xfrm>
            <a:off x="502920" y="2103120"/>
            <a:ext cx="2035454" cy="960120"/>
          </a:xfrm>
          <a:prstGeom prst="roundRect">
            <a:avLst>
              <a:gd name="adj" fmla="val 8571"/>
            </a:avLst>
          </a:prstGeom>
          <a:solidFill>
            <a:srgbClr val="1B2350"/>
          </a:solidFill>
          <a:ln w="12700">
            <a:solidFill>
              <a:srgbClr val="2A3468"/>
            </a:solidFill>
            <a:prstDash val="solid"/>
          </a:ln>
        </p:spPr>
      </p:sp>
      <p:sp>
        <p:nvSpPr>
          <p:cNvPr id="11" name="Shape 9"/>
          <p:cNvSpPr/>
          <p:nvPr/>
        </p:nvSpPr>
        <p:spPr>
          <a:xfrm>
            <a:off x="612648" y="2212848"/>
            <a:ext cx="292608" cy="292608"/>
          </a:xfrm>
          <a:prstGeom prst="ellipse">
            <a:avLst/>
          </a:prstGeom>
          <a:solidFill>
            <a:srgbClr val="3B82F6"/>
          </a:solidFill>
          <a:ln/>
        </p:spPr>
      </p:sp>
      <p:sp>
        <p:nvSpPr>
          <p:cNvPr id="12" name="Text 10"/>
          <p:cNvSpPr/>
          <p:nvPr/>
        </p:nvSpPr>
        <p:spPr>
          <a:xfrm>
            <a:off x="612648" y="2194560"/>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13" name="Text 11"/>
          <p:cNvSpPr/>
          <p:nvPr/>
        </p:nvSpPr>
        <p:spPr>
          <a:xfrm>
            <a:off x="612648" y="2542032"/>
            <a:ext cx="1815998"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OPEN</a:t>
            </a:r>
            <a:endParaRPr lang="en-US" sz="1000" dirty="0"/>
          </a:p>
        </p:txBody>
      </p:sp>
      <p:sp>
        <p:nvSpPr>
          <p:cNvPr id="14" name="Text 12"/>
          <p:cNvSpPr/>
          <p:nvPr/>
        </p:nvSpPr>
        <p:spPr>
          <a:xfrm>
            <a:off x="2538374" y="2359152"/>
            <a:ext cx="256032" cy="365760"/>
          </a:xfrm>
          <a:prstGeom prst="rect">
            <a:avLst/>
          </a:prstGeom>
          <a:noFill/>
          <a:ln/>
        </p:spPr>
        <p:txBody>
          <a:bodyPr wrap="square" rtlCol="0" anchor="ctr"/>
          <a:lstStyle/>
          <a:p>
            <a:pPr marL="0" indent="0" algn="ctr">
              <a:buNone/>
            </a:pPr>
            <a:r>
              <a:rPr lang="en-US" sz="1600" b="1" dirty="0">
                <a:solidFill>
                  <a:srgbClr val="3B82F6"/>
                </a:solidFill>
              </a:rPr>
              <a:t>→</a:t>
            </a:r>
            <a:endParaRPr lang="en-US" sz="1600" dirty="0"/>
          </a:p>
        </p:txBody>
      </p:sp>
      <p:sp>
        <p:nvSpPr>
          <p:cNvPr id="15" name="Shape 13"/>
          <p:cNvSpPr/>
          <p:nvPr/>
        </p:nvSpPr>
        <p:spPr>
          <a:xfrm>
            <a:off x="2794406" y="2103120"/>
            <a:ext cx="2035454" cy="960120"/>
          </a:xfrm>
          <a:prstGeom prst="roundRect">
            <a:avLst>
              <a:gd name="adj" fmla="val 8571"/>
            </a:avLst>
          </a:prstGeom>
          <a:solidFill>
            <a:srgbClr val="1B2350"/>
          </a:solidFill>
          <a:ln w="12700">
            <a:solidFill>
              <a:srgbClr val="2A3468"/>
            </a:solidFill>
            <a:prstDash val="solid"/>
          </a:ln>
        </p:spPr>
      </p:sp>
      <p:sp>
        <p:nvSpPr>
          <p:cNvPr id="16" name="Shape 14"/>
          <p:cNvSpPr/>
          <p:nvPr/>
        </p:nvSpPr>
        <p:spPr>
          <a:xfrm>
            <a:off x="2904134" y="2212848"/>
            <a:ext cx="292608" cy="292608"/>
          </a:xfrm>
          <a:prstGeom prst="ellipse">
            <a:avLst/>
          </a:prstGeom>
          <a:solidFill>
            <a:srgbClr val="3B82F6"/>
          </a:solidFill>
          <a:ln/>
        </p:spPr>
      </p:sp>
      <p:sp>
        <p:nvSpPr>
          <p:cNvPr id="17" name="Text 15"/>
          <p:cNvSpPr/>
          <p:nvPr/>
        </p:nvSpPr>
        <p:spPr>
          <a:xfrm>
            <a:off x="2904134" y="2194560"/>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18" name="Text 16"/>
          <p:cNvSpPr/>
          <p:nvPr/>
        </p:nvSpPr>
        <p:spPr>
          <a:xfrm>
            <a:off x="2904134" y="2542032"/>
            <a:ext cx="1815998"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IN PROGRESS</a:t>
            </a:r>
            <a:endParaRPr lang="en-US" sz="1000" dirty="0"/>
          </a:p>
        </p:txBody>
      </p:sp>
      <p:sp>
        <p:nvSpPr>
          <p:cNvPr id="19" name="Text 17"/>
          <p:cNvSpPr/>
          <p:nvPr/>
        </p:nvSpPr>
        <p:spPr>
          <a:xfrm>
            <a:off x="4829861" y="2359152"/>
            <a:ext cx="256032" cy="365760"/>
          </a:xfrm>
          <a:prstGeom prst="rect">
            <a:avLst/>
          </a:prstGeom>
          <a:noFill/>
          <a:ln/>
        </p:spPr>
        <p:txBody>
          <a:bodyPr wrap="square" rtlCol="0" anchor="ctr"/>
          <a:lstStyle/>
          <a:p>
            <a:pPr marL="0" indent="0" algn="ctr">
              <a:buNone/>
            </a:pPr>
            <a:r>
              <a:rPr lang="en-US" sz="1600" b="1" dirty="0">
                <a:solidFill>
                  <a:srgbClr val="3B82F6"/>
                </a:solidFill>
              </a:rPr>
              <a:t>→</a:t>
            </a:r>
            <a:endParaRPr lang="en-US" sz="1600" dirty="0"/>
          </a:p>
        </p:txBody>
      </p:sp>
      <p:sp>
        <p:nvSpPr>
          <p:cNvPr id="20" name="Shape 18"/>
          <p:cNvSpPr/>
          <p:nvPr/>
        </p:nvSpPr>
        <p:spPr>
          <a:xfrm>
            <a:off x="5085893" y="2103120"/>
            <a:ext cx="2035454" cy="960120"/>
          </a:xfrm>
          <a:prstGeom prst="roundRect">
            <a:avLst>
              <a:gd name="adj" fmla="val 8571"/>
            </a:avLst>
          </a:prstGeom>
          <a:solidFill>
            <a:srgbClr val="1B2350"/>
          </a:solidFill>
          <a:ln w="12700">
            <a:solidFill>
              <a:srgbClr val="2A3468"/>
            </a:solidFill>
            <a:prstDash val="solid"/>
          </a:ln>
        </p:spPr>
      </p:sp>
      <p:sp>
        <p:nvSpPr>
          <p:cNvPr id="21" name="Shape 19"/>
          <p:cNvSpPr/>
          <p:nvPr/>
        </p:nvSpPr>
        <p:spPr>
          <a:xfrm>
            <a:off x="5195621" y="2212848"/>
            <a:ext cx="292608" cy="292608"/>
          </a:xfrm>
          <a:prstGeom prst="ellipse">
            <a:avLst/>
          </a:prstGeom>
          <a:solidFill>
            <a:srgbClr val="3B82F6"/>
          </a:solidFill>
          <a:ln/>
        </p:spPr>
      </p:sp>
      <p:sp>
        <p:nvSpPr>
          <p:cNvPr id="22" name="Text 20"/>
          <p:cNvSpPr/>
          <p:nvPr/>
        </p:nvSpPr>
        <p:spPr>
          <a:xfrm>
            <a:off x="5195621" y="2194560"/>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23" name="Text 21"/>
          <p:cNvSpPr/>
          <p:nvPr/>
        </p:nvSpPr>
        <p:spPr>
          <a:xfrm>
            <a:off x="5195621" y="2542032"/>
            <a:ext cx="1815998"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IN REVIEW</a:t>
            </a:r>
            <a:endParaRPr lang="en-US" sz="1000" dirty="0"/>
          </a:p>
        </p:txBody>
      </p:sp>
      <p:sp>
        <p:nvSpPr>
          <p:cNvPr id="24" name="Text 22"/>
          <p:cNvSpPr/>
          <p:nvPr/>
        </p:nvSpPr>
        <p:spPr>
          <a:xfrm>
            <a:off x="7121347" y="2359152"/>
            <a:ext cx="256032" cy="365760"/>
          </a:xfrm>
          <a:prstGeom prst="rect">
            <a:avLst/>
          </a:prstGeom>
          <a:noFill/>
          <a:ln/>
        </p:spPr>
        <p:txBody>
          <a:bodyPr wrap="square" rtlCol="0" anchor="ctr"/>
          <a:lstStyle/>
          <a:p>
            <a:pPr marL="0" indent="0" algn="ctr">
              <a:buNone/>
            </a:pPr>
            <a:r>
              <a:rPr lang="en-US" sz="1600" b="1" dirty="0">
                <a:solidFill>
                  <a:srgbClr val="3B82F6"/>
                </a:solidFill>
              </a:rPr>
              <a:t>→</a:t>
            </a:r>
            <a:endParaRPr lang="en-US" sz="1600" dirty="0"/>
          </a:p>
        </p:txBody>
      </p:sp>
      <p:sp>
        <p:nvSpPr>
          <p:cNvPr id="25" name="Shape 23"/>
          <p:cNvSpPr/>
          <p:nvPr/>
        </p:nvSpPr>
        <p:spPr>
          <a:xfrm>
            <a:off x="7377379" y="2103120"/>
            <a:ext cx="2035454" cy="960120"/>
          </a:xfrm>
          <a:prstGeom prst="roundRect">
            <a:avLst>
              <a:gd name="adj" fmla="val 8571"/>
            </a:avLst>
          </a:prstGeom>
          <a:solidFill>
            <a:srgbClr val="1B2350"/>
          </a:solidFill>
          <a:ln w="12700">
            <a:solidFill>
              <a:srgbClr val="2A3468"/>
            </a:solidFill>
            <a:prstDash val="solid"/>
          </a:ln>
        </p:spPr>
      </p:sp>
      <p:sp>
        <p:nvSpPr>
          <p:cNvPr id="26" name="Shape 24"/>
          <p:cNvSpPr/>
          <p:nvPr/>
        </p:nvSpPr>
        <p:spPr>
          <a:xfrm>
            <a:off x="7487107" y="2212848"/>
            <a:ext cx="292608" cy="292608"/>
          </a:xfrm>
          <a:prstGeom prst="ellipse">
            <a:avLst/>
          </a:prstGeom>
          <a:solidFill>
            <a:srgbClr val="3B82F6"/>
          </a:solidFill>
          <a:ln/>
        </p:spPr>
      </p:sp>
      <p:sp>
        <p:nvSpPr>
          <p:cNvPr id="27" name="Text 25"/>
          <p:cNvSpPr/>
          <p:nvPr/>
        </p:nvSpPr>
        <p:spPr>
          <a:xfrm>
            <a:off x="7487107" y="2194560"/>
            <a:ext cx="292608" cy="292608"/>
          </a:xfrm>
          <a:prstGeom prst="rect">
            <a:avLst/>
          </a:prstGeom>
          <a:noFill/>
          <a:ln/>
        </p:spPr>
        <p:txBody>
          <a:bodyPr wrap="square" rtlCol="0" anchor="ctr"/>
          <a:lstStyle/>
          <a:p>
            <a:pPr marL="0" indent="0" algn="ctr">
              <a:buNone/>
            </a:pPr>
            <a:r>
              <a:rPr lang="en-US" sz="1200" b="1" dirty="0">
                <a:solidFill>
                  <a:srgbClr val="0A0E27"/>
                </a:solidFill>
              </a:rPr>
              <a:t>4</a:t>
            </a:r>
            <a:endParaRPr lang="en-US" sz="1200" dirty="0"/>
          </a:p>
        </p:txBody>
      </p:sp>
      <p:sp>
        <p:nvSpPr>
          <p:cNvPr id="28" name="Text 26"/>
          <p:cNvSpPr/>
          <p:nvPr/>
        </p:nvSpPr>
        <p:spPr>
          <a:xfrm>
            <a:off x="7487107" y="2542032"/>
            <a:ext cx="1815998"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TESTING</a:t>
            </a:r>
            <a:endParaRPr lang="en-US" sz="1000" dirty="0"/>
          </a:p>
        </p:txBody>
      </p:sp>
      <p:sp>
        <p:nvSpPr>
          <p:cNvPr id="29" name="Text 27"/>
          <p:cNvSpPr/>
          <p:nvPr/>
        </p:nvSpPr>
        <p:spPr>
          <a:xfrm>
            <a:off x="9412834" y="2359152"/>
            <a:ext cx="256032" cy="365760"/>
          </a:xfrm>
          <a:prstGeom prst="rect">
            <a:avLst/>
          </a:prstGeom>
          <a:noFill/>
          <a:ln/>
        </p:spPr>
        <p:txBody>
          <a:bodyPr wrap="square" rtlCol="0" anchor="ctr"/>
          <a:lstStyle/>
          <a:p>
            <a:pPr marL="0" indent="0" algn="ctr">
              <a:buNone/>
            </a:pPr>
            <a:r>
              <a:rPr lang="en-US" sz="1600" b="1" dirty="0">
                <a:solidFill>
                  <a:srgbClr val="3B82F6"/>
                </a:solidFill>
              </a:rPr>
              <a:t>→</a:t>
            </a:r>
            <a:endParaRPr lang="en-US" sz="1600" dirty="0"/>
          </a:p>
        </p:txBody>
      </p:sp>
      <p:sp>
        <p:nvSpPr>
          <p:cNvPr id="30" name="Shape 28"/>
          <p:cNvSpPr/>
          <p:nvPr/>
        </p:nvSpPr>
        <p:spPr>
          <a:xfrm>
            <a:off x="9668866" y="2103120"/>
            <a:ext cx="2035454" cy="960120"/>
          </a:xfrm>
          <a:prstGeom prst="roundRect">
            <a:avLst>
              <a:gd name="adj" fmla="val 8571"/>
            </a:avLst>
          </a:prstGeom>
          <a:solidFill>
            <a:srgbClr val="1B2350"/>
          </a:solidFill>
          <a:ln w="12700">
            <a:solidFill>
              <a:srgbClr val="2A3468"/>
            </a:solidFill>
            <a:prstDash val="solid"/>
          </a:ln>
        </p:spPr>
      </p:sp>
      <p:sp>
        <p:nvSpPr>
          <p:cNvPr id="31" name="Shape 29"/>
          <p:cNvSpPr/>
          <p:nvPr/>
        </p:nvSpPr>
        <p:spPr>
          <a:xfrm>
            <a:off x="9778594" y="2212848"/>
            <a:ext cx="292608" cy="292608"/>
          </a:xfrm>
          <a:prstGeom prst="ellipse">
            <a:avLst/>
          </a:prstGeom>
          <a:solidFill>
            <a:srgbClr val="3B82F6"/>
          </a:solidFill>
          <a:ln/>
        </p:spPr>
      </p:sp>
      <p:sp>
        <p:nvSpPr>
          <p:cNvPr id="32" name="Text 30"/>
          <p:cNvSpPr/>
          <p:nvPr/>
        </p:nvSpPr>
        <p:spPr>
          <a:xfrm>
            <a:off x="9778594" y="2194560"/>
            <a:ext cx="292608" cy="292608"/>
          </a:xfrm>
          <a:prstGeom prst="rect">
            <a:avLst/>
          </a:prstGeom>
          <a:noFill/>
          <a:ln/>
        </p:spPr>
        <p:txBody>
          <a:bodyPr wrap="square" rtlCol="0" anchor="ctr"/>
          <a:lstStyle/>
          <a:p>
            <a:pPr marL="0" indent="0" algn="ctr">
              <a:buNone/>
            </a:pPr>
            <a:r>
              <a:rPr lang="en-US" sz="1200" b="1" dirty="0">
                <a:solidFill>
                  <a:srgbClr val="0A0E27"/>
                </a:solidFill>
              </a:rPr>
              <a:t>5</a:t>
            </a:r>
            <a:endParaRPr lang="en-US" sz="1200" dirty="0"/>
          </a:p>
        </p:txBody>
      </p:sp>
      <p:sp>
        <p:nvSpPr>
          <p:cNvPr id="33" name="Text 31"/>
          <p:cNvSpPr/>
          <p:nvPr/>
        </p:nvSpPr>
        <p:spPr>
          <a:xfrm>
            <a:off x="9778594" y="2542032"/>
            <a:ext cx="1815998"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DONE</a:t>
            </a:r>
            <a:endParaRPr lang="en-US" sz="1000" dirty="0"/>
          </a:p>
        </p:txBody>
      </p:sp>
      <p:sp>
        <p:nvSpPr>
          <p:cNvPr id="34" name="Text 32"/>
          <p:cNvSpPr/>
          <p:nvPr/>
        </p:nvSpPr>
        <p:spPr>
          <a:xfrm>
            <a:off x="502920" y="3200400"/>
            <a:ext cx="11201400" cy="274320"/>
          </a:xfrm>
          <a:prstGeom prst="rect">
            <a:avLst/>
          </a:prstGeom>
          <a:noFill/>
          <a:ln/>
        </p:spPr>
        <p:txBody>
          <a:bodyPr wrap="square" rtlCol="0" anchor="ctr"/>
          <a:lstStyle/>
          <a:p>
            <a:pPr marL="0" indent="0">
              <a:buNone/>
            </a:pPr>
            <a:r>
              <a:rPr lang="en-US" sz="1100" i="1" dirty="0">
                <a:solidFill>
                  <a:srgbClr val="94A0C7"/>
                </a:solidFill>
                <a:latin typeface="Calibri" pitchFamily="34" charset="0"/>
                <a:ea typeface="Calibri" pitchFamily="34" charset="-122"/>
                <a:cs typeface="Calibri" pitchFamily="34" charset="-120"/>
              </a:rPr>
              <a:t>Each transition can trigger automations — notify, update, create sub-tasks.</a:t>
            </a:r>
            <a:endParaRPr lang="en-US" sz="1100" dirty="0"/>
          </a:p>
        </p:txBody>
      </p:sp>
      <p:sp>
        <p:nvSpPr>
          <p:cNvPr id="35" name="Shape 33"/>
          <p:cNvSpPr/>
          <p:nvPr/>
        </p:nvSpPr>
        <p:spPr>
          <a:xfrm>
            <a:off x="502920" y="3657600"/>
            <a:ext cx="5440680" cy="2514600"/>
          </a:xfrm>
          <a:prstGeom prst="roundRect">
            <a:avLst>
              <a:gd name="adj" fmla="val 3273"/>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36" name="Text 34"/>
          <p:cNvSpPr/>
          <p:nvPr/>
        </p:nvSpPr>
        <p:spPr>
          <a:xfrm>
            <a:off x="777240" y="3840480"/>
            <a:ext cx="4846320" cy="292608"/>
          </a:xfrm>
          <a:prstGeom prst="rect">
            <a:avLst/>
          </a:prstGeom>
          <a:noFill/>
          <a:ln/>
        </p:spPr>
        <p:txBody>
          <a:bodyPr wrap="square" rtlCol="0" anchor="ctr"/>
          <a:lstStyle/>
          <a:p>
            <a:pPr marL="0" indent="0">
              <a:buNone/>
            </a:pPr>
            <a:r>
              <a:rPr lang="en-US" sz="1300" b="1" kern="0" spc="100" dirty="0">
                <a:solidFill>
                  <a:srgbClr val="3B82F6"/>
                </a:solidFill>
                <a:latin typeface="Calibri" pitchFamily="34" charset="0"/>
                <a:ea typeface="Calibri" pitchFamily="34" charset="-122"/>
                <a:cs typeface="Calibri" pitchFamily="34" charset="-120"/>
              </a:rPr>
              <a:t>⚙️  JIRA AUTOMATION RULES</a:t>
            </a:r>
            <a:endParaRPr lang="en-US" sz="1300" dirty="0"/>
          </a:p>
        </p:txBody>
      </p:sp>
      <p:sp>
        <p:nvSpPr>
          <p:cNvPr id="37" name="Text 35"/>
          <p:cNvSpPr/>
          <p:nvPr/>
        </p:nvSpPr>
        <p:spPr>
          <a:xfrm>
            <a:off x="777240" y="4160520"/>
            <a:ext cx="5029200" cy="1828800"/>
          </a:xfrm>
          <a:prstGeom prst="rect">
            <a:avLst/>
          </a:prstGeom>
          <a:noFill/>
          <a:ln/>
        </p:spPr>
        <p:txBody>
          <a:bodyPr wrap="square" rtlCol="0" anchor="t"/>
          <a:lstStyle/>
          <a:p>
            <a:pPr marL="177800" indent="-177800">
              <a:spcAft>
                <a:spcPts val="1000"/>
              </a:spcAft>
              <a:buSzPct val="100000"/>
              <a:buChar char="▪"/>
            </a:pPr>
            <a:r>
              <a:rPr lang="en-US" sz="1200" dirty="0">
                <a:solidFill>
                  <a:srgbClr val="E8ECFA"/>
                </a:solidFill>
                <a:latin typeface="Calibri" pitchFamily="34" charset="0"/>
                <a:ea typeface="Calibri" pitchFamily="34" charset="-122"/>
                <a:cs typeface="Calibri" pitchFamily="34" charset="-120"/>
              </a:rPr>
              <a:t>Built-in rules — e.g. auto-assign bugs to developers</a:t>
            </a:r>
            <a:endParaRPr lang="en-US" sz="1200" dirty="0"/>
          </a:p>
          <a:p>
            <a:pPr marL="177800" indent="-177800">
              <a:spcAft>
                <a:spcPts val="1000"/>
              </a:spcAft>
              <a:buSzPct val="100000"/>
              <a:buChar char="▪"/>
            </a:pPr>
            <a:r>
              <a:rPr lang="en-US" sz="1200" dirty="0">
                <a:solidFill>
                  <a:srgbClr val="E8ECFA"/>
                </a:solidFill>
                <a:latin typeface="Calibri" pitchFamily="34" charset="0"/>
                <a:ea typeface="Calibri" pitchFamily="34" charset="-122"/>
                <a:cs typeface="Calibri" pitchFamily="34" charset="-120"/>
              </a:rPr>
              <a:t>Trigger → Condition → Action, no coding required</a:t>
            </a:r>
            <a:endParaRPr lang="en-US" sz="1200" dirty="0"/>
          </a:p>
          <a:p>
            <a:pPr marL="177800" indent="-177800">
              <a:spcAft>
                <a:spcPts val="1000"/>
              </a:spcAft>
              <a:buSzPct val="100000"/>
              <a:buChar char="▪"/>
            </a:pPr>
            <a:r>
              <a:rPr lang="en-US" sz="1200" dirty="0">
                <a:solidFill>
                  <a:srgbClr val="E8ECFA"/>
                </a:solidFill>
                <a:latin typeface="Calibri" pitchFamily="34" charset="0"/>
                <a:ea typeface="Calibri" pitchFamily="34" charset="-122"/>
                <a:cs typeface="Calibri" pitchFamily="34" charset="-120"/>
              </a:rPr>
              <a:t>Runs natively inside Jira, 24/7</a:t>
            </a:r>
            <a:endParaRPr lang="en-US" sz="1200" dirty="0"/>
          </a:p>
        </p:txBody>
      </p:sp>
      <p:sp>
        <p:nvSpPr>
          <p:cNvPr id="38" name="Shape 36"/>
          <p:cNvSpPr/>
          <p:nvPr/>
        </p:nvSpPr>
        <p:spPr>
          <a:xfrm>
            <a:off x="6217920" y="3657600"/>
            <a:ext cx="5486400" cy="2514600"/>
          </a:xfrm>
          <a:prstGeom prst="roundRect">
            <a:avLst>
              <a:gd name="adj" fmla="val 327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39" name="Text 37"/>
          <p:cNvSpPr/>
          <p:nvPr/>
        </p:nvSpPr>
        <p:spPr>
          <a:xfrm>
            <a:off x="6492240" y="3840480"/>
            <a:ext cx="4846320" cy="292608"/>
          </a:xfrm>
          <a:prstGeom prst="rect">
            <a:avLst/>
          </a:prstGeom>
          <a:noFill/>
          <a:ln/>
        </p:spPr>
        <p:txBody>
          <a:bodyPr wrap="square" rtlCol="0" anchor="ctr"/>
          <a:lstStyle/>
          <a:p>
            <a:pPr marL="0" indent="0">
              <a:buNone/>
            </a:pPr>
            <a:r>
              <a:rPr lang="en-US" sz="1300" b="1" kern="0" spc="100" dirty="0">
                <a:solidFill>
                  <a:srgbClr val="3B82F6"/>
                </a:solidFill>
                <a:latin typeface="Calibri" pitchFamily="34" charset="0"/>
                <a:ea typeface="Calibri" pitchFamily="34" charset="-122"/>
                <a:cs typeface="Calibri" pitchFamily="34" charset="-120"/>
              </a:rPr>
              <a:t>📌  WHY THIS MATTERS FOR AUTOMATION</a:t>
            </a:r>
            <a:endParaRPr lang="en-US" sz="1300" dirty="0"/>
          </a:p>
        </p:txBody>
      </p:sp>
      <p:sp>
        <p:nvSpPr>
          <p:cNvPr id="40" name="Text 38"/>
          <p:cNvSpPr/>
          <p:nvPr/>
        </p:nvSpPr>
        <p:spPr>
          <a:xfrm>
            <a:off x="6492240" y="4160520"/>
            <a:ext cx="5029200" cy="1737360"/>
          </a:xfrm>
          <a:prstGeom prst="rect">
            <a:avLst/>
          </a:prstGeom>
          <a:noFill/>
          <a:ln/>
        </p:spPr>
        <p:txBody>
          <a:bodyPr wrap="square" rtlCol="0" anchor="t"/>
          <a:lstStyle/>
          <a:p>
            <a:pPr marL="0" indent="0">
              <a:lnSpc>
                <a:spcPct val="125000"/>
              </a:lnSpc>
              <a:buNone/>
            </a:pPr>
            <a:r>
              <a:rPr lang="en-US" sz="1200" dirty="0">
                <a:solidFill>
                  <a:srgbClr val="E8ECFA"/>
                </a:solidFill>
                <a:latin typeface="Calibri" pitchFamily="34" charset="0"/>
                <a:ea typeface="Calibri" pitchFamily="34" charset="-122"/>
                <a:cs typeface="Calibri" pitchFamily="34" charset="-120"/>
              </a:rPr>
              <a:t>Jira's REST API is what makes automation possible. N8N calls this API to create tickets, update statuses, and query project data. Combined with Claude generating structured ticket content, this becomes very powerful.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FF6B81">
              <a:alpha val="10000"/>
            </a:srgbClr>
          </a:solidFill>
          <a:ln/>
        </p:spPr>
      </p:sp>
      <p:sp>
        <p:nvSpPr>
          <p:cNvPr id="3" name="Shape 1"/>
          <p:cNvSpPr/>
          <p:nvPr/>
        </p:nvSpPr>
        <p:spPr>
          <a:xfrm>
            <a:off x="-1645920" y="5120640"/>
            <a:ext cx="3291840" cy="3291840"/>
          </a:xfrm>
          <a:prstGeom prst="ellipse">
            <a:avLst/>
          </a:prstGeom>
          <a:solidFill>
            <a:srgbClr val="FF6B81">
              <a:alpha val="8000"/>
            </a:srgbClr>
          </a:solidFill>
          <a:ln/>
        </p:spPr>
      </p:sp>
      <p:sp>
        <p:nvSpPr>
          <p:cNvPr id="4" name="Shape 2"/>
          <p:cNvSpPr/>
          <p:nvPr/>
        </p:nvSpPr>
        <p:spPr>
          <a:xfrm>
            <a:off x="502920" y="457200"/>
            <a:ext cx="658368" cy="658368"/>
          </a:xfrm>
          <a:prstGeom prst="ellipse">
            <a:avLst/>
          </a:prstGeom>
          <a:solidFill>
            <a:srgbClr val="FF6B81">
              <a:alpha val="22000"/>
            </a:srgbClr>
          </a:solidFill>
          <a:ln w="15875">
            <a:solidFill>
              <a:srgbClr val="FF6B81"/>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FF6B81"/>
                </a:solidFill>
                <a:latin typeface="Calibri" pitchFamily="34" charset="0"/>
                <a:ea typeface="Calibri" pitchFamily="34" charset="-122"/>
                <a:cs typeface="Calibri" pitchFamily="34" charset="-120"/>
              </a:rPr>
              <a:t>TOOL 04</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is N8N?</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The open-source workflow automation engine</a:t>
            </a:r>
            <a:endParaRPr lang="en-US" sz="1350" dirty="0"/>
          </a:p>
        </p:txBody>
      </p:sp>
      <p:sp>
        <p:nvSpPr>
          <p:cNvPr id="9" name="Shape 7"/>
          <p:cNvSpPr/>
          <p:nvPr/>
        </p:nvSpPr>
        <p:spPr>
          <a:xfrm>
            <a:off x="502920" y="1691640"/>
            <a:ext cx="11201400" cy="1234440"/>
          </a:xfrm>
          <a:prstGeom prst="roundRect">
            <a:avLst>
              <a:gd name="adj" fmla="val 6667"/>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10512"/>
            <a:ext cx="10698480" cy="1005840"/>
          </a:xfrm>
          <a:prstGeom prst="rect">
            <a:avLst/>
          </a:prstGeom>
          <a:noFill/>
          <a:ln/>
        </p:spPr>
        <p:txBody>
          <a:bodyPr wrap="square" rtlCol="0" anchor="ctr"/>
          <a:lstStyle/>
          <a:p>
            <a:pPr marL="0" indent="0">
              <a:lnSpc>
                <a:spcPct val="125000"/>
              </a:lnSpc>
              <a:buNone/>
            </a:pPr>
            <a:r>
              <a:rPr lang="en-US" sz="1300" dirty="0">
                <a:solidFill>
                  <a:srgbClr val="E8ECFA"/>
                </a:solidFill>
                <a:latin typeface="Calibri" pitchFamily="34" charset="0"/>
                <a:ea typeface="Calibri" pitchFamily="34" charset="-122"/>
                <a:cs typeface="Calibri" pitchFamily="34" charset="-120"/>
              </a:rPr>
              <a:t>N8N (pronounced "n-eight-n") is an open-source, self-hostable workflow automation platform. It connects apps, APIs, databases, and AI models through a visual drag-and-drop interface — the "nervous system" that connects all your tools.</a:t>
            </a:r>
            <a:endParaRPr lang="en-US" sz="1300" dirty="0"/>
          </a:p>
        </p:txBody>
      </p:sp>
      <p:sp>
        <p:nvSpPr>
          <p:cNvPr id="11" name="Text 9"/>
          <p:cNvSpPr/>
          <p:nvPr/>
        </p:nvSpPr>
        <p:spPr>
          <a:xfrm>
            <a:off x="502920" y="3063240"/>
            <a:ext cx="7315200" cy="292608"/>
          </a:xfrm>
          <a:prstGeom prst="rect">
            <a:avLst/>
          </a:prstGeom>
          <a:noFill/>
          <a:ln/>
        </p:spPr>
        <p:txBody>
          <a:bodyPr wrap="square" rtlCol="0" anchor="ctr"/>
          <a:lstStyle/>
          <a:p>
            <a:pPr marL="0" indent="0">
              <a:buNone/>
            </a:pPr>
            <a:r>
              <a:rPr lang="en-US" sz="1300" b="1" kern="0" spc="100" dirty="0">
                <a:solidFill>
                  <a:srgbClr val="FF6B81"/>
                </a:solidFill>
                <a:latin typeface="Calibri" pitchFamily="34" charset="0"/>
                <a:ea typeface="Calibri" pitchFamily="34" charset="-122"/>
                <a:cs typeface="Calibri" pitchFamily="34" charset="-120"/>
              </a:rPr>
              <a:t>⚙️  HOW N8N WORKS — WORKFLOW STRUCTURE</a:t>
            </a:r>
            <a:endParaRPr lang="en-US" sz="1300" dirty="0"/>
          </a:p>
        </p:txBody>
      </p:sp>
      <p:sp>
        <p:nvSpPr>
          <p:cNvPr id="12" name="Shape 10"/>
          <p:cNvSpPr/>
          <p:nvPr/>
        </p:nvSpPr>
        <p:spPr>
          <a:xfrm>
            <a:off x="502920" y="3383280"/>
            <a:ext cx="2608326" cy="960120"/>
          </a:xfrm>
          <a:prstGeom prst="roundRect">
            <a:avLst>
              <a:gd name="adj" fmla="val 8571"/>
            </a:avLst>
          </a:prstGeom>
          <a:solidFill>
            <a:srgbClr val="1B2350"/>
          </a:solidFill>
          <a:ln w="12700">
            <a:solidFill>
              <a:srgbClr val="2A3468"/>
            </a:solidFill>
            <a:prstDash val="solid"/>
          </a:ln>
        </p:spPr>
      </p:sp>
      <p:sp>
        <p:nvSpPr>
          <p:cNvPr id="13" name="Shape 11"/>
          <p:cNvSpPr/>
          <p:nvPr/>
        </p:nvSpPr>
        <p:spPr>
          <a:xfrm>
            <a:off x="612648" y="3493008"/>
            <a:ext cx="292608" cy="292608"/>
          </a:xfrm>
          <a:prstGeom prst="ellipse">
            <a:avLst/>
          </a:prstGeom>
          <a:solidFill>
            <a:srgbClr val="FF6B81"/>
          </a:solidFill>
          <a:ln/>
        </p:spPr>
      </p:sp>
      <p:sp>
        <p:nvSpPr>
          <p:cNvPr id="14" name="Text 12"/>
          <p:cNvSpPr/>
          <p:nvPr/>
        </p:nvSpPr>
        <p:spPr>
          <a:xfrm>
            <a:off x="612648" y="3474720"/>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15" name="Text 13"/>
          <p:cNvSpPr/>
          <p:nvPr/>
        </p:nvSpPr>
        <p:spPr>
          <a:xfrm>
            <a:off x="612648" y="3822192"/>
            <a:ext cx="2388870"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TRIGGER</a:t>
            </a:r>
            <a:endParaRPr lang="en-US" sz="1000" dirty="0"/>
          </a:p>
          <a:p>
            <a:pPr marL="0" indent="0">
              <a:buNone/>
            </a:pPr>
            <a:r>
              <a:rPr lang="en-US" sz="1000" dirty="0">
                <a:solidFill>
                  <a:srgbClr val="E8ECFA"/>
                </a:solidFill>
                <a:latin typeface="Calibri" pitchFamily="34" charset="0"/>
                <a:ea typeface="Calibri" pitchFamily="34" charset="-122"/>
                <a:cs typeface="Calibri" pitchFamily="34" charset="-120"/>
              </a:rPr>
              <a:t>(webhook/cron/email)</a:t>
            </a:r>
            <a:endParaRPr lang="en-US" sz="1000" dirty="0"/>
          </a:p>
        </p:txBody>
      </p:sp>
      <p:sp>
        <p:nvSpPr>
          <p:cNvPr id="16" name="Text 14"/>
          <p:cNvSpPr/>
          <p:nvPr/>
        </p:nvSpPr>
        <p:spPr>
          <a:xfrm>
            <a:off x="3111246" y="3639312"/>
            <a:ext cx="256032" cy="365760"/>
          </a:xfrm>
          <a:prstGeom prst="rect">
            <a:avLst/>
          </a:prstGeom>
          <a:noFill/>
          <a:ln/>
        </p:spPr>
        <p:txBody>
          <a:bodyPr wrap="square" rtlCol="0" anchor="ctr"/>
          <a:lstStyle/>
          <a:p>
            <a:pPr marL="0" indent="0" algn="ctr">
              <a:buNone/>
            </a:pPr>
            <a:r>
              <a:rPr lang="en-US" sz="1600" b="1" dirty="0">
                <a:solidFill>
                  <a:srgbClr val="FF6B81"/>
                </a:solidFill>
              </a:rPr>
              <a:t>→</a:t>
            </a:r>
            <a:endParaRPr lang="en-US" sz="1600" dirty="0"/>
          </a:p>
        </p:txBody>
      </p:sp>
      <p:sp>
        <p:nvSpPr>
          <p:cNvPr id="17" name="Shape 15"/>
          <p:cNvSpPr/>
          <p:nvPr/>
        </p:nvSpPr>
        <p:spPr>
          <a:xfrm>
            <a:off x="3367278" y="3383280"/>
            <a:ext cx="2608326" cy="960120"/>
          </a:xfrm>
          <a:prstGeom prst="roundRect">
            <a:avLst>
              <a:gd name="adj" fmla="val 8571"/>
            </a:avLst>
          </a:prstGeom>
          <a:solidFill>
            <a:srgbClr val="1B2350"/>
          </a:solidFill>
          <a:ln w="12700">
            <a:solidFill>
              <a:srgbClr val="2A3468"/>
            </a:solidFill>
            <a:prstDash val="solid"/>
          </a:ln>
        </p:spPr>
      </p:sp>
      <p:sp>
        <p:nvSpPr>
          <p:cNvPr id="18" name="Shape 16"/>
          <p:cNvSpPr/>
          <p:nvPr/>
        </p:nvSpPr>
        <p:spPr>
          <a:xfrm>
            <a:off x="3477006" y="3493008"/>
            <a:ext cx="292608" cy="292608"/>
          </a:xfrm>
          <a:prstGeom prst="ellipse">
            <a:avLst/>
          </a:prstGeom>
          <a:solidFill>
            <a:srgbClr val="FF6B81"/>
          </a:solidFill>
          <a:ln/>
        </p:spPr>
      </p:sp>
      <p:sp>
        <p:nvSpPr>
          <p:cNvPr id="19" name="Text 17"/>
          <p:cNvSpPr/>
          <p:nvPr/>
        </p:nvSpPr>
        <p:spPr>
          <a:xfrm>
            <a:off x="3477006" y="3474720"/>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20" name="Text 18"/>
          <p:cNvSpPr/>
          <p:nvPr/>
        </p:nvSpPr>
        <p:spPr>
          <a:xfrm>
            <a:off x="3477006" y="3822192"/>
            <a:ext cx="2388870"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NODE</a:t>
            </a:r>
            <a:endParaRPr lang="en-US" sz="1000" dirty="0"/>
          </a:p>
          <a:p>
            <a:pPr marL="0" indent="0">
              <a:buNone/>
            </a:pPr>
            <a:r>
              <a:rPr lang="en-US" sz="1000" dirty="0">
                <a:solidFill>
                  <a:srgbClr val="E8ECFA"/>
                </a:solidFill>
                <a:latin typeface="Calibri" pitchFamily="34" charset="0"/>
                <a:ea typeface="Calibri" pitchFamily="34" charset="-122"/>
                <a:cs typeface="Calibri" pitchFamily="34" charset="-120"/>
              </a:rPr>
              <a:t>(transform/filter)</a:t>
            </a:r>
            <a:endParaRPr lang="en-US" sz="1000" dirty="0"/>
          </a:p>
        </p:txBody>
      </p:sp>
      <p:sp>
        <p:nvSpPr>
          <p:cNvPr id="21" name="Text 19"/>
          <p:cNvSpPr/>
          <p:nvPr/>
        </p:nvSpPr>
        <p:spPr>
          <a:xfrm>
            <a:off x="5975604" y="3639312"/>
            <a:ext cx="256032" cy="365760"/>
          </a:xfrm>
          <a:prstGeom prst="rect">
            <a:avLst/>
          </a:prstGeom>
          <a:noFill/>
          <a:ln/>
        </p:spPr>
        <p:txBody>
          <a:bodyPr wrap="square" rtlCol="0" anchor="ctr"/>
          <a:lstStyle/>
          <a:p>
            <a:pPr marL="0" indent="0" algn="ctr">
              <a:buNone/>
            </a:pPr>
            <a:r>
              <a:rPr lang="en-US" sz="1600" b="1" dirty="0">
                <a:solidFill>
                  <a:srgbClr val="FF6B81"/>
                </a:solidFill>
              </a:rPr>
              <a:t>→</a:t>
            </a:r>
            <a:endParaRPr lang="en-US" sz="1600" dirty="0"/>
          </a:p>
        </p:txBody>
      </p:sp>
      <p:sp>
        <p:nvSpPr>
          <p:cNvPr id="22" name="Shape 20"/>
          <p:cNvSpPr/>
          <p:nvPr/>
        </p:nvSpPr>
        <p:spPr>
          <a:xfrm>
            <a:off x="6231636" y="3383280"/>
            <a:ext cx="2608326" cy="960120"/>
          </a:xfrm>
          <a:prstGeom prst="roundRect">
            <a:avLst>
              <a:gd name="adj" fmla="val 8571"/>
            </a:avLst>
          </a:prstGeom>
          <a:solidFill>
            <a:srgbClr val="1B2350"/>
          </a:solidFill>
          <a:ln w="12700">
            <a:solidFill>
              <a:srgbClr val="2A3468"/>
            </a:solidFill>
            <a:prstDash val="solid"/>
          </a:ln>
        </p:spPr>
      </p:sp>
      <p:sp>
        <p:nvSpPr>
          <p:cNvPr id="23" name="Shape 21"/>
          <p:cNvSpPr/>
          <p:nvPr/>
        </p:nvSpPr>
        <p:spPr>
          <a:xfrm>
            <a:off x="6341364" y="3493008"/>
            <a:ext cx="292608" cy="292608"/>
          </a:xfrm>
          <a:prstGeom prst="ellipse">
            <a:avLst/>
          </a:prstGeom>
          <a:solidFill>
            <a:srgbClr val="FF6B81"/>
          </a:solidFill>
          <a:ln/>
        </p:spPr>
      </p:sp>
      <p:sp>
        <p:nvSpPr>
          <p:cNvPr id="24" name="Text 22"/>
          <p:cNvSpPr/>
          <p:nvPr/>
        </p:nvSpPr>
        <p:spPr>
          <a:xfrm>
            <a:off x="6341364" y="3474720"/>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25" name="Text 23"/>
          <p:cNvSpPr/>
          <p:nvPr/>
        </p:nvSpPr>
        <p:spPr>
          <a:xfrm>
            <a:off x="6341364" y="3822192"/>
            <a:ext cx="2388870"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NODE</a:t>
            </a:r>
            <a:endParaRPr lang="en-US" sz="1000" dirty="0"/>
          </a:p>
          <a:p>
            <a:pPr marL="0" indent="0">
              <a:buNone/>
            </a:pPr>
            <a:r>
              <a:rPr lang="en-US" sz="1000" dirty="0">
                <a:solidFill>
                  <a:srgbClr val="E8ECFA"/>
                </a:solidFill>
                <a:latin typeface="Calibri" pitchFamily="34" charset="0"/>
                <a:ea typeface="Calibri" pitchFamily="34" charset="-122"/>
                <a:cs typeface="Calibri" pitchFamily="34" charset="-120"/>
              </a:rPr>
              <a:t>(call API / run AI)</a:t>
            </a:r>
            <a:endParaRPr lang="en-US" sz="1000" dirty="0"/>
          </a:p>
        </p:txBody>
      </p:sp>
      <p:sp>
        <p:nvSpPr>
          <p:cNvPr id="26" name="Text 24"/>
          <p:cNvSpPr/>
          <p:nvPr/>
        </p:nvSpPr>
        <p:spPr>
          <a:xfrm>
            <a:off x="8839962" y="3639312"/>
            <a:ext cx="256032" cy="365760"/>
          </a:xfrm>
          <a:prstGeom prst="rect">
            <a:avLst/>
          </a:prstGeom>
          <a:noFill/>
          <a:ln/>
        </p:spPr>
        <p:txBody>
          <a:bodyPr wrap="square" rtlCol="0" anchor="ctr"/>
          <a:lstStyle/>
          <a:p>
            <a:pPr marL="0" indent="0" algn="ctr">
              <a:buNone/>
            </a:pPr>
            <a:r>
              <a:rPr lang="en-US" sz="1600" b="1" dirty="0">
                <a:solidFill>
                  <a:srgbClr val="FF6B81"/>
                </a:solidFill>
              </a:rPr>
              <a:t>→</a:t>
            </a:r>
            <a:endParaRPr lang="en-US" sz="1600" dirty="0"/>
          </a:p>
        </p:txBody>
      </p:sp>
      <p:sp>
        <p:nvSpPr>
          <p:cNvPr id="27" name="Shape 25"/>
          <p:cNvSpPr/>
          <p:nvPr/>
        </p:nvSpPr>
        <p:spPr>
          <a:xfrm>
            <a:off x="9095994" y="3383280"/>
            <a:ext cx="2608326" cy="960120"/>
          </a:xfrm>
          <a:prstGeom prst="roundRect">
            <a:avLst>
              <a:gd name="adj" fmla="val 8571"/>
            </a:avLst>
          </a:prstGeom>
          <a:solidFill>
            <a:srgbClr val="1B2350"/>
          </a:solidFill>
          <a:ln w="12700">
            <a:solidFill>
              <a:srgbClr val="2A3468"/>
            </a:solidFill>
            <a:prstDash val="solid"/>
          </a:ln>
        </p:spPr>
      </p:sp>
      <p:sp>
        <p:nvSpPr>
          <p:cNvPr id="28" name="Shape 26"/>
          <p:cNvSpPr/>
          <p:nvPr/>
        </p:nvSpPr>
        <p:spPr>
          <a:xfrm>
            <a:off x="9205722" y="3493008"/>
            <a:ext cx="292608" cy="292608"/>
          </a:xfrm>
          <a:prstGeom prst="ellipse">
            <a:avLst/>
          </a:prstGeom>
          <a:solidFill>
            <a:srgbClr val="FF6B81"/>
          </a:solidFill>
          <a:ln/>
        </p:spPr>
      </p:sp>
      <p:sp>
        <p:nvSpPr>
          <p:cNvPr id="29" name="Text 27"/>
          <p:cNvSpPr/>
          <p:nvPr/>
        </p:nvSpPr>
        <p:spPr>
          <a:xfrm>
            <a:off x="9205722" y="3474720"/>
            <a:ext cx="292608" cy="292608"/>
          </a:xfrm>
          <a:prstGeom prst="rect">
            <a:avLst/>
          </a:prstGeom>
          <a:noFill/>
          <a:ln/>
        </p:spPr>
        <p:txBody>
          <a:bodyPr wrap="square" rtlCol="0" anchor="ctr"/>
          <a:lstStyle/>
          <a:p>
            <a:pPr marL="0" indent="0" algn="ctr">
              <a:buNone/>
            </a:pPr>
            <a:r>
              <a:rPr lang="en-US" sz="1200" b="1" dirty="0">
                <a:solidFill>
                  <a:srgbClr val="0A0E27"/>
                </a:solidFill>
              </a:rPr>
              <a:t>4</a:t>
            </a:r>
            <a:endParaRPr lang="en-US" sz="1200" dirty="0"/>
          </a:p>
        </p:txBody>
      </p:sp>
      <p:sp>
        <p:nvSpPr>
          <p:cNvPr id="30" name="Text 28"/>
          <p:cNvSpPr/>
          <p:nvPr/>
        </p:nvSpPr>
        <p:spPr>
          <a:xfrm>
            <a:off x="9205722" y="3822192"/>
            <a:ext cx="2388870"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OUTPUT</a:t>
            </a:r>
            <a:endParaRPr lang="en-US" sz="1000" dirty="0"/>
          </a:p>
          <a:p>
            <a:pPr marL="0" indent="0">
              <a:buNone/>
            </a:pPr>
            <a:r>
              <a:rPr lang="en-US" sz="1000" dirty="0">
                <a:solidFill>
                  <a:srgbClr val="E8ECFA"/>
                </a:solidFill>
                <a:latin typeface="Calibri" pitchFamily="34" charset="0"/>
                <a:ea typeface="Calibri" pitchFamily="34" charset="-122"/>
                <a:cs typeface="Calibri" pitchFamily="34" charset="-120"/>
              </a:rPr>
              <a:t>(ticket/email/DB)</a:t>
            </a:r>
            <a:endParaRPr lang="en-US" sz="1000" dirty="0"/>
          </a:p>
        </p:txBody>
      </p:sp>
      <p:sp>
        <p:nvSpPr>
          <p:cNvPr id="31" name="Text 29"/>
          <p:cNvSpPr/>
          <p:nvPr/>
        </p:nvSpPr>
        <p:spPr>
          <a:xfrm>
            <a:off x="502920" y="4572000"/>
            <a:ext cx="5486400" cy="292608"/>
          </a:xfrm>
          <a:prstGeom prst="rect">
            <a:avLst/>
          </a:prstGeom>
          <a:noFill/>
          <a:ln/>
        </p:spPr>
        <p:txBody>
          <a:bodyPr wrap="square" rtlCol="0" anchor="ctr"/>
          <a:lstStyle/>
          <a:p>
            <a:pPr marL="0" indent="0">
              <a:buNone/>
            </a:pPr>
            <a:r>
              <a:rPr lang="en-US" sz="1300" b="1" kern="0" spc="100" dirty="0">
                <a:solidFill>
                  <a:srgbClr val="FF6B81"/>
                </a:solidFill>
                <a:latin typeface="Calibri" pitchFamily="34" charset="0"/>
                <a:ea typeface="Calibri" pitchFamily="34" charset="-122"/>
                <a:cs typeface="Calibri" pitchFamily="34" charset="-120"/>
              </a:rPr>
              <a:t>🔹  KEY FEATURES</a:t>
            </a:r>
            <a:endParaRPr lang="en-US" sz="1300" dirty="0"/>
          </a:p>
        </p:txBody>
      </p:sp>
      <p:sp>
        <p:nvSpPr>
          <p:cNvPr id="32" name="Shape 30"/>
          <p:cNvSpPr/>
          <p:nvPr/>
        </p:nvSpPr>
        <p:spPr>
          <a:xfrm>
            <a:off x="502920" y="4919472"/>
            <a:ext cx="201168" cy="201168"/>
          </a:xfrm>
          <a:prstGeom prst="ellipse">
            <a:avLst/>
          </a:prstGeom>
          <a:solidFill>
            <a:srgbClr val="FF6B81">
              <a:alpha val="80000"/>
            </a:srgbClr>
          </a:solidFill>
          <a:ln/>
        </p:spPr>
      </p:sp>
      <p:sp>
        <p:nvSpPr>
          <p:cNvPr id="33" name="Text 31"/>
          <p:cNvSpPr/>
          <p:nvPr/>
        </p:nvSpPr>
        <p:spPr>
          <a:xfrm>
            <a:off x="502920" y="488746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34" name="Text 32"/>
          <p:cNvSpPr/>
          <p:nvPr/>
        </p:nvSpPr>
        <p:spPr>
          <a:xfrm>
            <a:off x="795528" y="4837176"/>
            <a:ext cx="2377440" cy="80010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400+ pre-built integrations</a:t>
            </a:r>
            <a:endParaRPr lang="en-US" sz="1200" dirty="0"/>
          </a:p>
        </p:txBody>
      </p:sp>
      <p:sp>
        <p:nvSpPr>
          <p:cNvPr id="35" name="Shape 33"/>
          <p:cNvSpPr/>
          <p:nvPr/>
        </p:nvSpPr>
        <p:spPr>
          <a:xfrm>
            <a:off x="3246120" y="4919472"/>
            <a:ext cx="201168" cy="201168"/>
          </a:xfrm>
          <a:prstGeom prst="ellipse">
            <a:avLst/>
          </a:prstGeom>
          <a:solidFill>
            <a:srgbClr val="FF6B81">
              <a:alpha val="80000"/>
            </a:srgbClr>
          </a:solidFill>
          <a:ln/>
        </p:spPr>
      </p:sp>
      <p:sp>
        <p:nvSpPr>
          <p:cNvPr id="36" name="Text 34"/>
          <p:cNvSpPr/>
          <p:nvPr/>
        </p:nvSpPr>
        <p:spPr>
          <a:xfrm>
            <a:off x="3246120" y="488746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37" name="Text 35"/>
          <p:cNvSpPr/>
          <p:nvPr/>
        </p:nvSpPr>
        <p:spPr>
          <a:xfrm>
            <a:off x="3538728" y="4837176"/>
            <a:ext cx="2377440" cy="80010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Visual drag-and-drop builder</a:t>
            </a:r>
            <a:endParaRPr lang="en-US" sz="1200" dirty="0"/>
          </a:p>
        </p:txBody>
      </p:sp>
      <p:sp>
        <p:nvSpPr>
          <p:cNvPr id="38" name="Shape 36"/>
          <p:cNvSpPr/>
          <p:nvPr/>
        </p:nvSpPr>
        <p:spPr>
          <a:xfrm>
            <a:off x="502920" y="5719572"/>
            <a:ext cx="201168" cy="201168"/>
          </a:xfrm>
          <a:prstGeom prst="ellipse">
            <a:avLst/>
          </a:prstGeom>
          <a:solidFill>
            <a:srgbClr val="FF6B81">
              <a:alpha val="80000"/>
            </a:srgbClr>
          </a:solidFill>
          <a:ln/>
        </p:spPr>
      </p:sp>
      <p:sp>
        <p:nvSpPr>
          <p:cNvPr id="39" name="Text 37"/>
          <p:cNvSpPr/>
          <p:nvPr/>
        </p:nvSpPr>
        <p:spPr>
          <a:xfrm>
            <a:off x="502920" y="568756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40" name="Text 38"/>
          <p:cNvSpPr/>
          <p:nvPr/>
        </p:nvSpPr>
        <p:spPr>
          <a:xfrm>
            <a:off x="795528" y="5637276"/>
            <a:ext cx="2377440" cy="80010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Native AI / LLM nodes</a:t>
            </a:r>
            <a:endParaRPr lang="en-US" sz="1200" dirty="0"/>
          </a:p>
        </p:txBody>
      </p:sp>
      <p:sp>
        <p:nvSpPr>
          <p:cNvPr id="41" name="Shape 39"/>
          <p:cNvSpPr/>
          <p:nvPr/>
        </p:nvSpPr>
        <p:spPr>
          <a:xfrm>
            <a:off x="3246120" y="5719572"/>
            <a:ext cx="201168" cy="201168"/>
          </a:xfrm>
          <a:prstGeom prst="ellipse">
            <a:avLst/>
          </a:prstGeom>
          <a:solidFill>
            <a:srgbClr val="FF6B81">
              <a:alpha val="80000"/>
            </a:srgbClr>
          </a:solidFill>
          <a:ln/>
        </p:spPr>
      </p:sp>
      <p:sp>
        <p:nvSpPr>
          <p:cNvPr id="42" name="Text 40"/>
          <p:cNvSpPr/>
          <p:nvPr/>
        </p:nvSpPr>
        <p:spPr>
          <a:xfrm>
            <a:off x="3246120" y="5687568"/>
            <a:ext cx="201168" cy="219456"/>
          </a:xfrm>
          <a:prstGeom prst="rect">
            <a:avLst/>
          </a:prstGeom>
          <a:noFill/>
          <a:ln/>
        </p:spPr>
        <p:txBody>
          <a:bodyPr wrap="square" rtlCol="0" anchor="ctr"/>
          <a:lstStyle/>
          <a:p>
            <a:pPr marL="0" indent="0" algn="ctr">
              <a:buNone/>
            </a:pPr>
            <a:r>
              <a:rPr lang="en-US" sz="1000" b="1" dirty="0">
                <a:solidFill>
                  <a:srgbClr val="0A0E27"/>
                </a:solidFill>
              </a:rPr>
              <a:t>✓</a:t>
            </a:r>
            <a:endParaRPr lang="en-US" sz="1000" dirty="0"/>
          </a:p>
        </p:txBody>
      </p:sp>
      <p:sp>
        <p:nvSpPr>
          <p:cNvPr id="43" name="Text 41"/>
          <p:cNvSpPr/>
          <p:nvPr/>
        </p:nvSpPr>
        <p:spPr>
          <a:xfrm>
            <a:off x="3538728" y="5637276"/>
            <a:ext cx="2377440" cy="800100"/>
          </a:xfrm>
          <a:prstGeom prst="rect">
            <a:avLst/>
          </a:prstGeom>
          <a:noFill/>
          <a:ln/>
        </p:spPr>
        <p:txBody>
          <a:bodyPr wrap="square" rtlCol="0" anchor="t"/>
          <a:lstStyle/>
          <a:p>
            <a:pPr marL="0" indent="0">
              <a:buNone/>
            </a:pPr>
            <a:r>
              <a:rPr lang="en-US" sz="1200" dirty="0">
                <a:solidFill>
                  <a:srgbClr val="E8ECFA"/>
                </a:solidFill>
                <a:latin typeface="Calibri" pitchFamily="34" charset="0"/>
                <a:ea typeface="Calibri" pitchFamily="34" charset="-122"/>
                <a:cs typeface="Calibri" pitchFamily="34" charset="-120"/>
              </a:rPr>
              <a:t>Self-hostable — full data privacy</a:t>
            </a:r>
            <a:endParaRPr lang="en-US" sz="1200" dirty="0"/>
          </a:p>
        </p:txBody>
      </p:sp>
      <p:sp>
        <p:nvSpPr>
          <p:cNvPr id="44" name="Shape 42"/>
          <p:cNvSpPr/>
          <p:nvPr/>
        </p:nvSpPr>
        <p:spPr>
          <a:xfrm>
            <a:off x="6355080" y="4572000"/>
            <a:ext cx="5349240" cy="1920240"/>
          </a:xfrm>
          <a:prstGeom prst="roundRect">
            <a:avLst>
              <a:gd name="adj" fmla="val 4286"/>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45" name="Text 43"/>
          <p:cNvSpPr/>
          <p:nvPr/>
        </p:nvSpPr>
        <p:spPr>
          <a:xfrm>
            <a:off x="6537960" y="4681728"/>
            <a:ext cx="5029200" cy="256032"/>
          </a:xfrm>
          <a:prstGeom prst="rect">
            <a:avLst/>
          </a:prstGeom>
          <a:noFill/>
          <a:ln/>
        </p:spPr>
        <p:txBody>
          <a:bodyPr wrap="square" rtlCol="0" anchor="ctr"/>
          <a:lstStyle/>
          <a:p>
            <a:pPr marL="0" indent="0">
              <a:buNone/>
            </a:pPr>
            <a:r>
              <a:rPr lang="en-US" sz="1150" b="1" dirty="0">
                <a:solidFill>
                  <a:srgbClr val="FF6B81"/>
                </a:solidFill>
                <a:latin typeface="Calibri" pitchFamily="34" charset="0"/>
                <a:ea typeface="Calibri" pitchFamily="34" charset="-122"/>
                <a:cs typeface="Calibri" pitchFamily="34" charset="-120"/>
              </a:rPr>
              <a:t>🧩  EXTRA CAPABILITIES</a:t>
            </a:r>
            <a:endParaRPr lang="en-US" sz="1150" dirty="0"/>
          </a:p>
        </p:txBody>
      </p:sp>
      <p:sp>
        <p:nvSpPr>
          <p:cNvPr id="46" name="Text 44"/>
          <p:cNvSpPr/>
          <p:nvPr/>
        </p:nvSpPr>
        <p:spPr>
          <a:xfrm>
            <a:off x="6537960" y="4956048"/>
            <a:ext cx="5029200" cy="1417320"/>
          </a:xfrm>
          <a:prstGeom prst="rect">
            <a:avLst/>
          </a:prstGeom>
          <a:noFill/>
          <a:ln/>
        </p:spPr>
        <p:txBody>
          <a:bodyPr wrap="square" rtlCol="0" anchor="t"/>
          <a:lstStyle/>
          <a:p>
            <a:pPr marL="177800" indent="-177800">
              <a:spcAft>
                <a:spcPts val="500"/>
              </a:spcAft>
              <a:buSzPct val="100000"/>
              <a:buChar char="▪"/>
            </a:pPr>
            <a:r>
              <a:rPr lang="en-US" sz="1080" dirty="0">
                <a:solidFill>
                  <a:srgbClr val="E8ECFA"/>
                </a:solidFill>
                <a:latin typeface="Calibri" pitchFamily="34" charset="0"/>
                <a:ea typeface="Calibri" pitchFamily="34" charset="-122"/>
                <a:cs typeface="Calibri" pitchFamily="34" charset="-120"/>
              </a:rPr>
              <a:t>Code nodes — custom JavaScript or Python</a:t>
            </a:r>
            <a:endParaRPr lang="en-US" sz="1080" dirty="0"/>
          </a:p>
          <a:p>
            <a:pPr marL="177800" indent="-177800">
              <a:spcAft>
                <a:spcPts val="500"/>
              </a:spcAft>
              <a:buSzPct val="100000"/>
              <a:buChar char="▪"/>
            </a:pPr>
            <a:r>
              <a:rPr lang="en-US" sz="1080" dirty="0">
                <a:solidFill>
                  <a:srgbClr val="E8ECFA"/>
                </a:solidFill>
                <a:latin typeface="Calibri" pitchFamily="34" charset="0"/>
                <a:ea typeface="Calibri" pitchFamily="34" charset="-122"/>
                <a:cs typeface="Calibri" pitchFamily="34" charset="-120"/>
              </a:rPr>
              <a:t>Error handling — retries, alerting on failures</a:t>
            </a:r>
            <a:endParaRPr lang="en-US" sz="1080" dirty="0"/>
          </a:p>
          <a:p>
            <a:pPr marL="177800" indent="-177800">
              <a:spcAft>
                <a:spcPts val="500"/>
              </a:spcAft>
              <a:buSzPct val="100000"/>
              <a:buChar char="▪"/>
            </a:pPr>
            <a:r>
              <a:rPr lang="en-US" sz="1080" dirty="0">
                <a:solidFill>
                  <a:srgbClr val="E8ECFA"/>
                </a:solidFill>
                <a:latin typeface="Calibri" pitchFamily="34" charset="0"/>
                <a:ea typeface="Calibri" pitchFamily="34" charset="-122"/>
                <a:cs typeface="Calibri" pitchFamily="34" charset="-120"/>
              </a:rPr>
              <a:t>Cron scheduling — hourly, daily, weekly triggers</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FF6B81">
              <a:alpha val="10000"/>
            </a:srgbClr>
          </a:solidFill>
          <a:ln/>
        </p:spPr>
      </p:sp>
      <p:sp>
        <p:nvSpPr>
          <p:cNvPr id="3" name="Shape 1"/>
          <p:cNvSpPr/>
          <p:nvPr/>
        </p:nvSpPr>
        <p:spPr>
          <a:xfrm>
            <a:off x="-1645920" y="5120640"/>
            <a:ext cx="3291840" cy="3291840"/>
          </a:xfrm>
          <a:prstGeom prst="ellipse">
            <a:avLst/>
          </a:prstGeom>
          <a:solidFill>
            <a:srgbClr val="FF6B81">
              <a:alpha val="8000"/>
            </a:srgbClr>
          </a:solidFill>
          <a:ln/>
        </p:spPr>
      </p:sp>
      <p:sp>
        <p:nvSpPr>
          <p:cNvPr id="4" name="Shape 2"/>
          <p:cNvSpPr/>
          <p:nvPr/>
        </p:nvSpPr>
        <p:spPr>
          <a:xfrm>
            <a:off x="502920" y="457200"/>
            <a:ext cx="658368" cy="658368"/>
          </a:xfrm>
          <a:prstGeom prst="ellipse">
            <a:avLst/>
          </a:prstGeom>
          <a:solidFill>
            <a:srgbClr val="FF6B81">
              <a:alpha val="22000"/>
            </a:srgbClr>
          </a:solidFill>
          <a:ln w="15875">
            <a:solidFill>
              <a:srgbClr val="FF6B81"/>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FF6B81"/>
                </a:solidFill>
                <a:latin typeface="Calibri" pitchFamily="34" charset="0"/>
                <a:ea typeface="Calibri" pitchFamily="34" charset="-122"/>
                <a:cs typeface="Calibri" pitchFamily="34" charset="-120"/>
              </a:rPr>
              <a:t>TOOL 04 · DEEP DIVE</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N8N vs. Alternatives</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Why N8N is the automation backbone of this system</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20140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457200">
                <a:tc>
                  <a:txBody>
                    <a:bodyPr/>
                    <a:lstStyle/>
                    <a:p>
                      <a:pPr marL="0" indent="0" algn="l">
                        <a:buNone/>
                      </a:pPr>
                      <a:r>
                        <a:rPr lang="en-US" sz="1300" b="1" dirty="0">
                          <a:solidFill>
                            <a:srgbClr val="0A0E27"/>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FF6B81"/>
                    </a:solidFill>
                  </a:tcPr>
                </a:tc>
                <a:tc>
                  <a:txBody>
                    <a:bodyPr/>
                    <a:lstStyle/>
                    <a:p>
                      <a:pPr marL="0" indent="0" algn="l">
                        <a:buNone/>
                      </a:pPr>
                      <a:r>
                        <a:rPr lang="en-US" sz="1300" b="1" dirty="0">
                          <a:solidFill>
                            <a:srgbClr val="0A0E27"/>
                          </a:solidFill>
                          <a:latin typeface="Calibri" pitchFamily="34" charset="0"/>
                          <a:ea typeface="Calibri" pitchFamily="34" charset="-122"/>
                          <a:cs typeface="Calibri" pitchFamily="34" charset="-120"/>
                        </a:rPr>
                        <a:t>N8N</a:t>
                      </a:r>
                      <a:endParaRPr lang="en-US" sz="13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FF6B81"/>
                    </a:solidFill>
                  </a:tcPr>
                </a:tc>
                <a:tc>
                  <a:txBody>
                    <a:bodyPr/>
                    <a:lstStyle/>
                    <a:p>
                      <a:pPr marL="0" indent="0" algn="l">
                        <a:buNone/>
                      </a:pPr>
                      <a:r>
                        <a:rPr lang="en-US" sz="1300" b="1" dirty="0">
                          <a:solidFill>
                            <a:srgbClr val="0A0E27"/>
                          </a:solidFill>
                          <a:latin typeface="Calibri" pitchFamily="34" charset="0"/>
                          <a:ea typeface="Calibri" pitchFamily="34" charset="-122"/>
                          <a:cs typeface="Calibri" pitchFamily="34" charset="-120"/>
                        </a:rPr>
                        <a:t>ZAPIER</a:t>
                      </a:r>
                      <a:endParaRPr lang="en-US" sz="13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FF6B81"/>
                    </a:solidFill>
                  </a:tcPr>
                </a:tc>
                <a:tc>
                  <a:txBody>
                    <a:bodyPr/>
                    <a:lstStyle/>
                    <a:p>
                      <a:pPr marL="0" indent="0" algn="l">
                        <a:buNone/>
                      </a:pPr>
                      <a:r>
                        <a:rPr lang="en-US" sz="1300" b="1" dirty="0">
                          <a:solidFill>
                            <a:srgbClr val="0A0E27"/>
                          </a:solidFill>
                          <a:latin typeface="Calibri" pitchFamily="34" charset="0"/>
                          <a:ea typeface="Calibri" pitchFamily="34" charset="-122"/>
                          <a:cs typeface="Calibri" pitchFamily="34" charset="-120"/>
                        </a:rPr>
                        <a:t>MAKE (INTEGROMAT)</a:t>
                      </a:r>
                      <a:endParaRPr lang="en-US" sz="130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FF6B81"/>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Pricing</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Free (self-hosted)</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Per-task pricing</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Per-operation pricing</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AI Integration</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Native LLM nodes</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Limited</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Limited</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Self-Hosting</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 Full control</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 Cloud only</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 Cloud only</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Code Support</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JS + Python nodes</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Limited</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Limited</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4"/>
                  </a:ext>
                </a:extLst>
              </a:tr>
              <a:tr h="457200">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Complexity</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High (advanced logic)</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B2350"/>
                    </a:solidFill>
                  </a:tcPr>
                </a:tc>
                <a:extLst>
                  <a:ext uri="{0D108BD9-81ED-4DB2-BD59-A6C34878D82A}">
                    <a16:rowId xmlns:a16="http://schemas.microsoft.com/office/drawing/2014/main" val="10005"/>
                  </a:ext>
                </a:extLst>
              </a:tr>
              <a:tr h="457200">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Open Source</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 Yes</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 No</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tc>
                  <a:txBody>
                    <a:bodyPr/>
                    <a:lstStyle/>
                    <a:p>
                      <a:pPr marL="0" indent="0" algn="l">
                        <a:buNone/>
                      </a:pPr>
                      <a:r>
                        <a:rPr lang="en-US" sz="1250" dirty="0">
                          <a:solidFill>
                            <a:srgbClr val="E8ECFA"/>
                          </a:solidFill>
                          <a:latin typeface="Calibri" pitchFamily="34" charset="0"/>
                          <a:ea typeface="Calibri" pitchFamily="34" charset="-122"/>
                          <a:cs typeface="Calibri" pitchFamily="34" charset="-120"/>
                        </a:rPr>
                        <a:t>❌ No</a:t>
                      </a:r>
                      <a:endParaRPr lang="en-US" sz="1250" dirty="0">
                        <a:latin typeface="Calibri" charset="0"/>
                        <a:ea typeface="Calibri" charset="0"/>
                        <a:cs typeface="Calibri" charset="0"/>
                      </a:endParaRPr>
                    </a:p>
                  </a:txBody>
                  <a:tcPr anchor="ctr">
                    <a:lnL w="9525" cap="flat" cmpd="sng" algn="ctr">
                      <a:solidFill>
                        <a:srgbClr val="2A3468"/>
                      </a:solidFill>
                      <a:prstDash val="solid"/>
                      <a:round/>
                      <a:headEnd type="none" w="med" len="med"/>
                      <a:tailEnd type="none" w="med" len="med"/>
                    </a:lnL>
                    <a:lnR w="9525" cap="flat" cmpd="sng" algn="ctr">
                      <a:solidFill>
                        <a:srgbClr val="2A3468"/>
                      </a:solidFill>
                      <a:prstDash val="solid"/>
                      <a:round/>
                      <a:headEnd type="none" w="med" len="med"/>
                      <a:tailEnd type="none" w="med" len="med"/>
                    </a:lnR>
                    <a:lnT w="9525" cap="flat" cmpd="sng" algn="ctr">
                      <a:solidFill>
                        <a:srgbClr val="2A3468"/>
                      </a:solidFill>
                      <a:prstDash val="solid"/>
                      <a:round/>
                      <a:headEnd type="none" w="med" len="med"/>
                      <a:tailEnd type="none" w="med" len="med"/>
                    </a:lnT>
                    <a:lnB w="9525" cap="flat" cmpd="sng" algn="ctr">
                      <a:solidFill>
                        <a:srgbClr val="2A3468"/>
                      </a:solidFill>
                      <a:prstDash val="solid"/>
                      <a:round/>
                      <a:headEnd type="none" w="med" len="med"/>
                      <a:tailEnd type="none" w="med" len="med"/>
                    </a:lnB>
                    <a:solidFill>
                      <a:srgbClr val="141A3D"/>
                    </a:solidFill>
                  </a:tcPr>
                </a:tc>
                <a:extLst>
                  <a:ext uri="{0D108BD9-81ED-4DB2-BD59-A6C34878D82A}">
                    <a16:rowId xmlns:a16="http://schemas.microsoft.com/office/drawing/2014/main" val="10006"/>
                  </a:ext>
                </a:extLst>
              </a:tr>
            </a:tbl>
          </a:graphicData>
        </a:graphic>
      </p:graphicFrame>
      <p:sp>
        <p:nvSpPr>
          <p:cNvPr id="9" name="Shape 7"/>
          <p:cNvSpPr/>
          <p:nvPr/>
        </p:nvSpPr>
        <p:spPr>
          <a:xfrm>
            <a:off x="502920" y="5257800"/>
            <a:ext cx="11201400" cy="960120"/>
          </a:xfrm>
          <a:prstGeom prst="roundRect">
            <a:avLst>
              <a:gd name="adj" fmla="val 8571"/>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1" name="Text 8"/>
          <p:cNvSpPr/>
          <p:nvPr/>
        </p:nvSpPr>
        <p:spPr>
          <a:xfrm>
            <a:off x="777240" y="5394960"/>
            <a:ext cx="10698480" cy="685800"/>
          </a:xfrm>
          <a:prstGeom prst="rect">
            <a:avLst/>
          </a:prstGeom>
          <a:noFill/>
          <a:ln/>
        </p:spPr>
        <p:txBody>
          <a:bodyPr wrap="square" rtlCol="0" anchor="ctr"/>
          <a:lstStyle/>
          <a:p>
            <a:pPr marL="0" indent="0">
              <a:buNone/>
            </a:pPr>
            <a:r>
              <a:rPr lang="en-US" sz="1250" i="1" dirty="0">
                <a:solidFill>
                  <a:srgbClr val="E8ECFA"/>
                </a:solidFill>
                <a:latin typeface="Calibri" pitchFamily="34" charset="0"/>
                <a:ea typeface="Calibri" pitchFamily="34" charset="-122"/>
                <a:cs typeface="Calibri" pitchFamily="34" charset="-120"/>
              </a:rPr>
              <a:t>💡  Being open-source and self-hostable means enterprise teams can automate without sending sensitive data to third-party cloud services.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9D7BFF">
              <a:alpha val="10000"/>
            </a:srgbClr>
          </a:solidFill>
          <a:ln/>
        </p:spPr>
      </p:sp>
      <p:sp>
        <p:nvSpPr>
          <p:cNvPr id="3" name="Shape 1"/>
          <p:cNvSpPr/>
          <p:nvPr/>
        </p:nvSpPr>
        <p:spPr>
          <a:xfrm>
            <a:off x="-1645920" y="5120640"/>
            <a:ext cx="3291840" cy="3291840"/>
          </a:xfrm>
          <a:prstGeom prst="ellipse">
            <a:avLst/>
          </a:prstGeom>
          <a:solidFill>
            <a:srgbClr val="9D7BFF">
              <a:alpha val="8000"/>
            </a:srgbClr>
          </a:solidFill>
          <a:ln/>
        </p:spPr>
      </p:sp>
      <p:sp>
        <p:nvSpPr>
          <p:cNvPr id="4" name="Shape 2"/>
          <p:cNvSpPr/>
          <p:nvPr/>
        </p:nvSpPr>
        <p:spPr>
          <a:xfrm>
            <a:off x="502920" y="457200"/>
            <a:ext cx="658368" cy="658368"/>
          </a:xfrm>
          <a:prstGeom prst="ellipse">
            <a:avLst/>
          </a:prstGeom>
          <a:solidFill>
            <a:srgbClr val="9D7BFF">
              <a:alpha val="22000"/>
            </a:srgbClr>
          </a:solidFill>
          <a:ln w="15875">
            <a:solidFill>
              <a:srgbClr val="9D7BFF"/>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9D7BFF"/>
                </a:solidFill>
                <a:latin typeface="Calibri" pitchFamily="34" charset="0"/>
                <a:ea typeface="Calibri" pitchFamily="34" charset="-122"/>
                <a:cs typeface="Calibri" pitchFamily="34" charset="-120"/>
              </a:rPr>
              <a:t>CONCEPT</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is Agentic AI?</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AI that thinks, plans &amp; acts autonomously</a:t>
            </a:r>
            <a:endParaRPr lang="en-US" sz="1350" dirty="0"/>
          </a:p>
        </p:txBody>
      </p:sp>
      <p:sp>
        <p:nvSpPr>
          <p:cNvPr id="9" name="Shape 7"/>
          <p:cNvSpPr/>
          <p:nvPr/>
        </p:nvSpPr>
        <p:spPr>
          <a:xfrm>
            <a:off x="502920" y="1691640"/>
            <a:ext cx="5532120" cy="2331720"/>
          </a:xfrm>
          <a:prstGeom prst="roundRect">
            <a:avLst>
              <a:gd name="adj" fmla="val 3529"/>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74520"/>
            <a:ext cx="5029200" cy="292608"/>
          </a:xfrm>
          <a:prstGeom prst="rect">
            <a:avLst/>
          </a:prstGeom>
          <a:noFill/>
          <a:ln/>
        </p:spPr>
        <p:txBody>
          <a:bodyPr wrap="square" rtlCol="0" anchor="ctr"/>
          <a:lstStyle/>
          <a:p>
            <a:pPr marL="0" indent="0">
              <a:buNone/>
            </a:pPr>
            <a:r>
              <a:rPr lang="en-US" sz="1300" b="1" kern="0" spc="100" dirty="0">
                <a:solidFill>
                  <a:srgbClr val="9D7BFF"/>
                </a:solidFill>
                <a:latin typeface="Calibri" pitchFamily="34" charset="0"/>
                <a:ea typeface="Calibri" pitchFamily="34" charset="-122"/>
                <a:cs typeface="Calibri" pitchFamily="34" charset="-120"/>
              </a:rPr>
              <a:t>📌  DEFINITION</a:t>
            </a:r>
            <a:endParaRPr lang="en-US" sz="1300" dirty="0"/>
          </a:p>
        </p:txBody>
      </p:sp>
      <p:sp>
        <p:nvSpPr>
          <p:cNvPr id="11" name="Text 9"/>
          <p:cNvSpPr/>
          <p:nvPr/>
        </p:nvSpPr>
        <p:spPr>
          <a:xfrm>
            <a:off x="777240" y="2240280"/>
            <a:ext cx="5029200" cy="1737360"/>
          </a:xfrm>
          <a:prstGeom prst="rect">
            <a:avLst/>
          </a:prstGeom>
          <a:noFill/>
          <a:ln/>
        </p:spPr>
        <p:txBody>
          <a:bodyPr wrap="square" rtlCol="0" anchor="t"/>
          <a:lstStyle/>
          <a:p>
            <a:pPr marL="0" indent="0">
              <a:lnSpc>
                <a:spcPct val="125000"/>
              </a:lnSpc>
              <a:buNone/>
            </a:pPr>
            <a:r>
              <a:rPr lang="en-US" sz="1250" dirty="0">
                <a:solidFill>
                  <a:srgbClr val="E8ECFA"/>
                </a:solidFill>
                <a:latin typeface="Calibri" pitchFamily="34" charset="0"/>
                <a:ea typeface="Calibri" pitchFamily="34" charset="-122"/>
                <a:cs typeface="Calibri" pitchFamily="34" charset="-120"/>
              </a:rPr>
              <a:t>Agentic AI refers to systems that autonomously perceive their environment, plan multi-step strategies, make decisions, use tools, execute actions, and adapt based on feedback — to achieve a goal with minimal human intervention.</a:t>
            </a:r>
            <a:endParaRPr lang="en-US" sz="1250" dirty="0"/>
          </a:p>
        </p:txBody>
      </p:sp>
      <p:sp>
        <p:nvSpPr>
          <p:cNvPr id="12" name="Shape 10"/>
          <p:cNvSpPr/>
          <p:nvPr/>
        </p:nvSpPr>
        <p:spPr>
          <a:xfrm>
            <a:off x="502920" y="4160520"/>
            <a:ext cx="5532120" cy="2011680"/>
          </a:xfrm>
          <a:prstGeom prst="roundRect">
            <a:avLst>
              <a:gd name="adj" fmla="val 4091"/>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3" name="Text 11"/>
          <p:cNvSpPr/>
          <p:nvPr/>
        </p:nvSpPr>
        <p:spPr>
          <a:xfrm>
            <a:off x="777240" y="4315968"/>
            <a:ext cx="5029200" cy="1737360"/>
          </a:xfrm>
          <a:prstGeom prst="rect">
            <a:avLst/>
          </a:prstGeom>
          <a:noFill/>
          <a:ln/>
        </p:spPr>
        <p:txBody>
          <a:bodyPr wrap="square" rtlCol="0" anchor="ctr"/>
          <a:lstStyle/>
          <a:p>
            <a:pPr marL="0" indent="0">
              <a:lnSpc>
                <a:spcPct val="130000"/>
              </a:lnSpc>
              <a:buNone/>
            </a:pPr>
            <a:r>
              <a:rPr lang="en-US" sz="1200" i="1" dirty="0">
                <a:solidFill>
                  <a:srgbClr val="E8ECFA"/>
                </a:solidFill>
                <a:latin typeface="Calibri" pitchFamily="34" charset="0"/>
                <a:ea typeface="Calibri" pitchFamily="34" charset="-122"/>
                <a:cs typeface="Calibri" pitchFamily="34" charset="-120"/>
              </a:rPr>
              <a:t>"Fix this bug" → Agent reads logs → finds root cause → writes fix → tests → creates ticket → notifies team — fully autonomous.</a:t>
            </a:r>
            <a:endParaRPr lang="en-US" sz="1200" dirty="0"/>
          </a:p>
        </p:txBody>
      </p:sp>
      <p:sp>
        <p:nvSpPr>
          <p:cNvPr id="14" name="Text 12"/>
          <p:cNvSpPr/>
          <p:nvPr/>
        </p:nvSpPr>
        <p:spPr>
          <a:xfrm>
            <a:off x="6355080" y="1691640"/>
            <a:ext cx="5486400" cy="292608"/>
          </a:xfrm>
          <a:prstGeom prst="rect">
            <a:avLst/>
          </a:prstGeom>
          <a:noFill/>
          <a:ln/>
        </p:spPr>
        <p:txBody>
          <a:bodyPr wrap="square" rtlCol="0" anchor="ctr"/>
          <a:lstStyle/>
          <a:p>
            <a:pPr marL="0" indent="0">
              <a:buNone/>
            </a:pPr>
            <a:r>
              <a:rPr lang="en-US" sz="1300" b="1" kern="0" spc="100" dirty="0">
                <a:solidFill>
                  <a:srgbClr val="9D7BFF"/>
                </a:solidFill>
                <a:latin typeface="Calibri" pitchFamily="34" charset="0"/>
                <a:ea typeface="Calibri" pitchFamily="34" charset="-122"/>
                <a:cs typeface="Calibri" pitchFamily="34" charset="-120"/>
              </a:rPr>
              <a:t>🔄  THE AGENT LOOP (ReAct Framework)</a:t>
            </a:r>
            <a:endParaRPr lang="en-US" sz="1300" dirty="0"/>
          </a:p>
        </p:txBody>
      </p:sp>
      <p:sp>
        <p:nvSpPr>
          <p:cNvPr id="15" name="Shape 13"/>
          <p:cNvSpPr/>
          <p:nvPr/>
        </p:nvSpPr>
        <p:spPr>
          <a:xfrm>
            <a:off x="7589520" y="2788920"/>
            <a:ext cx="2926080" cy="2926080"/>
          </a:xfrm>
          <a:prstGeom prst="ellipse">
            <a:avLst/>
          </a:prstGeom>
          <a:ln w="19050">
            <a:solidFill>
              <a:srgbClr val="2A3468"/>
            </a:solidFill>
            <a:prstDash val="dash"/>
          </a:ln>
        </p:spPr>
      </p:sp>
      <p:sp>
        <p:nvSpPr>
          <p:cNvPr id="16" name="Shape 14"/>
          <p:cNvSpPr/>
          <p:nvPr/>
        </p:nvSpPr>
        <p:spPr>
          <a:xfrm>
            <a:off x="8435340" y="2217420"/>
            <a:ext cx="1234440" cy="1234440"/>
          </a:xfrm>
          <a:prstGeom prst="ellipse">
            <a:avLst/>
          </a:prstGeom>
          <a:solidFill>
            <a:srgbClr val="9D7BFF">
              <a:alpha val="75000"/>
            </a:srgbClr>
          </a:solidFill>
          <a:ln w="19050">
            <a:solidFill>
              <a:srgbClr val="9D7BFF"/>
            </a:solidFill>
            <a:prstDash val="solid"/>
          </a:ln>
        </p:spPr>
      </p:sp>
      <p:sp>
        <p:nvSpPr>
          <p:cNvPr id="17" name="Text 15"/>
          <p:cNvSpPr/>
          <p:nvPr/>
        </p:nvSpPr>
        <p:spPr>
          <a:xfrm>
            <a:off x="8435340" y="2217420"/>
            <a:ext cx="123444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GOAL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GIVEN</a:t>
            </a:r>
            <a:endParaRPr lang="en-US" sz="1150" dirty="0"/>
          </a:p>
        </p:txBody>
      </p:sp>
      <p:sp>
        <p:nvSpPr>
          <p:cNvPr id="18" name="Shape 16"/>
          <p:cNvSpPr/>
          <p:nvPr/>
        </p:nvSpPr>
        <p:spPr>
          <a:xfrm>
            <a:off x="9852660" y="3634740"/>
            <a:ext cx="1234440" cy="1234440"/>
          </a:xfrm>
          <a:prstGeom prst="ellipse">
            <a:avLst/>
          </a:prstGeom>
          <a:solidFill>
            <a:srgbClr val="9D7BFF">
              <a:alpha val="75000"/>
            </a:srgbClr>
          </a:solidFill>
          <a:ln w="19050">
            <a:solidFill>
              <a:srgbClr val="9D7BFF"/>
            </a:solidFill>
            <a:prstDash val="solid"/>
          </a:ln>
        </p:spPr>
      </p:sp>
      <p:sp>
        <p:nvSpPr>
          <p:cNvPr id="19" name="Text 17"/>
          <p:cNvSpPr/>
          <p:nvPr/>
        </p:nvSpPr>
        <p:spPr>
          <a:xfrm>
            <a:off x="9852660" y="3634740"/>
            <a:ext cx="123444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PLAN</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(steps)</a:t>
            </a:r>
            <a:endParaRPr lang="en-US" sz="1150" dirty="0"/>
          </a:p>
        </p:txBody>
      </p:sp>
      <p:sp>
        <p:nvSpPr>
          <p:cNvPr id="20" name="Shape 18"/>
          <p:cNvSpPr/>
          <p:nvPr/>
        </p:nvSpPr>
        <p:spPr>
          <a:xfrm>
            <a:off x="8435340" y="5052060"/>
            <a:ext cx="1234440" cy="1234440"/>
          </a:xfrm>
          <a:prstGeom prst="ellipse">
            <a:avLst/>
          </a:prstGeom>
          <a:solidFill>
            <a:srgbClr val="9D7BFF">
              <a:alpha val="75000"/>
            </a:srgbClr>
          </a:solidFill>
          <a:ln w="19050">
            <a:solidFill>
              <a:srgbClr val="9D7BFF"/>
            </a:solidFill>
            <a:prstDash val="solid"/>
          </a:ln>
        </p:spPr>
      </p:sp>
      <p:sp>
        <p:nvSpPr>
          <p:cNvPr id="21" name="Text 19"/>
          <p:cNvSpPr/>
          <p:nvPr/>
        </p:nvSpPr>
        <p:spPr>
          <a:xfrm>
            <a:off x="8435340" y="5052060"/>
            <a:ext cx="123444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ACT</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(tool/API)</a:t>
            </a:r>
            <a:endParaRPr lang="en-US" sz="1150" dirty="0"/>
          </a:p>
        </p:txBody>
      </p:sp>
      <p:sp>
        <p:nvSpPr>
          <p:cNvPr id="22" name="Shape 20"/>
          <p:cNvSpPr/>
          <p:nvPr/>
        </p:nvSpPr>
        <p:spPr>
          <a:xfrm>
            <a:off x="7018020" y="3634740"/>
            <a:ext cx="1234440" cy="1234440"/>
          </a:xfrm>
          <a:prstGeom prst="ellipse">
            <a:avLst/>
          </a:prstGeom>
          <a:solidFill>
            <a:srgbClr val="9D7BFF">
              <a:alpha val="75000"/>
            </a:srgbClr>
          </a:solidFill>
          <a:ln w="19050">
            <a:solidFill>
              <a:srgbClr val="9D7BFF"/>
            </a:solidFill>
            <a:prstDash val="solid"/>
          </a:ln>
        </p:spPr>
      </p:sp>
      <p:sp>
        <p:nvSpPr>
          <p:cNvPr id="23" name="Text 21"/>
          <p:cNvSpPr/>
          <p:nvPr/>
        </p:nvSpPr>
        <p:spPr>
          <a:xfrm>
            <a:off x="7018020" y="3634740"/>
            <a:ext cx="123444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OBSERVE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p>
        </p:txBody>
      </p:sp>
      <p:sp>
        <p:nvSpPr>
          <p:cNvPr id="24" name="Text 22"/>
          <p:cNvSpPr/>
          <p:nvPr/>
        </p:nvSpPr>
        <p:spPr>
          <a:xfrm>
            <a:off x="8138160" y="3867912"/>
            <a:ext cx="1828800" cy="768096"/>
          </a:xfrm>
          <a:prstGeom prst="rect">
            <a:avLst/>
          </a:prstGeom>
          <a:noFill/>
          <a:ln/>
        </p:spPr>
        <p:txBody>
          <a:bodyPr wrap="square" rtlCol="0" anchor="ctr"/>
          <a:lstStyle/>
          <a:p>
            <a:pPr marL="0" indent="0" algn="ctr">
              <a:buNone/>
            </a:pPr>
            <a:r>
              <a:rPr lang="en-US" sz="950" i="1" dirty="0">
                <a:solidFill>
                  <a:srgbClr val="94A0C7"/>
                </a:solidFill>
                <a:latin typeface="Calibri" pitchFamily="34" charset="0"/>
                <a:ea typeface="Calibri" pitchFamily="34" charset="-122"/>
                <a:cs typeface="Calibri" pitchFamily="34" charset="-120"/>
              </a:rPr>
              <a:t>REFLECT: is goal met?</a:t>
            </a:r>
            <a:endParaRPr lang="en-US" sz="950" dirty="0"/>
          </a:p>
          <a:p>
            <a:pPr marL="0" indent="0" algn="ctr">
              <a:buNone/>
            </a:pPr>
            <a:r>
              <a:rPr lang="en-US" sz="950" i="1" dirty="0">
                <a:solidFill>
                  <a:srgbClr val="94A0C7"/>
                </a:solidFill>
                <a:latin typeface="Calibri" pitchFamily="34" charset="0"/>
                <a:ea typeface="Calibri" pitchFamily="34" charset="-122"/>
                <a:cs typeface="Calibri" pitchFamily="34" charset="-120"/>
              </a:rPr>
              <a:t>repeats until achieved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9D7BFF">
              <a:alpha val="10000"/>
            </a:srgbClr>
          </a:solidFill>
          <a:ln/>
        </p:spPr>
      </p:sp>
      <p:sp>
        <p:nvSpPr>
          <p:cNvPr id="3" name="Shape 1"/>
          <p:cNvSpPr/>
          <p:nvPr/>
        </p:nvSpPr>
        <p:spPr>
          <a:xfrm>
            <a:off x="-1645920" y="5120640"/>
            <a:ext cx="3291840" cy="3291840"/>
          </a:xfrm>
          <a:prstGeom prst="ellipse">
            <a:avLst/>
          </a:prstGeom>
          <a:solidFill>
            <a:srgbClr val="9D7BFF">
              <a:alpha val="8000"/>
            </a:srgbClr>
          </a:solidFill>
          <a:ln/>
        </p:spPr>
      </p:sp>
      <p:sp>
        <p:nvSpPr>
          <p:cNvPr id="4" name="Shape 2"/>
          <p:cNvSpPr/>
          <p:nvPr/>
        </p:nvSpPr>
        <p:spPr>
          <a:xfrm>
            <a:off x="502920" y="457200"/>
            <a:ext cx="658368" cy="658368"/>
          </a:xfrm>
          <a:prstGeom prst="ellipse">
            <a:avLst/>
          </a:prstGeom>
          <a:solidFill>
            <a:srgbClr val="9D7BFF">
              <a:alpha val="22000"/>
            </a:srgbClr>
          </a:solidFill>
          <a:ln w="15875">
            <a:solidFill>
              <a:srgbClr val="9D7BFF"/>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9D7BFF"/>
                </a:solidFill>
                <a:latin typeface="Calibri" pitchFamily="34" charset="0"/>
                <a:ea typeface="Calibri" pitchFamily="34" charset="-122"/>
                <a:cs typeface="Calibri" pitchFamily="34" charset="-120"/>
              </a:rPr>
              <a:t>CONCEPT · DEEP DIVE</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Agentic AI — 5 Core Components</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How a complete AI agent system is built</a:t>
            </a:r>
            <a:endParaRPr lang="en-US" sz="1350" dirty="0"/>
          </a:p>
        </p:txBody>
      </p:sp>
      <p:sp>
        <p:nvSpPr>
          <p:cNvPr id="9" name="Shape 7"/>
          <p:cNvSpPr/>
          <p:nvPr/>
        </p:nvSpPr>
        <p:spPr>
          <a:xfrm>
            <a:off x="502920" y="1828800"/>
            <a:ext cx="2148840" cy="3017520"/>
          </a:xfrm>
          <a:prstGeom prst="roundRect">
            <a:avLst>
              <a:gd name="adj" fmla="val 38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Shape 8"/>
          <p:cNvSpPr/>
          <p:nvPr/>
        </p:nvSpPr>
        <p:spPr>
          <a:xfrm>
            <a:off x="1234440" y="2057400"/>
            <a:ext cx="685800" cy="685800"/>
          </a:xfrm>
          <a:prstGeom prst="ellipse">
            <a:avLst/>
          </a:prstGeom>
          <a:solidFill>
            <a:srgbClr val="E07856">
              <a:alpha val="22000"/>
            </a:srgbClr>
          </a:solidFill>
          <a:ln w="15875">
            <a:solidFill>
              <a:srgbClr val="E07856"/>
            </a:solidFill>
            <a:prstDash val="solid"/>
          </a:ln>
        </p:spPr>
      </p:sp>
      <p:sp>
        <p:nvSpPr>
          <p:cNvPr id="11" name="Text 9"/>
          <p:cNvSpPr/>
          <p:nvPr/>
        </p:nvSpPr>
        <p:spPr>
          <a:xfrm>
            <a:off x="1234440" y="2039112"/>
            <a:ext cx="685800" cy="685800"/>
          </a:xfrm>
          <a:prstGeom prst="rect">
            <a:avLst/>
          </a:prstGeom>
          <a:noFill/>
          <a:ln/>
        </p:spPr>
        <p:txBody>
          <a:bodyPr wrap="square" rtlCol="0" anchor="ctr"/>
          <a:lstStyle/>
          <a:p>
            <a:pPr marL="0" indent="0" algn="ctr">
              <a:buNone/>
            </a:pPr>
            <a:r>
              <a:rPr lang="en-US" sz="1950" dirty="0">
                <a:solidFill>
                  <a:srgbClr val="000000"/>
                </a:solidFill>
              </a:rPr>
              <a:t>🧠</a:t>
            </a:r>
            <a:endParaRPr lang="en-US" sz="1950" dirty="0"/>
          </a:p>
        </p:txBody>
      </p:sp>
      <p:sp>
        <p:nvSpPr>
          <p:cNvPr id="12" name="Text 10"/>
          <p:cNvSpPr/>
          <p:nvPr/>
        </p:nvSpPr>
        <p:spPr>
          <a:xfrm>
            <a:off x="612648" y="2880360"/>
            <a:ext cx="1929384" cy="502920"/>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Brain — LLM Core</a:t>
            </a:r>
            <a:endParaRPr lang="en-US" sz="1200" dirty="0"/>
          </a:p>
        </p:txBody>
      </p:sp>
      <p:sp>
        <p:nvSpPr>
          <p:cNvPr id="13" name="Text 11"/>
          <p:cNvSpPr/>
          <p:nvPr/>
        </p:nvSpPr>
        <p:spPr>
          <a:xfrm>
            <a:off x="640080" y="3383280"/>
            <a:ext cx="1874520" cy="1325880"/>
          </a:xfrm>
          <a:prstGeom prst="rect">
            <a:avLst/>
          </a:prstGeom>
          <a:noFill/>
          <a:ln/>
        </p:spPr>
        <p:txBody>
          <a:bodyPr wrap="square" rtlCol="0" anchor="t"/>
          <a:lstStyle/>
          <a:p>
            <a:pPr marL="0" indent="0" algn="ctr">
              <a:lnSpc>
                <a:spcPct val="120000"/>
              </a:lnSpc>
              <a:buNone/>
            </a:pPr>
            <a:r>
              <a:rPr lang="en-US" sz="1000" dirty="0">
                <a:solidFill>
                  <a:srgbClr val="94A0C7"/>
                </a:solidFill>
                <a:latin typeface="Calibri" pitchFamily="34" charset="0"/>
                <a:ea typeface="Calibri" pitchFamily="34" charset="-122"/>
                <a:cs typeface="Calibri" pitchFamily="34" charset="-120"/>
              </a:rPr>
              <a:t>Central reasoning engine. In our system: Claude.</a:t>
            </a:r>
            <a:endParaRPr lang="en-US" sz="1000" dirty="0"/>
          </a:p>
        </p:txBody>
      </p:sp>
      <p:sp>
        <p:nvSpPr>
          <p:cNvPr id="14" name="Shape 12"/>
          <p:cNvSpPr/>
          <p:nvPr/>
        </p:nvSpPr>
        <p:spPr>
          <a:xfrm>
            <a:off x="2761488" y="1828800"/>
            <a:ext cx="2148840" cy="3017520"/>
          </a:xfrm>
          <a:prstGeom prst="roundRect">
            <a:avLst>
              <a:gd name="adj" fmla="val 38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5" name="Shape 13"/>
          <p:cNvSpPr/>
          <p:nvPr/>
        </p:nvSpPr>
        <p:spPr>
          <a:xfrm>
            <a:off x="3493008" y="2057400"/>
            <a:ext cx="685800" cy="685800"/>
          </a:xfrm>
          <a:prstGeom prst="ellipse">
            <a:avLst/>
          </a:prstGeom>
          <a:solidFill>
            <a:srgbClr val="3B82F6">
              <a:alpha val="22000"/>
            </a:srgbClr>
          </a:solidFill>
          <a:ln w="15875">
            <a:solidFill>
              <a:srgbClr val="3B82F6"/>
            </a:solidFill>
            <a:prstDash val="solid"/>
          </a:ln>
        </p:spPr>
      </p:sp>
      <p:sp>
        <p:nvSpPr>
          <p:cNvPr id="16" name="Text 14"/>
          <p:cNvSpPr/>
          <p:nvPr/>
        </p:nvSpPr>
        <p:spPr>
          <a:xfrm>
            <a:off x="3493008" y="2039112"/>
            <a:ext cx="685800" cy="685800"/>
          </a:xfrm>
          <a:prstGeom prst="rect">
            <a:avLst/>
          </a:prstGeom>
          <a:noFill/>
          <a:ln/>
        </p:spPr>
        <p:txBody>
          <a:bodyPr wrap="square" rtlCol="0" anchor="ctr"/>
          <a:lstStyle/>
          <a:p>
            <a:pPr marL="0" indent="0" algn="ctr">
              <a:buNone/>
            </a:pPr>
            <a:r>
              <a:rPr lang="en-US" sz="1950" dirty="0">
                <a:solidFill>
                  <a:srgbClr val="000000"/>
                </a:solidFill>
              </a:rPr>
              <a:t>💾</a:t>
            </a:r>
            <a:endParaRPr lang="en-US" sz="1950" dirty="0"/>
          </a:p>
        </p:txBody>
      </p:sp>
      <p:sp>
        <p:nvSpPr>
          <p:cNvPr id="17" name="Text 15"/>
          <p:cNvSpPr/>
          <p:nvPr/>
        </p:nvSpPr>
        <p:spPr>
          <a:xfrm>
            <a:off x="2871216" y="2880360"/>
            <a:ext cx="1929384" cy="502920"/>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Memory — Context Storage</a:t>
            </a:r>
            <a:endParaRPr lang="en-US" sz="1200" dirty="0"/>
          </a:p>
        </p:txBody>
      </p:sp>
      <p:sp>
        <p:nvSpPr>
          <p:cNvPr id="18" name="Text 16"/>
          <p:cNvSpPr/>
          <p:nvPr/>
        </p:nvSpPr>
        <p:spPr>
          <a:xfrm>
            <a:off x="2898648" y="3383280"/>
            <a:ext cx="1874520" cy="1325880"/>
          </a:xfrm>
          <a:prstGeom prst="rect">
            <a:avLst/>
          </a:prstGeom>
          <a:noFill/>
          <a:ln/>
        </p:spPr>
        <p:txBody>
          <a:bodyPr wrap="square" rtlCol="0" anchor="t"/>
          <a:lstStyle/>
          <a:p>
            <a:pPr marL="0" indent="0" algn="ctr">
              <a:lnSpc>
                <a:spcPct val="120000"/>
              </a:lnSpc>
              <a:buNone/>
            </a:pPr>
            <a:r>
              <a:rPr lang="en-US" sz="1000" dirty="0">
                <a:solidFill>
                  <a:srgbClr val="94A0C7"/>
                </a:solidFill>
                <a:latin typeface="Calibri" pitchFamily="34" charset="0"/>
                <a:ea typeface="Calibri" pitchFamily="34" charset="-122"/>
                <a:cs typeface="Calibri" pitchFamily="34" charset="-120"/>
              </a:rPr>
              <a:t>Short &amp; long-term context. N8N passes context; vector DB stores history.</a:t>
            </a:r>
            <a:endParaRPr lang="en-US" sz="1000" dirty="0"/>
          </a:p>
        </p:txBody>
      </p:sp>
      <p:sp>
        <p:nvSpPr>
          <p:cNvPr id="19" name="Shape 17"/>
          <p:cNvSpPr/>
          <p:nvPr/>
        </p:nvSpPr>
        <p:spPr>
          <a:xfrm>
            <a:off x="5020056" y="1828800"/>
            <a:ext cx="2148840" cy="3017520"/>
          </a:xfrm>
          <a:prstGeom prst="roundRect">
            <a:avLst>
              <a:gd name="adj" fmla="val 38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20" name="Shape 18"/>
          <p:cNvSpPr/>
          <p:nvPr/>
        </p:nvSpPr>
        <p:spPr>
          <a:xfrm>
            <a:off x="5751576" y="2057400"/>
            <a:ext cx="685800" cy="685800"/>
          </a:xfrm>
          <a:prstGeom prst="ellipse">
            <a:avLst/>
          </a:prstGeom>
          <a:solidFill>
            <a:srgbClr val="1FD1A8">
              <a:alpha val="22000"/>
            </a:srgbClr>
          </a:solidFill>
          <a:ln w="15875">
            <a:solidFill>
              <a:srgbClr val="1FD1A8"/>
            </a:solidFill>
            <a:prstDash val="solid"/>
          </a:ln>
        </p:spPr>
      </p:sp>
      <p:sp>
        <p:nvSpPr>
          <p:cNvPr id="21" name="Text 19"/>
          <p:cNvSpPr/>
          <p:nvPr/>
        </p:nvSpPr>
        <p:spPr>
          <a:xfrm>
            <a:off x="5751576" y="2039112"/>
            <a:ext cx="685800" cy="685800"/>
          </a:xfrm>
          <a:prstGeom prst="rect">
            <a:avLst/>
          </a:prstGeom>
          <a:noFill/>
          <a:ln/>
        </p:spPr>
        <p:txBody>
          <a:bodyPr wrap="square" rtlCol="0" anchor="ctr"/>
          <a:lstStyle/>
          <a:p>
            <a:pPr marL="0" indent="0" algn="ctr">
              <a:buNone/>
            </a:pPr>
            <a:r>
              <a:rPr lang="en-US" sz="1950" dirty="0">
                <a:solidFill>
                  <a:srgbClr val="000000"/>
                </a:solidFill>
              </a:rPr>
              <a:t>🛠️</a:t>
            </a:r>
            <a:endParaRPr lang="en-US" sz="1950" dirty="0"/>
          </a:p>
        </p:txBody>
      </p:sp>
      <p:sp>
        <p:nvSpPr>
          <p:cNvPr id="22" name="Text 20"/>
          <p:cNvSpPr/>
          <p:nvPr/>
        </p:nvSpPr>
        <p:spPr>
          <a:xfrm>
            <a:off x="5129784" y="2880360"/>
            <a:ext cx="1929384" cy="502920"/>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Tools — External Capabilities</a:t>
            </a:r>
            <a:endParaRPr lang="en-US" sz="1200" dirty="0"/>
          </a:p>
        </p:txBody>
      </p:sp>
      <p:sp>
        <p:nvSpPr>
          <p:cNvPr id="23" name="Text 21"/>
          <p:cNvSpPr/>
          <p:nvPr/>
        </p:nvSpPr>
        <p:spPr>
          <a:xfrm>
            <a:off x="5157216" y="3383280"/>
            <a:ext cx="1874520" cy="1325880"/>
          </a:xfrm>
          <a:prstGeom prst="rect">
            <a:avLst/>
          </a:prstGeom>
          <a:noFill/>
          <a:ln/>
        </p:spPr>
        <p:txBody>
          <a:bodyPr wrap="square" rtlCol="0" anchor="t"/>
          <a:lstStyle/>
          <a:p>
            <a:pPr marL="0" indent="0" algn="ctr">
              <a:lnSpc>
                <a:spcPct val="120000"/>
              </a:lnSpc>
              <a:buNone/>
            </a:pPr>
            <a:r>
              <a:rPr lang="en-US" sz="1000" dirty="0">
                <a:solidFill>
                  <a:srgbClr val="94A0C7"/>
                </a:solidFill>
                <a:latin typeface="Calibri" pitchFamily="34" charset="0"/>
                <a:ea typeface="Calibri" pitchFamily="34" charset="-122"/>
                <a:cs typeface="Calibri" pitchFamily="34" charset="-120"/>
              </a:rPr>
              <a:t>APIs the agent can call. In our system: Jira, Slack, email, GitHub.</a:t>
            </a:r>
            <a:endParaRPr lang="en-US" sz="1000" dirty="0"/>
          </a:p>
        </p:txBody>
      </p:sp>
      <p:sp>
        <p:nvSpPr>
          <p:cNvPr id="24" name="Shape 22"/>
          <p:cNvSpPr/>
          <p:nvPr/>
        </p:nvSpPr>
        <p:spPr>
          <a:xfrm>
            <a:off x="7278624" y="1828800"/>
            <a:ext cx="2148840" cy="3017520"/>
          </a:xfrm>
          <a:prstGeom prst="roundRect">
            <a:avLst>
              <a:gd name="adj" fmla="val 38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25" name="Shape 23"/>
          <p:cNvSpPr/>
          <p:nvPr/>
        </p:nvSpPr>
        <p:spPr>
          <a:xfrm>
            <a:off x="8010144" y="2057400"/>
            <a:ext cx="685800" cy="685800"/>
          </a:xfrm>
          <a:prstGeom prst="ellipse">
            <a:avLst/>
          </a:prstGeom>
          <a:solidFill>
            <a:srgbClr val="FFB930">
              <a:alpha val="22000"/>
            </a:srgbClr>
          </a:solidFill>
          <a:ln w="15875">
            <a:solidFill>
              <a:srgbClr val="FFB930"/>
            </a:solidFill>
            <a:prstDash val="solid"/>
          </a:ln>
        </p:spPr>
      </p:sp>
      <p:sp>
        <p:nvSpPr>
          <p:cNvPr id="26" name="Text 24"/>
          <p:cNvSpPr/>
          <p:nvPr/>
        </p:nvSpPr>
        <p:spPr>
          <a:xfrm>
            <a:off x="8010144" y="2039112"/>
            <a:ext cx="685800" cy="685800"/>
          </a:xfrm>
          <a:prstGeom prst="rect">
            <a:avLst/>
          </a:prstGeom>
          <a:noFill/>
          <a:ln/>
        </p:spPr>
        <p:txBody>
          <a:bodyPr wrap="square" rtlCol="0" anchor="ctr"/>
          <a:lstStyle/>
          <a:p>
            <a:pPr marL="0" indent="0" algn="ctr">
              <a:buNone/>
            </a:pPr>
            <a:r>
              <a:rPr lang="en-US" sz="1950" dirty="0">
                <a:solidFill>
                  <a:srgbClr val="000000"/>
                </a:solidFill>
              </a:rPr>
              <a:t>📋</a:t>
            </a:r>
            <a:endParaRPr lang="en-US" sz="1950" dirty="0"/>
          </a:p>
        </p:txBody>
      </p:sp>
      <p:sp>
        <p:nvSpPr>
          <p:cNvPr id="27" name="Text 25"/>
          <p:cNvSpPr/>
          <p:nvPr/>
        </p:nvSpPr>
        <p:spPr>
          <a:xfrm>
            <a:off x="7388352" y="2880360"/>
            <a:ext cx="1929384" cy="502920"/>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Planner — Task Decomposition</a:t>
            </a:r>
            <a:endParaRPr lang="en-US" sz="1200" dirty="0"/>
          </a:p>
        </p:txBody>
      </p:sp>
      <p:sp>
        <p:nvSpPr>
          <p:cNvPr id="28" name="Text 26"/>
          <p:cNvSpPr/>
          <p:nvPr/>
        </p:nvSpPr>
        <p:spPr>
          <a:xfrm>
            <a:off x="7415784" y="3383280"/>
            <a:ext cx="1874520" cy="1325880"/>
          </a:xfrm>
          <a:prstGeom prst="rect">
            <a:avLst/>
          </a:prstGeom>
          <a:noFill/>
          <a:ln/>
        </p:spPr>
        <p:txBody>
          <a:bodyPr wrap="square" rtlCol="0" anchor="t"/>
          <a:lstStyle/>
          <a:p>
            <a:pPr marL="0" indent="0" algn="ctr">
              <a:lnSpc>
                <a:spcPct val="120000"/>
              </a:lnSpc>
              <a:buNone/>
            </a:pPr>
            <a:r>
              <a:rPr lang="en-US" sz="1000" dirty="0">
                <a:solidFill>
                  <a:srgbClr val="94A0C7"/>
                </a:solidFill>
                <a:latin typeface="Calibri" pitchFamily="34" charset="0"/>
                <a:ea typeface="Calibri" pitchFamily="34" charset="-122"/>
                <a:cs typeface="Calibri" pitchFamily="34" charset="-120"/>
              </a:rPr>
              <a:t>Breaks goals into sub-tasks using ReAct / Chain-of-Thought.</a:t>
            </a:r>
            <a:endParaRPr lang="en-US" sz="1000" dirty="0"/>
          </a:p>
        </p:txBody>
      </p:sp>
      <p:sp>
        <p:nvSpPr>
          <p:cNvPr id="29" name="Shape 27"/>
          <p:cNvSpPr/>
          <p:nvPr/>
        </p:nvSpPr>
        <p:spPr>
          <a:xfrm>
            <a:off x="9537192" y="1828800"/>
            <a:ext cx="2148840" cy="3017520"/>
          </a:xfrm>
          <a:prstGeom prst="roundRect">
            <a:avLst>
              <a:gd name="adj" fmla="val 38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30" name="Shape 28"/>
          <p:cNvSpPr/>
          <p:nvPr/>
        </p:nvSpPr>
        <p:spPr>
          <a:xfrm>
            <a:off x="10268712" y="2057400"/>
            <a:ext cx="685800" cy="685800"/>
          </a:xfrm>
          <a:prstGeom prst="ellipse">
            <a:avLst/>
          </a:prstGeom>
          <a:solidFill>
            <a:srgbClr val="FF6B81">
              <a:alpha val="22000"/>
            </a:srgbClr>
          </a:solidFill>
          <a:ln w="15875">
            <a:solidFill>
              <a:srgbClr val="FF6B81"/>
            </a:solidFill>
            <a:prstDash val="solid"/>
          </a:ln>
        </p:spPr>
      </p:sp>
      <p:sp>
        <p:nvSpPr>
          <p:cNvPr id="31" name="Text 29"/>
          <p:cNvSpPr/>
          <p:nvPr/>
        </p:nvSpPr>
        <p:spPr>
          <a:xfrm>
            <a:off x="10268712" y="2039112"/>
            <a:ext cx="685800" cy="685800"/>
          </a:xfrm>
          <a:prstGeom prst="rect">
            <a:avLst/>
          </a:prstGeom>
          <a:noFill/>
          <a:ln/>
        </p:spPr>
        <p:txBody>
          <a:bodyPr wrap="square" rtlCol="0" anchor="ctr"/>
          <a:lstStyle/>
          <a:p>
            <a:pPr marL="0" indent="0" algn="ctr">
              <a:buNone/>
            </a:pPr>
            <a:r>
              <a:rPr lang="en-US" sz="1950" dirty="0">
                <a:solidFill>
                  <a:srgbClr val="000000"/>
                </a:solidFill>
              </a:rPr>
              <a:t>👀</a:t>
            </a:r>
            <a:endParaRPr lang="en-US" sz="1950" dirty="0"/>
          </a:p>
        </p:txBody>
      </p:sp>
      <p:sp>
        <p:nvSpPr>
          <p:cNvPr id="32" name="Text 30"/>
          <p:cNvSpPr/>
          <p:nvPr/>
        </p:nvSpPr>
        <p:spPr>
          <a:xfrm>
            <a:off x="9646920" y="2880360"/>
            <a:ext cx="1929384" cy="502920"/>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Perception — Input Understanding</a:t>
            </a:r>
            <a:endParaRPr lang="en-US" sz="1200" dirty="0"/>
          </a:p>
        </p:txBody>
      </p:sp>
      <p:sp>
        <p:nvSpPr>
          <p:cNvPr id="33" name="Text 31"/>
          <p:cNvSpPr/>
          <p:nvPr/>
        </p:nvSpPr>
        <p:spPr>
          <a:xfrm>
            <a:off x="9674352" y="3383280"/>
            <a:ext cx="1874520" cy="1325880"/>
          </a:xfrm>
          <a:prstGeom prst="rect">
            <a:avLst/>
          </a:prstGeom>
          <a:noFill/>
          <a:ln/>
        </p:spPr>
        <p:txBody>
          <a:bodyPr wrap="square" rtlCol="0" anchor="t"/>
          <a:lstStyle/>
          <a:p>
            <a:pPr marL="0" indent="0" algn="ctr">
              <a:lnSpc>
                <a:spcPct val="120000"/>
              </a:lnSpc>
              <a:buNone/>
            </a:pPr>
            <a:r>
              <a:rPr lang="en-US" sz="1000" dirty="0">
                <a:solidFill>
                  <a:srgbClr val="94A0C7"/>
                </a:solidFill>
                <a:latin typeface="Calibri" pitchFamily="34" charset="0"/>
                <a:ea typeface="Calibri" pitchFamily="34" charset="-122"/>
                <a:cs typeface="Calibri" pitchFamily="34" charset="-120"/>
              </a:rPr>
              <a:t>Reads text, images, structured data. Claude reads emails, code, alerts.</a:t>
            </a:r>
            <a:endParaRPr lang="en-US" sz="1000" dirty="0"/>
          </a:p>
        </p:txBody>
      </p:sp>
      <p:sp>
        <p:nvSpPr>
          <p:cNvPr id="34" name="Shape 32"/>
          <p:cNvSpPr/>
          <p:nvPr/>
        </p:nvSpPr>
        <p:spPr>
          <a:xfrm>
            <a:off x="502920" y="5074920"/>
            <a:ext cx="11201400" cy="1051560"/>
          </a:xfrm>
          <a:prstGeom prst="roundRect">
            <a:avLst>
              <a:gd name="adj" fmla="val 7826"/>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35" name="Text 33"/>
          <p:cNvSpPr/>
          <p:nvPr/>
        </p:nvSpPr>
        <p:spPr>
          <a:xfrm>
            <a:off x="777240" y="5212080"/>
            <a:ext cx="10698480" cy="777240"/>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  HOW THEY CONNECT:  Perception feeds the Brain → Planner decomposes the goal → Tools execute steps → Memory stores context → loop continues.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1FD1A8">
              <a:alpha val="10000"/>
            </a:srgbClr>
          </a:solidFill>
          <a:ln/>
        </p:spPr>
      </p:sp>
      <p:sp>
        <p:nvSpPr>
          <p:cNvPr id="3" name="Shape 1"/>
          <p:cNvSpPr/>
          <p:nvPr/>
        </p:nvSpPr>
        <p:spPr>
          <a:xfrm>
            <a:off x="-1645920" y="5120640"/>
            <a:ext cx="3291840" cy="3291840"/>
          </a:xfrm>
          <a:prstGeom prst="ellipse">
            <a:avLst/>
          </a:prstGeom>
          <a:solidFill>
            <a:srgbClr val="1FD1A8">
              <a:alpha val="8000"/>
            </a:srgbClr>
          </a:solidFill>
          <a:ln/>
        </p:spPr>
      </p:sp>
      <p:sp>
        <p:nvSpPr>
          <p:cNvPr id="4" name="Shape 2"/>
          <p:cNvSpPr/>
          <p:nvPr/>
        </p:nvSpPr>
        <p:spPr>
          <a:xfrm>
            <a:off x="502920" y="457200"/>
            <a:ext cx="658368" cy="658368"/>
          </a:xfrm>
          <a:prstGeom prst="ellipse">
            <a:avLst/>
          </a:prstGeom>
          <a:solidFill>
            <a:srgbClr val="1FD1A8">
              <a:alpha val="22000"/>
            </a:srgbClr>
          </a:solidFill>
          <a:ln w="15875">
            <a:solidFill>
              <a:srgbClr val="1FD1A8"/>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1FD1A8"/>
                </a:solidFill>
                <a:latin typeface="Calibri" pitchFamily="34" charset="0"/>
                <a:ea typeface="Calibri" pitchFamily="34" charset="-122"/>
                <a:cs typeface="Calibri" pitchFamily="34" charset="-120"/>
              </a:rPr>
              <a:t>INTEGRATION</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All 4 Tools Co-Work</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The complete AI automation ecosystem</a:t>
            </a:r>
            <a:endParaRPr lang="en-US" sz="1350" dirty="0"/>
          </a:p>
        </p:txBody>
      </p:sp>
      <p:sp>
        <p:nvSpPr>
          <p:cNvPr id="9" name="Shape 7"/>
          <p:cNvSpPr/>
          <p:nvPr/>
        </p:nvSpPr>
        <p:spPr>
          <a:xfrm>
            <a:off x="502920" y="1783080"/>
            <a:ext cx="2697480" cy="2651760"/>
          </a:xfrm>
          <a:prstGeom prst="roundRect">
            <a:avLst>
              <a:gd name="adj" fmla="val 3103"/>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Shape 8"/>
          <p:cNvSpPr/>
          <p:nvPr/>
        </p:nvSpPr>
        <p:spPr>
          <a:xfrm>
            <a:off x="1531620" y="1984248"/>
            <a:ext cx="640080" cy="640080"/>
          </a:xfrm>
          <a:prstGeom prst="ellipse">
            <a:avLst/>
          </a:prstGeom>
          <a:solidFill>
            <a:srgbClr val="FFB930">
              <a:alpha val="22000"/>
            </a:srgbClr>
          </a:solidFill>
          <a:ln w="15875">
            <a:solidFill>
              <a:srgbClr val="FFB930"/>
            </a:solidFill>
            <a:prstDash val="solid"/>
          </a:ln>
        </p:spPr>
      </p:sp>
      <p:sp>
        <p:nvSpPr>
          <p:cNvPr id="11" name="Text 9"/>
          <p:cNvSpPr/>
          <p:nvPr/>
        </p:nvSpPr>
        <p:spPr>
          <a:xfrm>
            <a:off x="1531620" y="1965960"/>
            <a:ext cx="640080" cy="640080"/>
          </a:xfrm>
          <a:prstGeom prst="rect">
            <a:avLst/>
          </a:prstGeom>
          <a:noFill/>
          <a:ln/>
        </p:spPr>
        <p:txBody>
          <a:bodyPr wrap="square" rtlCol="0" anchor="ctr"/>
          <a:lstStyle/>
          <a:p>
            <a:pPr marL="0" indent="0" algn="ctr">
              <a:buNone/>
            </a:pPr>
            <a:r>
              <a:rPr lang="en-US" sz="1820" dirty="0">
                <a:solidFill>
                  <a:srgbClr val="000000"/>
                </a:solidFill>
              </a:rPr>
              <a:t>🏆</a:t>
            </a:r>
            <a:endParaRPr lang="en-US" sz="1820" dirty="0"/>
          </a:p>
        </p:txBody>
      </p:sp>
      <p:sp>
        <p:nvSpPr>
          <p:cNvPr id="12" name="Text 10"/>
          <p:cNvSpPr/>
          <p:nvPr/>
        </p:nvSpPr>
        <p:spPr>
          <a:xfrm>
            <a:off x="594360" y="2697480"/>
            <a:ext cx="2514600" cy="274320"/>
          </a:xfrm>
          <a:prstGeom prst="rect">
            <a:avLst/>
          </a:prstGeom>
          <a:noFill/>
          <a:ln/>
        </p:spPr>
        <p:txBody>
          <a:bodyPr wrap="square" rtlCol="0" anchor="ctr"/>
          <a:lstStyle/>
          <a:p>
            <a:pPr marL="0" indent="0" algn="ctr">
              <a:buNone/>
            </a:pPr>
            <a:r>
              <a:rPr lang="en-US" sz="950" b="1" kern="0" spc="100" dirty="0">
                <a:solidFill>
                  <a:srgbClr val="FFB930"/>
                </a:solidFill>
                <a:latin typeface="Calibri" pitchFamily="34" charset="0"/>
                <a:ea typeface="Calibri" pitchFamily="34" charset="-122"/>
                <a:cs typeface="Calibri" pitchFamily="34" charset="-120"/>
              </a:rPr>
              <a:t>LAYER 1 — DECISION</a:t>
            </a:r>
            <a:endParaRPr lang="en-US" sz="950" dirty="0"/>
          </a:p>
        </p:txBody>
      </p:sp>
      <p:sp>
        <p:nvSpPr>
          <p:cNvPr id="13" name="Text 11"/>
          <p:cNvSpPr/>
          <p:nvPr/>
        </p:nvSpPr>
        <p:spPr>
          <a:xfrm>
            <a:off x="594360" y="2971800"/>
            <a:ext cx="2514600" cy="36576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LM Arena</a:t>
            </a:r>
            <a:endParaRPr lang="en-US" sz="1700" dirty="0"/>
          </a:p>
        </p:txBody>
      </p:sp>
      <p:sp>
        <p:nvSpPr>
          <p:cNvPr id="14" name="Text 12"/>
          <p:cNvSpPr/>
          <p:nvPr/>
        </p:nvSpPr>
        <p:spPr>
          <a:xfrm>
            <a:off x="640080" y="3383280"/>
            <a:ext cx="2423160" cy="1005840"/>
          </a:xfrm>
          <a:prstGeom prst="rect">
            <a:avLst/>
          </a:prstGeom>
          <a:noFill/>
          <a:ln/>
        </p:spPr>
        <p:txBody>
          <a:bodyPr wrap="square" rtlCol="0" anchor="t"/>
          <a:lstStyle/>
          <a:p>
            <a:pPr marL="0" indent="0" algn="ctr">
              <a:lnSpc>
                <a:spcPct val="120000"/>
              </a:lnSpc>
              <a:buNone/>
            </a:pPr>
            <a:r>
              <a:rPr lang="en-US" sz="1050" dirty="0">
                <a:solidFill>
                  <a:srgbClr val="94A0C7"/>
                </a:solidFill>
                <a:latin typeface="Calibri" pitchFamily="34" charset="0"/>
                <a:ea typeface="Calibri" pitchFamily="34" charset="-122"/>
                <a:cs typeface="Calibri" pitchFamily="34" charset="-120"/>
              </a:rPr>
              <a:t>Evaluate &amp; select the best AI model for your use case</a:t>
            </a:r>
            <a:endParaRPr lang="en-US" sz="1050" dirty="0"/>
          </a:p>
        </p:txBody>
      </p:sp>
      <p:sp>
        <p:nvSpPr>
          <p:cNvPr id="15" name="Text 13"/>
          <p:cNvSpPr/>
          <p:nvPr/>
        </p:nvSpPr>
        <p:spPr>
          <a:xfrm>
            <a:off x="3200400" y="2788920"/>
            <a:ext cx="128016" cy="457200"/>
          </a:xfrm>
          <a:prstGeom prst="rect">
            <a:avLst/>
          </a:prstGeom>
          <a:noFill/>
          <a:ln/>
        </p:spPr>
        <p:txBody>
          <a:bodyPr wrap="square" rtlCol="0" anchor="ctr"/>
          <a:lstStyle/>
          <a:p>
            <a:pPr marL="0" indent="0" algn="ctr">
              <a:buNone/>
            </a:pPr>
            <a:r>
              <a:rPr lang="en-US" sz="1800" b="1" dirty="0">
                <a:solidFill>
                  <a:srgbClr val="FFFFFF"/>
                </a:solidFill>
              </a:rPr>
              <a:t>→</a:t>
            </a:r>
            <a:endParaRPr lang="en-US" sz="1800" dirty="0"/>
          </a:p>
        </p:txBody>
      </p:sp>
      <p:sp>
        <p:nvSpPr>
          <p:cNvPr id="16" name="Shape 14"/>
          <p:cNvSpPr/>
          <p:nvPr/>
        </p:nvSpPr>
        <p:spPr>
          <a:xfrm>
            <a:off x="3328416" y="1783080"/>
            <a:ext cx="2697480" cy="2651760"/>
          </a:xfrm>
          <a:prstGeom prst="roundRect">
            <a:avLst>
              <a:gd name="adj" fmla="val 3103"/>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7" name="Shape 15"/>
          <p:cNvSpPr/>
          <p:nvPr/>
        </p:nvSpPr>
        <p:spPr>
          <a:xfrm>
            <a:off x="4357116" y="1984248"/>
            <a:ext cx="640080" cy="640080"/>
          </a:xfrm>
          <a:prstGeom prst="ellipse">
            <a:avLst/>
          </a:prstGeom>
          <a:solidFill>
            <a:srgbClr val="E07856">
              <a:alpha val="22000"/>
            </a:srgbClr>
          </a:solidFill>
          <a:ln w="15875">
            <a:solidFill>
              <a:srgbClr val="E07856"/>
            </a:solidFill>
            <a:prstDash val="solid"/>
          </a:ln>
        </p:spPr>
      </p:sp>
      <p:sp>
        <p:nvSpPr>
          <p:cNvPr id="18" name="Text 16"/>
          <p:cNvSpPr/>
          <p:nvPr/>
        </p:nvSpPr>
        <p:spPr>
          <a:xfrm>
            <a:off x="4357116" y="1965960"/>
            <a:ext cx="640080" cy="640080"/>
          </a:xfrm>
          <a:prstGeom prst="rect">
            <a:avLst/>
          </a:prstGeom>
          <a:noFill/>
          <a:ln/>
        </p:spPr>
        <p:txBody>
          <a:bodyPr wrap="square" rtlCol="0" anchor="ctr"/>
          <a:lstStyle/>
          <a:p>
            <a:pPr marL="0" indent="0" algn="ctr">
              <a:buNone/>
            </a:pPr>
            <a:r>
              <a:rPr lang="en-US" sz="1820" dirty="0">
                <a:solidFill>
                  <a:srgbClr val="000000"/>
                </a:solidFill>
              </a:rPr>
              <a:t>🤖</a:t>
            </a:r>
            <a:endParaRPr lang="en-US" sz="1820" dirty="0"/>
          </a:p>
        </p:txBody>
      </p:sp>
      <p:sp>
        <p:nvSpPr>
          <p:cNvPr id="19" name="Text 17"/>
          <p:cNvSpPr/>
          <p:nvPr/>
        </p:nvSpPr>
        <p:spPr>
          <a:xfrm>
            <a:off x="3419856" y="2697480"/>
            <a:ext cx="2514600" cy="274320"/>
          </a:xfrm>
          <a:prstGeom prst="rect">
            <a:avLst/>
          </a:prstGeom>
          <a:noFill/>
          <a:ln/>
        </p:spPr>
        <p:txBody>
          <a:bodyPr wrap="square" rtlCol="0" anchor="ctr"/>
          <a:lstStyle/>
          <a:p>
            <a:pPr marL="0" indent="0" algn="ctr">
              <a:buNone/>
            </a:pPr>
            <a:r>
              <a:rPr lang="en-US" sz="950" b="1" kern="0" spc="100" dirty="0">
                <a:solidFill>
                  <a:srgbClr val="E07856"/>
                </a:solidFill>
                <a:latin typeface="Calibri" pitchFamily="34" charset="0"/>
                <a:ea typeface="Calibri" pitchFamily="34" charset="-122"/>
                <a:cs typeface="Calibri" pitchFamily="34" charset="-120"/>
              </a:rPr>
              <a:t>LAYER 2 — INTELLIGENCE</a:t>
            </a:r>
            <a:endParaRPr lang="en-US" sz="950" dirty="0"/>
          </a:p>
        </p:txBody>
      </p:sp>
      <p:sp>
        <p:nvSpPr>
          <p:cNvPr id="20" name="Text 18"/>
          <p:cNvSpPr/>
          <p:nvPr/>
        </p:nvSpPr>
        <p:spPr>
          <a:xfrm>
            <a:off x="3419856" y="2971800"/>
            <a:ext cx="2514600" cy="36576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Claude</a:t>
            </a:r>
            <a:endParaRPr lang="en-US" sz="1700" dirty="0"/>
          </a:p>
        </p:txBody>
      </p:sp>
      <p:sp>
        <p:nvSpPr>
          <p:cNvPr id="21" name="Text 19"/>
          <p:cNvSpPr/>
          <p:nvPr/>
        </p:nvSpPr>
        <p:spPr>
          <a:xfrm>
            <a:off x="3465576" y="3383280"/>
            <a:ext cx="2423160" cy="1005840"/>
          </a:xfrm>
          <a:prstGeom prst="rect">
            <a:avLst/>
          </a:prstGeom>
          <a:noFill/>
          <a:ln/>
        </p:spPr>
        <p:txBody>
          <a:bodyPr wrap="square" rtlCol="0" anchor="t"/>
          <a:lstStyle/>
          <a:p>
            <a:pPr marL="0" indent="0" algn="ctr">
              <a:lnSpc>
                <a:spcPct val="120000"/>
              </a:lnSpc>
              <a:buNone/>
            </a:pPr>
            <a:r>
              <a:rPr lang="en-US" sz="1050" dirty="0">
                <a:solidFill>
                  <a:srgbClr val="94A0C7"/>
                </a:solidFill>
                <a:latin typeface="Calibri" pitchFamily="34" charset="0"/>
                <a:ea typeface="Calibri" pitchFamily="34" charset="-122"/>
                <a:cs typeface="Calibri" pitchFamily="34" charset="-120"/>
              </a:rPr>
              <a:t>Reasoning, understanding &amp; content generation</a:t>
            </a:r>
            <a:endParaRPr lang="en-US" sz="1050" dirty="0"/>
          </a:p>
        </p:txBody>
      </p:sp>
      <p:sp>
        <p:nvSpPr>
          <p:cNvPr id="22" name="Text 20"/>
          <p:cNvSpPr/>
          <p:nvPr/>
        </p:nvSpPr>
        <p:spPr>
          <a:xfrm>
            <a:off x="6025896" y="2788920"/>
            <a:ext cx="128016" cy="457200"/>
          </a:xfrm>
          <a:prstGeom prst="rect">
            <a:avLst/>
          </a:prstGeom>
          <a:noFill/>
          <a:ln/>
        </p:spPr>
        <p:txBody>
          <a:bodyPr wrap="square" rtlCol="0" anchor="ctr"/>
          <a:lstStyle/>
          <a:p>
            <a:pPr marL="0" indent="0" algn="ctr">
              <a:buNone/>
            </a:pPr>
            <a:r>
              <a:rPr lang="en-US" sz="1800" b="1" dirty="0">
                <a:solidFill>
                  <a:srgbClr val="FFFFFF"/>
                </a:solidFill>
              </a:rPr>
              <a:t>→</a:t>
            </a:r>
            <a:endParaRPr lang="en-US" sz="1800" dirty="0"/>
          </a:p>
        </p:txBody>
      </p:sp>
      <p:sp>
        <p:nvSpPr>
          <p:cNvPr id="23" name="Shape 21"/>
          <p:cNvSpPr/>
          <p:nvPr/>
        </p:nvSpPr>
        <p:spPr>
          <a:xfrm>
            <a:off x="6153912" y="1783080"/>
            <a:ext cx="2697480" cy="2651760"/>
          </a:xfrm>
          <a:prstGeom prst="roundRect">
            <a:avLst>
              <a:gd name="adj" fmla="val 3103"/>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24" name="Shape 22"/>
          <p:cNvSpPr/>
          <p:nvPr/>
        </p:nvSpPr>
        <p:spPr>
          <a:xfrm>
            <a:off x="7182612" y="1984248"/>
            <a:ext cx="640080" cy="640080"/>
          </a:xfrm>
          <a:prstGeom prst="ellipse">
            <a:avLst/>
          </a:prstGeom>
          <a:solidFill>
            <a:srgbClr val="FF6B81">
              <a:alpha val="22000"/>
            </a:srgbClr>
          </a:solidFill>
          <a:ln w="15875">
            <a:solidFill>
              <a:srgbClr val="FF6B81"/>
            </a:solidFill>
            <a:prstDash val="solid"/>
          </a:ln>
        </p:spPr>
      </p:sp>
      <p:sp>
        <p:nvSpPr>
          <p:cNvPr id="25" name="Text 23"/>
          <p:cNvSpPr/>
          <p:nvPr/>
        </p:nvSpPr>
        <p:spPr>
          <a:xfrm>
            <a:off x="7182612" y="1965960"/>
            <a:ext cx="640080" cy="640080"/>
          </a:xfrm>
          <a:prstGeom prst="rect">
            <a:avLst/>
          </a:prstGeom>
          <a:noFill/>
          <a:ln/>
        </p:spPr>
        <p:txBody>
          <a:bodyPr wrap="square" rtlCol="0" anchor="ctr"/>
          <a:lstStyle/>
          <a:p>
            <a:pPr marL="0" indent="0" algn="ctr">
              <a:buNone/>
            </a:pPr>
            <a:r>
              <a:rPr lang="en-US" sz="1820" dirty="0">
                <a:solidFill>
                  <a:srgbClr val="000000"/>
                </a:solidFill>
              </a:rPr>
              <a:t>🔗</a:t>
            </a:r>
            <a:endParaRPr lang="en-US" sz="1820" dirty="0"/>
          </a:p>
        </p:txBody>
      </p:sp>
      <p:sp>
        <p:nvSpPr>
          <p:cNvPr id="26" name="Text 24"/>
          <p:cNvSpPr/>
          <p:nvPr/>
        </p:nvSpPr>
        <p:spPr>
          <a:xfrm>
            <a:off x="6245352" y="2697480"/>
            <a:ext cx="2514600" cy="274320"/>
          </a:xfrm>
          <a:prstGeom prst="rect">
            <a:avLst/>
          </a:prstGeom>
          <a:noFill/>
          <a:ln/>
        </p:spPr>
        <p:txBody>
          <a:bodyPr wrap="square" rtlCol="0" anchor="ctr"/>
          <a:lstStyle/>
          <a:p>
            <a:pPr marL="0" indent="0" algn="ctr">
              <a:buNone/>
            </a:pPr>
            <a:r>
              <a:rPr lang="en-US" sz="950" b="1" kern="0" spc="100" dirty="0">
                <a:solidFill>
                  <a:srgbClr val="FF6B81"/>
                </a:solidFill>
                <a:latin typeface="Calibri" pitchFamily="34" charset="0"/>
                <a:ea typeface="Calibri" pitchFamily="34" charset="-122"/>
                <a:cs typeface="Calibri" pitchFamily="34" charset="-120"/>
              </a:rPr>
              <a:t>LAYER 3 — ORCHESTRATION</a:t>
            </a:r>
            <a:endParaRPr lang="en-US" sz="950" dirty="0"/>
          </a:p>
        </p:txBody>
      </p:sp>
      <p:sp>
        <p:nvSpPr>
          <p:cNvPr id="27" name="Text 25"/>
          <p:cNvSpPr/>
          <p:nvPr/>
        </p:nvSpPr>
        <p:spPr>
          <a:xfrm>
            <a:off x="6245352" y="2971800"/>
            <a:ext cx="2514600" cy="36576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N8N</a:t>
            </a:r>
            <a:endParaRPr lang="en-US" sz="1700" dirty="0"/>
          </a:p>
        </p:txBody>
      </p:sp>
      <p:sp>
        <p:nvSpPr>
          <p:cNvPr id="28" name="Text 26"/>
          <p:cNvSpPr/>
          <p:nvPr/>
        </p:nvSpPr>
        <p:spPr>
          <a:xfrm>
            <a:off x="6291072" y="3383280"/>
            <a:ext cx="2423160" cy="1005840"/>
          </a:xfrm>
          <a:prstGeom prst="rect">
            <a:avLst/>
          </a:prstGeom>
          <a:noFill/>
          <a:ln/>
        </p:spPr>
        <p:txBody>
          <a:bodyPr wrap="square" rtlCol="0" anchor="t"/>
          <a:lstStyle/>
          <a:p>
            <a:pPr marL="0" indent="0" algn="ctr">
              <a:lnSpc>
                <a:spcPct val="120000"/>
              </a:lnSpc>
              <a:buNone/>
            </a:pPr>
            <a:r>
              <a:rPr lang="en-US" sz="1050" dirty="0">
                <a:solidFill>
                  <a:srgbClr val="94A0C7"/>
                </a:solidFill>
                <a:latin typeface="Calibri" pitchFamily="34" charset="0"/>
                <a:ea typeface="Calibri" pitchFamily="34" charset="-122"/>
                <a:cs typeface="Calibri" pitchFamily="34" charset="-120"/>
              </a:rPr>
              <a:t>Connects everything and controls the workflow</a:t>
            </a:r>
            <a:endParaRPr lang="en-US" sz="1050" dirty="0"/>
          </a:p>
        </p:txBody>
      </p:sp>
      <p:sp>
        <p:nvSpPr>
          <p:cNvPr id="29" name="Text 27"/>
          <p:cNvSpPr/>
          <p:nvPr/>
        </p:nvSpPr>
        <p:spPr>
          <a:xfrm>
            <a:off x="8851392" y="2788920"/>
            <a:ext cx="128016" cy="457200"/>
          </a:xfrm>
          <a:prstGeom prst="rect">
            <a:avLst/>
          </a:prstGeom>
          <a:noFill/>
          <a:ln/>
        </p:spPr>
        <p:txBody>
          <a:bodyPr wrap="square" rtlCol="0" anchor="ctr"/>
          <a:lstStyle/>
          <a:p>
            <a:pPr marL="0" indent="0" algn="ctr">
              <a:buNone/>
            </a:pPr>
            <a:r>
              <a:rPr lang="en-US" sz="1800" b="1" dirty="0">
                <a:solidFill>
                  <a:srgbClr val="FFFFFF"/>
                </a:solidFill>
              </a:rPr>
              <a:t>→</a:t>
            </a:r>
            <a:endParaRPr lang="en-US" sz="1800" dirty="0"/>
          </a:p>
        </p:txBody>
      </p:sp>
      <p:sp>
        <p:nvSpPr>
          <p:cNvPr id="30" name="Shape 28"/>
          <p:cNvSpPr/>
          <p:nvPr/>
        </p:nvSpPr>
        <p:spPr>
          <a:xfrm>
            <a:off x="8979408" y="1783080"/>
            <a:ext cx="2697480" cy="2651760"/>
          </a:xfrm>
          <a:prstGeom prst="roundRect">
            <a:avLst>
              <a:gd name="adj" fmla="val 3103"/>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31" name="Shape 29"/>
          <p:cNvSpPr/>
          <p:nvPr/>
        </p:nvSpPr>
        <p:spPr>
          <a:xfrm>
            <a:off x="10008108" y="1984248"/>
            <a:ext cx="640080" cy="640080"/>
          </a:xfrm>
          <a:prstGeom prst="ellipse">
            <a:avLst/>
          </a:prstGeom>
          <a:solidFill>
            <a:srgbClr val="3B82F6">
              <a:alpha val="22000"/>
            </a:srgbClr>
          </a:solidFill>
          <a:ln w="15875">
            <a:solidFill>
              <a:srgbClr val="3B82F6"/>
            </a:solidFill>
            <a:prstDash val="solid"/>
          </a:ln>
        </p:spPr>
      </p:sp>
      <p:sp>
        <p:nvSpPr>
          <p:cNvPr id="32" name="Text 30"/>
          <p:cNvSpPr/>
          <p:nvPr/>
        </p:nvSpPr>
        <p:spPr>
          <a:xfrm>
            <a:off x="10008108" y="1965960"/>
            <a:ext cx="640080" cy="640080"/>
          </a:xfrm>
          <a:prstGeom prst="rect">
            <a:avLst/>
          </a:prstGeom>
          <a:noFill/>
          <a:ln/>
        </p:spPr>
        <p:txBody>
          <a:bodyPr wrap="square" rtlCol="0" anchor="ctr"/>
          <a:lstStyle/>
          <a:p>
            <a:pPr marL="0" indent="0" algn="ctr">
              <a:buNone/>
            </a:pPr>
            <a:r>
              <a:rPr lang="en-US" sz="1820" dirty="0">
                <a:solidFill>
                  <a:srgbClr val="000000"/>
                </a:solidFill>
              </a:rPr>
              <a:t>📋</a:t>
            </a:r>
            <a:endParaRPr lang="en-US" sz="1820" dirty="0"/>
          </a:p>
        </p:txBody>
      </p:sp>
      <p:sp>
        <p:nvSpPr>
          <p:cNvPr id="33" name="Text 31"/>
          <p:cNvSpPr/>
          <p:nvPr/>
        </p:nvSpPr>
        <p:spPr>
          <a:xfrm>
            <a:off x="9070848" y="2697480"/>
            <a:ext cx="2514600" cy="274320"/>
          </a:xfrm>
          <a:prstGeom prst="rect">
            <a:avLst/>
          </a:prstGeom>
          <a:noFill/>
          <a:ln/>
        </p:spPr>
        <p:txBody>
          <a:bodyPr wrap="square" rtlCol="0" anchor="ctr"/>
          <a:lstStyle/>
          <a:p>
            <a:pPr marL="0" indent="0" algn="ctr">
              <a:buNone/>
            </a:pPr>
            <a:r>
              <a:rPr lang="en-US" sz="950" b="1" kern="0" spc="100" dirty="0">
                <a:solidFill>
                  <a:srgbClr val="3B82F6"/>
                </a:solidFill>
                <a:latin typeface="Calibri" pitchFamily="34" charset="0"/>
                <a:ea typeface="Calibri" pitchFamily="34" charset="-122"/>
                <a:cs typeface="Calibri" pitchFamily="34" charset="-120"/>
              </a:rPr>
              <a:t>LAYER 4 — PROJECT MGMT</a:t>
            </a:r>
            <a:endParaRPr lang="en-US" sz="950" dirty="0"/>
          </a:p>
        </p:txBody>
      </p:sp>
      <p:sp>
        <p:nvSpPr>
          <p:cNvPr id="34" name="Text 32"/>
          <p:cNvSpPr/>
          <p:nvPr/>
        </p:nvSpPr>
        <p:spPr>
          <a:xfrm>
            <a:off x="9070848" y="2971800"/>
            <a:ext cx="2514600" cy="36576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Jira</a:t>
            </a:r>
            <a:endParaRPr lang="en-US" sz="1700" dirty="0"/>
          </a:p>
        </p:txBody>
      </p:sp>
      <p:sp>
        <p:nvSpPr>
          <p:cNvPr id="35" name="Text 33"/>
          <p:cNvSpPr/>
          <p:nvPr/>
        </p:nvSpPr>
        <p:spPr>
          <a:xfrm>
            <a:off x="9116568" y="3383280"/>
            <a:ext cx="2423160" cy="1005840"/>
          </a:xfrm>
          <a:prstGeom prst="rect">
            <a:avLst/>
          </a:prstGeom>
          <a:noFill/>
          <a:ln/>
        </p:spPr>
        <p:txBody>
          <a:bodyPr wrap="square" rtlCol="0" anchor="t"/>
          <a:lstStyle/>
          <a:p>
            <a:pPr marL="0" indent="0" algn="ctr">
              <a:lnSpc>
                <a:spcPct val="120000"/>
              </a:lnSpc>
              <a:buNone/>
            </a:pPr>
            <a:r>
              <a:rPr lang="en-US" sz="1050" dirty="0">
                <a:solidFill>
                  <a:srgbClr val="94A0C7"/>
                </a:solidFill>
                <a:latin typeface="Calibri" pitchFamily="34" charset="0"/>
                <a:ea typeface="Calibri" pitchFamily="34" charset="-122"/>
                <a:cs typeface="Calibri" pitchFamily="34" charset="-120"/>
              </a:rPr>
              <a:t>Tracks, organizes &amp; manages all resulting work</a:t>
            </a:r>
            <a:endParaRPr lang="en-US" sz="1050" dirty="0"/>
          </a:p>
        </p:txBody>
      </p:sp>
      <p:sp>
        <p:nvSpPr>
          <p:cNvPr id="36" name="Shape 34"/>
          <p:cNvSpPr/>
          <p:nvPr/>
        </p:nvSpPr>
        <p:spPr>
          <a:xfrm>
            <a:off x="502920" y="4617720"/>
            <a:ext cx="11201400" cy="1554480"/>
          </a:xfrm>
          <a:prstGeom prst="roundRect">
            <a:avLst>
              <a:gd name="adj" fmla="val 5294"/>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37" name="Text 35"/>
          <p:cNvSpPr/>
          <p:nvPr/>
        </p:nvSpPr>
        <p:spPr>
          <a:xfrm>
            <a:off x="777240" y="4736592"/>
            <a:ext cx="5486400" cy="274320"/>
          </a:xfrm>
          <a:prstGeom prst="rect">
            <a:avLst/>
          </a:prstGeom>
          <a:noFill/>
          <a:ln/>
        </p:spPr>
        <p:txBody>
          <a:bodyPr wrap="square" rtlCol="0" anchor="ctr"/>
          <a:lstStyle/>
          <a:p>
            <a:pPr marL="0" indent="0">
              <a:buNone/>
            </a:pPr>
            <a:r>
              <a:rPr lang="en-US" sz="1250" b="1" dirty="0">
                <a:solidFill>
                  <a:srgbClr val="1FD1A8"/>
                </a:solidFill>
                <a:latin typeface="Calibri" pitchFamily="34" charset="0"/>
                <a:ea typeface="Calibri" pitchFamily="34" charset="-122"/>
                <a:cs typeface="Calibri" pitchFamily="34" charset="-120"/>
              </a:rPr>
              <a:t>🎯  THE POWER OF COMBINATION</a:t>
            </a:r>
            <a:endParaRPr lang="en-US" sz="1250" dirty="0"/>
          </a:p>
        </p:txBody>
      </p:sp>
      <p:sp>
        <p:nvSpPr>
          <p:cNvPr id="38" name="Text 36"/>
          <p:cNvSpPr/>
          <p:nvPr/>
        </p:nvSpPr>
        <p:spPr>
          <a:xfrm>
            <a:off x="777240" y="5029200"/>
            <a:ext cx="10698480" cy="1051560"/>
          </a:xfrm>
          <a:prstGeom prst="rect">
            <a:avLst/>
          </a:prstGeom>
          <a:noFill/>
          <a:ln/>
        </p:spPr>
        <p:txBody>
          <a:bodyPr wrap="square" rtlCol="0" anchor="t"/>
          <a:lstStyle/>
          <a:p>
            <a:pPr marL="0" indent="0">
              <a:lnSpc>
                <a:spcPct val="125000"/>
              </a:lnSpc>
              <a:buNone/>
            </a:pPr>
            <a:r>
              <a:rPr lang="en-US" sz="1200" dirty="0">
                <a:solidFill>
                  <a:srgbClr val="E8ECFA"/>
                </a:solidFill>
                <a:latin typeface="Calibri" pitchFamily="34" charset="0"/>
                <a:ea typeface="Calibri" pitchFamily="34" charset="-122"/>
                <a:cs typeface="Calibri" pitchFamily="34" charset="-120"/>
              </a:rPr>
              <a:t>Alone, each tool is powerful but limited to its domain. Together, they create a self-operating system that detects problems, understands them, creates solutions, assigns work, and tracks completion — without human intervention for routine tasks.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FFC960">
              <a:alpha val="10000"/>
            </a:srgbClr>
          </a:solidFill>
          <a:ln/>
        </p:spPr>
      </p:sp>
      <p:sp>
        <p:nvSpPr>
          <p:cNvPr id="3" name="Shape 1"/>
          <p:cNvSpPr/>
          <p:nvPr/>
        </p:nvSpPr>
        <p:spPr>
          <a:xfrm>
            <a:off x="-1645920" y="5120640"/>
            <a:ext cx="3291840" cy="3291840"/>
          </a:xfrm>
          <a:prstGeom prst="ellipse">
            <a:avLst/>
          </a:prstGeom>
          <a:solidFill>
            <a:srgbClr val="FFC960">
              <a:alpha val="8000"/>
            </a:srgbClr>
          </a:solidFill>
          <a:ln/>
        </p:spPr>
      </p:sp>
      <p:sp>
        <p:nvSpPr>
          <p:cNvPr id="4" name="Shape 2"/>
          <p:cNvSpPr/>
          <p:nvPr/>
        </p:nvSpPr>
        <p:spPr>
          <a:xfrm>
            <a:off x="502920" y="457200"/>
            <a:ext cx="658368" cy="658368"/>
          </a:xfrm>
          <a:prstGeom prst="ellipse">
            <a:avLst/>
          </a:prstGeom>
          <a:solidFill>
            <a:srgbClr val="FFC960">
              <a:alpha val="22000"/>
            </a:srgbClr>
          </a:solidFill>
          <a:ln w="15875">
            <a:solidFill>
              <a:srgbClr val="FFC960"/>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FFC960"/>
                </a:solidFill>
                <a:latin typeface="Calibri" pitchFamily="34" charset="0"/>
                <a:ea typeface="Calibri" pitchFamily="34" charset="-122"/>
                <a:cs typeface="Calibri" pitchFamily="34" charset="-120"/>
              </a:rPr>
              <a:t>EXAMPLE 01</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Automated Bug Tracking</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From error detection to Jira ticket in 45 seconds</a:t>
            </a:r>
            <a:endParaRPr lang="en-US" sz="1350" dirty="0"/>
          </a:p>
        </p:txBody>
      </p:sp>
      <p:sp>
        <p:nvSpPr>
          <p:cNvPr id="9" name="Shape 7"/>
          <p:cNvSpPr/>
          <p:nvPr/>
        </p:nvSpPr>
        <p:spPr>
          <a:xfrm>
            <a:off x="502920" y="1691640"/>
            <a:ext cx="11201400" cy="868680"/>
          </a:xfrm>
          <a:prstGeom prst="roundRect">
            <a:avLst>
              <a:gd name="adj" fmla="val 9474"/>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01368"/>
            <a:ext cx="10698480" cy="658368"/>
          </a:xfrm>
          <a:prstGeom prst="rect">
            <a:avLst/>
          </a:prstGeom>
          <a:noFill/>
          <a:ln/>
        </p:spPr>
        <p:txBody>
          <a:bodyPr wrap="square" rtlCol="0" anchor="ctr"/>
          <a:lstStyle/>
          <a:p>
            <a:pPr marL="0" indent="0">
              <a:lnSpc>
                <a:spcPct val="115000"/>
              </a:lnSpc>
              <a:buNone/>
            </a:pPr>
            <a:r>
              <a:rPr lang="en-US" sz="1150" dirty="0">
                <a:solidFill>
                  <a:srgbClr val="E8ECFA"/>
                </a:solidFill>
                <a:latin typeface="Calibri" pitchFamily="34" charset="0"/>
                <a:ea typeface="Calibri" pitchFamily="34" charset="-122"/>
                <a:cs typeface="Calibri" pitchFamily="34" charset="-120"/>
              </a:rPr>
              <a:t>📌 SCENARIO   A production error occurs at 3 AM. Previously this needed an engineer to wake up, read logs, and create a ticket. With AI automation, this entire process happens automatically.</a:t>
            </a:r>
            <a:endParaRPr lang="en-US" sz="1150" dirty="0"/>
          </a:p>
        </p:txBody>
      </p:sp>
      <p:sp>
        <p:nvSpPr>
          <p:cNvPr id="11" name="Text 9"/>
          <p:cNvSpPr/>
          <p:nvPr/>
        </p:nvSpPr>
        <p:spPr>
          <a:xfrm>
            <a:off x="502920" y="2697480"/>
            <a:ext cx="9144000" cy="292608"/>
          </a:xfrm>
          <a:prstGeom prst="rect">
            <a:avLst/>
          </a:prstGeom>
          <a:noFill/>
          <a:ln/>
        </p:spPr>
        <p:txBody>
          <a:bodyPr wrap="square" rtlCol="0" anchor="ctr"/>
          <a:lstStyle/>
          <a:p>
            <a:pPr marL="0" indent="0">
              <a:buNone/>
            </a:pPr>
            <a:r>
              <a:rPr lang="en-US" sz="1300" b="1" kern="0" spc="100" dirty="0">
                <a:solidFill>
                  <a:srgbClr val="FFC960"/>
                </a:solidFill>
                <a:latin typeface="Calibri" pitchFamily="34" charset="0"/>
                <a:ea typeface="Calibri" pitchFamily="34" charset="-122"/>
                <a:cs typeface="Calibri" pitchFamily="34" charset="-120"/>
              </a:rPr>
              <a:t>🔄  AUTOMATED WORKFLOW</a:t>
            </a:r>
            <a:endParaRPr lang="en-US" sz="1300" dirty="0"/>
          </a:p>
        </p:txBody>
      </p:sp>
      <p:sp>
        <p:nvSpPr>
          <p:cNvPr id="12" name="Shape 10"/>
          <p:cNvSpPr/>
          <p:nvPr/>
        </p:nvSpPr>
        <p:spPr>
          <a:xfrm>
            <a:off x="502920" y="2999232"/>
            <a:ext cx="3563112" cy="960120"/>
          </a:xfrm>
          <a:prstGeom prst="roundRect">
            <a:avLst>
              <a:gd name="adj" fmla="val 8571"/>
            </a:avLst>
          </a:prstGeom>
          <a:solidFill>
            <a:srgbClr val="1B2350"/>
          </a:solidFill>
          <a:ln w="12700">
            <a:solidFill>
              <a:srgbClr val="2A3468"/>
            </a:solidFill>
            <a:prstDash val="solid"/>
          </a:ln>
        </p:spPr>
      </p:sp>
      <p:sp>
        <p:nvSpPr>
          <p:cNvPr id="13" name="Shape 11"/>
          <p:cNvSpPr/>
          <p:nvPr/>
        </p:nvSpPr>
        <p:spPr>
          <a:xfrm>
            <a:off x="612648" y="3108960"/>
            <a:ext cx="292608" cy="292608"/>
          </a:xfrm>
          <a:prstGeom prst="ellipse">
            <a:avLst/>
          </a:prstGeom>
          <a:solidFill>
            <a:srgbClr val="FFC960"/>
          </a:solidFill>
          <a:ln/>
        </p:spPr>
      </p:sp>
      <p:sp>
        <p:nvSpPr>
          <p:cNvPr id="14" name="Text 12"/>
          <p:cNvSpPr/>
          <p:nvPr/>
        </p:nvSpPr>
        <p:spPr>
          <a:xfrm>
            <a:off x="612648" y="3090672"/>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15" name="Text 13"/>
          <p:cNvSpPr/>
          <p:nvPr/>
        </p:nvSpPr>
        <p:spPr>
          <a:xfrm>
            <a:off x="612648"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Error detected — monitoring tool fires webhook</a:t>
            </a:r>
            <a:endParaRPr lang="en-US" sz="1000" dirty="0"/>
          </a:p>
        </p:txBody>
      </p:sp>
      <p:sp>
        <p:nvSpPr>
          <p:cNvPr id="16" name="Text 14"/>
          <p:cNvSpPr/>
          <p:nvPr/>
        </p:nvSpPr>
        <p:spPr>
          <a:xfrm>
            <a:off x="4066032" y="3255264"/>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17" name="Shape 15"/>
          <p:cNvSpPr/>
          <p:nvPr/>
        </p:nvSpPr>
        <p:spPr>
          <a:xfrm>
            <a:off x="4322064" y="2999232"/>
            <a:ext cx="3563112" cy="960120"/>
          </a:xfrm>
          <a:prstGeom prst="roundRect">
            <a:avLst>
              <a:gd name="adj" fmla="val 8571"/>
            </a:avLst>
          </a:prstGeom>
          <a:solidFill>
            <a:srgbClr val="1B2350"/>
          </a:solidFill>
          <a:ln w="12700">
            <a:solidFill>
              <a:srgbClr val="2A3468"/>
            </a:solidFill>
            <a:prstDash val="solid"/>
          </a:ln>
        </p:spPr>
      </p:sp>
      <p:sp>
        <p:nvSpPr>
          <p:cNvPr id="18" name="Shape 16"/>
          <p:cNvSpPr/>
          <p:nvPr/>
        </p:nvSpPr>
        <p:spPr>
          <a:xfrm>
            <a:off x="4431792" y="3108960"/>
            <a:ext cx="292608" cy="292608"/>
          </a:xfrm>
          <a:prstGeom prst="ellipse">
            <a:avLst/>
          </a:prstGeom>
          <a:solidFill>
            <a:srgbClr val="FFC960"/>
          </a:solidFill>
          <a:ln/>
        </p:spPr>
      </p:sp>
      <p:sp>
        <p:nvSpPr>
          <p:cNvPr id="19" name="Text 17"/>
          <p:cNvSpPr/>
          <p:nvPr/>
        </p:nvSpPr>
        <p:spPr>
          <a:xfrm>
            <a:off x="4431792" y="3090672"/>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20" name="Text 18"/>
          <p:cNvSpPr/>
          <p:nvPr/>
        </p:nvSpPr>
        <p:spPr>
          <a:xfrm>
            <a:off x="4431792"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N8N receives &amp; formats error payload</a:t>
            </a:r>
            <a:endParaRPr lang="en-US" sz="1000" dirty="0"/>
          </a:p>
        </p:txBody>
      </p:sp>
      <p:sp>
        <p:nvSpPr>
          <p:cNvPr id="21" name="Text 19"/>
          <p:cNvSpPr/>
          <p:nvPr/>
        </p:nvSpPr>
        <p:spPr>
          <a:xfrm>
            <a:off x="7885176" y="3255264"/>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22" name="Shape 20"/>
          <p:cNvSpPr/>
          <p:nvPr/>
        </p:nvSpPr>
        <p:spPr>
          <a:xfrm>
            <a:off x="8141208" y="2999232"/>
            <a:ext cx="3563112" cy="960120"/>
          </a:xfrm>
          <a:prstGeom prst="roundRect">
            <a:avLst>
              <a:gd name="adj" fmla="val 8571"/>
            </a:avLst>
          </a:prstGeom>
          <a:solidFill>
            <a:srgbClr val="1B2350"/>
          </a:solidFill>
          <a:ln w="12700">
            <a:solidFill>
              <a:srgbClr val="2A3468"/>
            </a:solidFill>
            <a:prstDash val="solid"/>
          </a:ln>
        </p:spPr>
      </p:sp>
      <p:sp>
        <p:nvSpPr>
          <p:cNvPr id="23" name="Shape 21"/>
          <p:cNvSpPr/>
          <p:nvPr/>
        </p:nvSpPr>
        <p:spPr>
          <a:xfrm>
            <a:off x="8250936" y="3108960"/>
            <a:ext cx="292608" cy="292608"/>
          </a:xfrm>
          <a:prstGeom prst="ellipse">
            <a:avLst/>
          </a:prstGeom>
          <a:solidFill>
            <a:srgbClr val="FFC960"/>
          </a:solidFill>
          <a:ln/>
        </p:spPr>
      </p:sp>
      <p:sp>
        <p:nvSpPr>
          <p:cNvPr id="24" name="Text 22"/>
          <p:cNvSpPr/>
          <p:nvPr/>
        </p:nvSpPr>
        <p:spPr>
          <a:xfrm>
            <a:off x="8250936" y="3090672"/>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25" name="Text 23"/>
          <p:cNvSpPr/>
          <p:nvPr/>
        </p:nvSpPr>
        <p:spPr>
          <a:xfrm>
            <a:off x="8250936"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Claude analyzes: root cause, severity, fix</a:t>
            </a:r>
            <a:endParaRPr lang="en-US" sz="1000" dirty="0"/>
          </a:p>
        </p:txBody>
      </p:sp>
      <p:sp>
        <p:nvSpPr>
          <p:cNvPr id="26" name="Shape 24"/>
          <p:cNvSpPr/>
          <p:nvPr/>
        </p:nvSpPr>
        <p:spPr>
          <a:xfrm>
            <a:off x="502920" y="4114800"/>
            <a:ext cx="3563112" cy="960120"/>
          </a:xfrm>
          <a:prstGeom prst="roundRect">
            <a:avLst>
              <a:gd name="adj" fmla="val 8571"/>
            </a:avLst>
          </a:prstGeom>
          <a:solidFill>
            <a:srgbClr val="1B2350"/>
          </a:solidFill>
          <a:ln w="12700">
            <a:solidFill>
              <a:srgbClr val="2A3468"/>
            </a:solidFill>
            <a:prstDash val="solid"/>
          </a:ln>
        </p:spPr>
      </p:sp>
      <p:sp>
        <p:nvSpPr>
          <p:cNvPr id="27" name="Shape 25"/>
          <p:cNvSpPr/>
          <p:nvPr/>
        </p:nvSpPr>
        <p:spPr>
          <a:xfrm>
            <a:off x="612648" y="4224528"/>
            <a:ext cx="292608" cy="292608"/>
          </a:xfrm>
          <a:prstGeom prst="ellipse">
            <a:avLst/>
          </a:prstGeom>
          <a:solidFill>
            <a:srgbClr val="FFC960"/>
          </a:solidFill>
          <a:ln/>
        </p:spPr>
      </p:sp>
      <p:sp>
        <p:nvSpPr>
          <p:cNvPr id="28" name="Text 26"/>
          <p:cNvSpPr/>
          <p:nvPr/>
        </p:nvSpPr>
        <p:spPr>
          <a:xfrm>
            <a:off x="612648" y="4206240"/>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29" name="Text 27"/>
          <p:cNvSpPr/>
          <p:nvPr/>
        </p:nvSpPr>
        <p:spPr>
          <a:xfrm>
            <a:off x="612648"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Claude drafts full ticket (title, priority, fix)</a:t>
            </a:r>
            <a:endParaRPr lang="en-US" sz="1000" dirty="0"/>
          </a:p>
        </p:txBody>
      </p:sp>
      <p:sp>
        <p:nvSpPr>
          <p:cNvPr id="30" name="Text 28"/>
          <p:cNvSpPr/>
          <p:nvPr/>
        </p:nvSpPr>
        <p:spPr>
          <a:xfrm>
            <a:off x="4066032" y="4370832"/>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31" name="Shape 29"/>
          <p:cNvSpPr/>
          <p:nvPr/>
        </p:nvSpPr>
        <p:spPr>
          <a:xfrm>
            <a:off x="4322064" y="4114800"/>
            <a:ext cx="3563112" cy="960120"/>
          </a:xfrm>
          <a:prstGeom prst="roundRect">
            <a:avLst>
              <a:gd name="adj" fmla="val 8571"/>
            </a:avLst>
          </a:prstGeom>
          <a:solidFill>
            <a:srgbClr val="1B2350"/>
          </a:solidFill>
          <a:ln w="12700">
            <a:solidFill>
              <a:srgbClr val="2A3468"/>
            </a:solidFill>
            <a:prstDash val="solid"/>
          </a:ln>
        </p:spPr>
      </p:sp>
      <p:sp>
        <p:nvSpPr>
          <p:cNvPr id="32" name="Shape 30"/>
          <p:cNvSpPr/>
          <p:nvPr/>
        </p:nvSpPr>
        <p:spPr>
          <a:xfrm>
            <a:off x="4431792" y="4224528"/>
            <a:ext cx="292608" cy="292608"/>
          </a:xfrm>
          <a:prstGeom prst="ellipse">
            <a:avLst/>
          </a:prstGeom>
          <a:solidFill>
            <a:srgbClr val="FFC960"/>
          </a:solidFill>
          <a:ln/>
        </p:spPr>
      </p:sp>
      <p:sp>
        <p:nvSpPr>
          <p:cNvPr id="33" name="Text 31"/>
          <p:cNvSpPr/>
          <p:nvPr/>
        </p:nvSpPr>
        <p:spPr>
          <a:xfrm>
            <a:off x="4431792" y="4206240"/>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34" name="Text 32"/>
          <p:cNvSpPr/>
          <p:nvPr/>
        </p:nvSpPr>
        <p:spPr>
          <a:xfrm>
            <a:off x="4431792"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N8N creates Jira ticket automatically</a:t>
            </a:r>
            <a:endParaRPr lang="en-US" sz="1000" dirty="0"/>
          </a:p>
        </p:txBody>
      </p:sp>
      <p:sp>
        <p:nvSpPr>
          <p:cNvPr id="35" name="Text 33"/>
          <p:cNvSpPr/>
          <p:nvPr/>
        </p:nvSpPr>
        <p:spPr>
          <a:xfrm>
            <a:off x="7885176" y="4370832"/>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36" name="Shape 34"/>
          <p:cNvSpPr/>
          <p:nvPr/>
        </p:nvSpPr>
        <p:spPr>
          <a:xfrm>
            <a:off x="8141208" y="4114800"/>
            <a:ext cx="3563112" cy="960120"/>
          </a:xfrm>
          <a:prstGeom prst="roundRect">
            <a:avLst>
              <a:gd name="adj" fmla="val 8571"/>
            </a:avLst>
          </a:prstGeom>
          <a:solidFill>
            <a:srgbClr val="1B2350"/>
          </a:solidFill>
          <a:ln w="12700">
            <a:solidFill>
              <a:srgbClr val="2A3468"/>
            </a:solidFill>
            <a:prstDash val="solid"/>
          </a:ln>
        </p:spPr>
      </p:sp>
      <p:sp>
        <p:nvSpPr>
          <p:cNvPr id="37" name="Shape 35"/>
          <p:cNvSpPr/>
          <p:nvPr/>
        </p:nvSpPr>
        <p:spPr>
          <a:xfrm>
            <a:off x="8250936" y="4224528"/>
            <a:ext cx="292608" cy="292608"/>
          </a:xfrm>
          <a:prstGeom prst="ellipse">
            <a:avLst/>
          </a:prstGeom>
          <a:solidFill>
            <a:srgbClr val="FFC960"/>
          </a:solidFill>
          <a:ln/>
        </p:spPr>
      </p:sp>
      <p:sp>
        <p:nvSpPr>
          <p:cNvPr id="38" name="Text 36"/>
          <p:cNvSpPr/>
          <p:nvPr/>
        </p:nvSpPr>
        <p:spPr>
          <a:xfrm>
            <a:off x="8250936" y="4206240"/>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39" name="Text 37"/>
          <p:cNvSpPr/>
          <p:nvPr/>
        </p:nvSpPr>
        <p:spPr>
          <a:xfrm>
            <a:off x="8250936"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Team notified via Slack + on-call paged</a:t>
            </a:r>
            <a:endParaRPr lang="en-US" sz="1000" dirty="0"/>
          </a:p>
        </p:txBody>
      </p:sp>
      <p:sp>
        <p:nvSpPr>
          <p:cNvPr id="40" name="Shape 38"/>
          <p:cNvSpPr/>
          <p:nvPr/>
        </p:nvSpPr>
        <p:spPr>
          <a:xfrm>
            <a:off x="502920" y="5257800"/>
            <a:ext cx="11201400" cy="960120"/>
          </a:xfrm>
          <a:prstGeom prst="roundRect">
            <a:avLst>
              <a:gd name="adj" fmla="val 8571"/>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41" name="Text 39"/>
          <p:cNvSpPr/>
          <p:nvPr/>
        </p:nvSpPr>
        <p:spPr>
          <a:xfrm>
            <a:off x="5029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45 sec</a:t>
            </a:r>
            <a:endParaRPr lang="en-US" sz="1600" dirty="0"/>
          </a:p>
        </p:txBody>
      </p:sp>
      <p:sp>
        <p:nvSpPr>
          <p:cNvPr id="42" name="Text 40"/>
          <p:cNvSpPr/>
          <p:nvPr/>
        </p:nvSpPr>
        <p:spPr>
          <a:xfrm>
            <a:off x="5486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vs. 45 min manual</a:t>
            </a:r>
            <a:endParaRPr lang="en-US" sz="900" dirty="0"/>
          </a:p>
        </p:txBody>
      </p:sp>
      <p:sp>
        <p:nvSpPr>
          <p:cNvPr id="43" name="Text 41"/>
          <p:cNvSpPr/>
          <p:nvPr/>
        </p:nvSpPr>
        <p:spPr>
          <a:xfrm>
            <a:off x="42367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94%</a:t>
            </a:r>
            <a:endParaRPr lang="en-US" sz="1600" dirty="0"/>
          </a:p>
        </p:txBody>
      </p:sp>
      <p:sp>
        <p:nvSpPr>
          <p:cNvPr id="44" name="Text 42"/>
          <p:cNvSpPr/>
          <p:nvPr/>
        </p:nvSpPr>
        <p:spPr>
          <a:xfrm>
            <a:off x="42824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root-cause accuracy</a:t>
            </a:r>
            <a:endParaRPr lang="en-US" sz="900" dirty="0"/>
          </a:p>
        </p:txBody>
      </p:sp>
      <p:sp>
        <p:nvSpPr>
          <p:cNvPr id="45" name="Text 43"/>
          <p:cNvSpPr/>
          <p:nvPr/>
        </p:nvSpPr>
        <p:spPr>
          <a:xfrm>
            <a:off x="79705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24/7</a:t>
            </a:r>
            <a:endParaRPr lang="en-US" sz="1600" dirty="0"/>
          </a:p>
        </p:txBody>
      </p:sp>
      <p:sp>
        <p:nvSpPr>
          <p:cNvPr id="46" name="Text 44"/>
          <p:cNvSpPr/>
          <p:nvPr/>
        </p:nvSpPr>
        <p:spPr>
          <a:xfrm>
            <a:off x="80162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always-on coverage</a:t>
            </a:r>
            <a:endParaRPr lang="en-US" sz="900" dirty="0"/>
          </a:p>
        </p:txBody>
      </p:sp>
      <p:sp>
        <p:nvSpPr>
          <p:cNvPr id="47" name="Text 45"/>
          <p:cNvSpPr/>
          <p:nvPr/>
        </p:nvSpPr>
        <p:spPr>
          <a:xfrm>
            <a:off x="10634472" y="6473952"/>
            <a:ext cx="1280160" cy="274320"/>
          </a:xfrm>
          <a:prstGeom prst="rect">
            <a:avLst/>
          </a:prstGeom>
          <a:noFill/>
          <a:ln/>
        </p:spPr>
        <p:txBody>
          <a:bodyPr wrap="square" rtlCol="0" anchor="ctr"/>
          <a:lstStyle/>
          <a:p>
            <a:pPr marL="0" indent="0" algn="r">
              <a:buNone/>
            </a:pPr>
            <a:r>
              <a:rPr lang="en-US" sz="900" dirty="0">
                <a:solidFill>
                  <a:srgbClr val="6B77A6"/>
                </a:solidFill>
                <a:latin typeface="Calibri" pitchFamily="34" charset="0"/>
                <a:ea typeface="Calibri" pitchFamily="34" charset="-122"/>
                <a:cs typeface="Calibri"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FFC960">
              <a:alpha val="10000"/>
            </a:srgbClr>
          </a:solidFill>
          <a:ln/>
        </p:spPr>
      </p:sp>
      <p:sp>
        <p:nvSpPr>
          <p:cNvPr id="3" name="Shape 1"/>
          <p:cNvSpPr/>
          <p:nvPr/>
        </p:nvSpPr>
        <p:spPr>
          <a:xfrm>
            <a:off x="-1645920" y="5120640"/>
            <a:ext cx="3291840" cy="3291840"/>
          </a:xfrm>
          <a:prstGeom prst="ellipse">
            <a:avLst/>
          </a:prstGeom>
          <a:solidFill>
            <a:srgbClr val="FFC960">
              <a:alpha val="8000"/>
            </a:srgbClr>
          </a:solidFill>
          <a:ln/>
        </p:spPr>
      </p:sp>
      <p:sp>
        <p:nvSpPr>
          <p:cNvPr id="4" name="Shape 2"/>
          <p:cNvSpPr/>
          <p:nvPr/>
        </p:nvSpPr>
        <p:spPr>
          <a:xfrm>
            <a:off x="502920" y="457200"/>
            <a:ext cx="658368" cy="658368"/>
          </a:xfrm>
          <a:prstGeom prst="ellipse">
            <a:avLst/>
          </a:prstGeom>
          <a:solidFill>
            <a:srgbClr val="FFC960">
              <a:alpha val="22000"/>
            </a:srgbClr>
          </a:solidFill>
          <a:ln w="15875">
            <a:solidFill>
              <a:srgbClr val="FFC960"/>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FFC960"/>
                </a:solidFill>
                <a:latin typeface="Calibri" pitchFamily="34" charset="0"/>
                <a:ea typeface="Calibri" pitchFamily="34" charset="-122"/>
                <a:cs typeface="Calibri" pitchFamily="34" charset="-120"/>
              </a:rPr>
              <a:t>EXAMPLE 02</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Smart Customer Support Agent</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24/7 intelligent email triage &amp; response</a:t>
            </a:r>
            <a:endParaRPr lang="en-US" sz="1350" dirty="0"/>
          </a:p>
        </p:txBody>
      </p:sp>
      <p:sp>
        <p:nvSpPr>
          <p:cNvPr id="9" name="Shape 7"/>
          <p:cNvSpPr/>
          <p:nvPr/>
        </p:nvSpPr>
        <p:spPr>
          <a:xfrm>
            <a:off x="502920" y="1691640"/>
            <a:ext cx="11201400" cy="868680"/>
          </a:xfrm>
          <a:prstGeom prst="roundRect">
            <a:avLst>
              <a:gd name="adj" fmla="val 9474"/>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01368"/>
            <a:ext cx="10698480" cy="658368"/>
          </a:xfrm>
          <a:prstGeom prst="rect">
            <a:avLst/>
          </a:prstGeom>
          <a:noFill/>
          <a:ln/>
        </p:spPr>
        <p:txBody>
          <a:bodyPr wrap="square" rtlCol="0" anchor="ctr"/>
          <a:lstStyle/>
          <a:p>
            <a:pPr marL="0" indent="0">
              <a:lnSpc>
                <a:spcPct val="115000"/>
              </a:lnSpc>
              <a:buNone/>
            </a:pPr>
            <a:r>
              <a:rPr lang="en-US" sz="1150" dirty="0">
                <a:solidFill>
                  <a:srgbClr val="E8ECFA"/>
                </a:solidFill>
                <a:latin typeface="Calibri" pitchFamily="34" charset="0"/>
                <a:ea typeface="Calibri" pitchFamily="34" charset="-122"/>
                <a:cs typeface="Calibri" pitchFamily="34" charset="-120"/>
              </a:rPr>
              <a:t>📌 SCENARIO   500+ support emails arrive daily; response times are slow and tickets get misrouted. An AI agent now handles triage, classification, and response — automatically, 24/7.</a:t>
            </a:r>
            <a:endParaRPr lang="en-US" sz="1150" dirty="0"/>
          </a:p>
        </p:txBody>
      </p:sp>
      <p:sp>
        <p:nvSpPr>
          <p:cNvPr id="11" name="Text 9"/>
          <p:cNvSpPr/>
          <p:nvPr/>
        </p:nvSpPr>
        <p:spPr>
          <a:xfrm>
            <a:off x="502920" y="2697480"/>
            <a:ext cx="9144000" cy="292608"/>
          </a:xfrm>
          <a:prstGeom prst="rect">
            <a:avLst/>
          </a:prstGeom>
          <a:noFill/>
          <a:ln/>
        </p:spPr>
        <p:txBody>
          <a:bodyPr wrap="square" rtlCol="0" anchor="ctr"/>
          <a:lstStyle/>
          <a:p>
            <a:pPr marL="0" indent="0">
              <a:buNone/>
            </a:pPr>
            <a:r>
              <a:rPr lang="en-US" sz="1300" b="1" kern="0" spc="100" dirty="0">
                <a:solidFill>
                  <a:srgbClr val="FFC960"/>
                </a:solidFill>
                <a:latin typeface="Calibri" pitchFamily="34" charset="0"/>
                <a:ea typeface="Calibri" pitchFamily="34" charset="-122"/>
                <a:cs typeface="Calibri" pitchFamily="34" charset="-120"/>
              </a:rPr>
              <a:t>🔄  AUTOMATED WORKFLOW</a:t>
            </a:r>
            <a:endParaRPr lang="en-US" sz="1300" dirty="0"/>
          </a:p>
        </p:txBody>
      </p:sp>
      <p:sp>
        <p:nvSpPr>
          <p:cNvPr id="12" name="Shape 10"/>
          <p:cNvSpPr/>
          <p:nvPr/>
        </p:nvSpPr>
        <p:spPr>
          <a:xfrm>
            <a:off x="502920" y="2999232"/>
            <a:ext cx="3563112" cy="960120"/>
          </a:xfrm>
          <a:prstGeom prst="roundRect">
            <a:avLst>
              <a:gd name="adj" fmla="val 8571"/>
            </a:avLst>
          </a:prstGeom>
          <a:solidFill>
            <a:srgbClr val="1B2350"/>
          </a:solidFill>
          <a:ln w="12700">
            <a:solidFill>
              <a:srgbClr val="2A3468"/>
            </a:solidFill>
            <a:prstDash val="solid"/>
          </a:ln>
        </p:spPr>
      </p:sp>
      <p:sp>
        <p:nvSpPr>
          <p:cNvPr id="13" name="Shape 11"/>
          <p:cNvSpPr/>
          <p:nvPr/>
        </p:nvSpPr>
        <p:spPr>
          <a:xfrm>
            <a:off x="612648" y="3108960"/>
            <a:ext cx="292608" cy="292608"/>
          </a:xfrm>
          <a:prstGeom prst="ellipse">
            <a:avLst/>
          </a:prstGeom>
          <a:solidFill>
            <a:srgbClr val="FFC960"/>
          </a:solidFill>
          <a:ln/>
        </p:spPr>
      </p:sp>
      <p:sp>
        <p:nvSpPr>
          <p:cNvPr id="14" name="Text 12"/>
          <p:cNvSpPr/>
          <p:nvPr/>
        </p:nvSpPr>
        <p:spPr>
          <a:xfrm>
            <a:off x="612648" y="3090672"/>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15" name="Text 13"/>
          <p:cNvSpPr/>
          <p:nvPr/>
        </p:nvSpPr>
        <p:spPr>
          <a:xfrm>
            <a:off x="612648"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N8N email trigger detects new message</a:t>
            </a:r>
            <a:endParaRPr lang="en-US" sz="1000" dirty="0"/>
          </a:p>
        </p:txBody>
      </p:sp>
      <p:sp>
        <p:nvSpPr>
          <p:cNvPr id="16" name="Text 14"/>
          <p:cNvSpPr/>
          <p:nvPr/>
        </p:nvSpPr>
        <p:spPr>
          <a:xfrm>
            <a:off x="4066032" y="3255264"/>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17" name="Shape 15"/>
          <p:cNvSpPr/>
          <p:nvPr/>
        </p:nvSpPr>
        <p:spPr>
          <a:xfrm>
            <a:off x="4322064" y="2999232"/>
            <a:ext cx="3563112" cy="960120"/>
          </a:xfrm>
          <a:prstGeom prst="roundRect">
            <a:avLst>
              <a:gd name="adj" fmla="val 8571"/>
            </a:avLst>
          </a:prstGeom>
          <a:solidFill>
            <a:srgbClr val="1B2350"/>
          </a:solidFill>
          <a:ln w="12700">
            <a:solidFill>
              <a:srgbClr val="2A3468"/>
            </a:solidFill>
            <a:prstDash val="solid"/>
          </a:ln>
        </p:spPr>
      </p:sp>
      <p:sp>
        <p:nvSpPr>
          <p:cNvPr id="18" name="Shape 16"/>
          <p:cNvSpPr/>
          <p:nvPr/>
        </p:nvSpPr>
        <p:spPr>
          <a:xfrm>
            <a:off x="4431792" y="3108960"/>
            <a:ext cx="292608" cy="292608"/>
          </a:xfrm>
          <a:prstGeom prst="ellipse">
            <a:avLst/>
          </a:prstGeom>
          <a:solidFill>
            <a:srgbClr val="FFC960"/>
          </a:solidFill>
          <a:ln/>
        </p:spPr>
      </p:sp>
      <p:sp>
        <p:nvSpPr>
          <p:cNvPr id="19" name="Text 17"/>
          <p:cNvSpPr/>
          <p:nvPr/>
        </p:nvSpPr>
        <p:spPr>
          <a:xfrm>
            <a:off x="4431792" y="3090672"/>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20" name="Text 18"/>
          <p:cNvSpPr/>
          <p:nvPr/>
        </p:nvSpPr>
        <p:spPr>
          <a:xfrm>
            <a:off x="4431792"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Claude classifies: category, urgency, sentiment</a:t>
            </a:r>
            <a:endParaRPr lang="en-US" sz="1000" dirty="0"/>
          </a:p>
        </p:txBody>
      </p:sp>
      <p:sp>
        <p:nvSpPr>
          <p:cNvPr id="21" name="Text 19"/>
          <p:cNvSpPr/>
          <p:nvPr/>
        </p:nvSpPr>
        <p:spPr>
          <a:xfrm>
            <a:off x="7885176" y="3255264"/>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22" name="Shape 20"/>
          <p:cNvSpPr/>
          <p:nvPr/>
        </p:nvSpPr>
        <p:spPr>
          <a:xfrm>
            <a:off x="8141208" y="2999232"/>
            <a:ext cx="3563112" cy="960120"/>
          </a:xfrm>
          <a:prstGeom prst="roundRect">
            <a:avLst>
              <a:gd name="adj" fmla="val 8571"/>
            </a:avLst>
          </a:prstGeom>
          <a:solidFill>
            <a:srgbClr val="1B2350"/>
          </a:solidFill>
          <a:ln w="12700">
            <a:solidFill>
              <a:srgbClr val="2A3468"/>
            </a:solidFill>
            <a:prstDash val="solid"/>
          </a:ln>
        </p:spPr>
      </p:sp>
      <p:sp>
        <p:nvSpPr>
          <p:cNvPr id="23" name="Shape 21"/>
          <p:cNvSpPr/>
          <p:nvPr/>
        </p:nvSpPr>
        <p:spPr>
          <a:xfrm>
            <a:off x="8250936" y="3108960"/>
            <a:ext cx="292608" cy="292608"/>
          </a:xfrm>
          <a:prstGeom prst="ellipse">
            <a:avLst/>
          </a:prstGeom>
          <a:solidFill>
            <a:srgbClr val="FFC960"/>
          </a:solidFill>
          <a:ln/>
        </p:spPr>
      </p:sp>
      <p:sp>
        <p:nvSpPr>
          <p:cNvPr id="24" name="Text 22"/>
          <p:cNvSpPr/>
          <p:nvPr/>
        </p:nvSpPr>
        <p:spPr>
          <a:xfrm>
            <a:off x="8250936" y="3090672"/>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25" name="Text 23"/>
          <p:cNvSpPr/>
          <p:nvPr/>
        </p:nvSpPr>
        <p:spPr>
          <a:xfrm>
            <a:off x="8250936"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Claude extracts order info + drafts response</a:t>
            </a:r>
            <a:endParaRPr lang="en-US" sz="1000" dirty="0"/>
          </a:p>
        </p:txBody>
      </p:sp>
      <p:sp>
        <p:nvSpPr>
          <p:cNvPr id="26" name="Shape 24"/>
          <p:cNvSpPr/>
          <p:nvPr/>
        </p:nvSpPr>
        <p:spPr>
          <a:xfrm>
            <a:off x="502920" y="4114800"/>
            <a:ext cx="3563112" cy="960120"/>
          </a:xfrm>
          <a:prstGeom prst="roundRect">
            <a:avLst>
              <a:gd name="adj" fmla="val 8571"/>
            </a:avLst>
          </a:prstGeom>
          <a:solidFill>
            <a:srgbClr val="1B2350"/>
          </a:solidFill>
          <a:ln w="12700">
            <a:solidFill>
              <a:srgbClr val="2A3468"/>
            </a:solidFill>
            <a:prstDash val="solid"/>
          </a:ln>
        </p:spPr>
      </p:sp>
      <p:sp>
        <p:nvSpPr>
          <p:cNvPr id="27" name="Shape 25"/>
          <p:cNvSpPr/>
          <p:nvPr/>
        </p:nvSpPr>
        <p:spPr>
          <a:xfrm>
            <a:off x="612648" y="4224528"/>
            <a:ext cx="292608" cy="292608"/>
          </a:xfrm>
          <a:prstGeom prst="ellipse">
            <a:avLst/>
          </a:prstGeom>
          <a:solidFill>
            <a:srgbClr val="FFC960"/>
          </a:solidFill>
          <a:ln/>
        </p:spPr>
      </p:sp>
      <p:sp>
        <p:nvSpPr>
          <p:cNvPr id="28" name="Text 26"/>
          <p:cNvSpPr/>
          <p:nvPr/>
        </p:nvSpPr>
        <p:spPr>
          <a:xfrm>
            <a:off x="612648" y="4206240"/>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29" name="Text 27"/>
          <p:cNvSpPr/>
          <p:nvPr/>
        </p:nvSpPr>
        <p:spPr>
          <a:xfrm>
            <a:off x="612648"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N8N routes by urgency &amp; category rules</a:t>
            </a:r>
            <a:endParaRPr lang="en-US" sz="1000" dirty="0"/>
          </a:p>
        </p:txBody>
      </p:sp>
      <p:sp>
        <p:nvSpPr>
          <p:cNvPr id="30" name="Text 28"/>
          <p:cNvSpPr/>
          <p:nvPr/>
        </p:nvSpPr>
        <p:spPr>
          <a:xfrm>
            <a:off x="4066032" y="4370832"/>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31" name="Shape 29"/>
          <p:cNvSpPr/>
          <p:nvPr/>
        </p:nvSpPr>
        <p:spPr>
          <a:xfrm>
            <a:off x="4322064" y="4114800"/>
            <a:ext cx="3563112" cy="960120"/>
          </a:xfrm>
          <a:prstGeom prst="roundRect">
            <a:avLst>
              <a:gd name="adj" fmla="val 8571"/>
            </a:avLst>
          </a:prstGeom>
          <a:solidFill>
            <a:srgbClr val="1B2350"/>
          </a:solidFill>
          <a:ln w="12700">
            <a:solidFill>
              <a:srgbClr val="2A3468"/>
            </a:solidFill>
            <a:prstDash val="solid"/>
          </a:ln>
        </p:spPr>
      </p:sp>
      <p:sp>
        <p:nvSpPr>
          <p:cNvPr id="32" name="Shape 30"/>
          <p:cNvSpPr/>
          <p:nvPr/>
        </p:nvSpPr>
        <p:spPr>
          <a:xfrm>
            <a:off x="4431792" y="4224528"/>
            <a:ext cx="292608" cy="292608"/>
          </a:xfrm>
          <a:prstGeom prst="ellipse">
            <a:avLst/>
          </a:prstGeom>
          <a:solidFill>
            <a:srgbClr val="FFC960"/>
          </a:solidFill>
          <a:ln/>
        </p:spPr>
      </p:sp>
      <p:sp>
        <p:nvSpPr>
          <p:cNvPr id="33" name="Text 31"/>
          <p:cNvSpPr/>
          <p:nvPr/>
        </p:nvSpPr>
        <p:spPr>
          <a:xfrm>
            <a:off x="4431792" y="4206240"/>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34" name="Text 32"/>
          <p:cNvSpPr/>
          <p:nvPr/>
        </p:nvSpPr>
        <p:spPr>
          <a:xfrm>
            <a:off x="4431792"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Jira ticket auto-created with full context</a:t>
            </a:r>
            <a:endParaRPr lang="en-US" sz="1000" dirty="0"/>
          </a:p>
        </p:txBody>
      </p:sp>
      <p:sp>
        <p:nvSpPr>
          <p:cNvPr id="35" name="Text 33"/>
          <p:cNvSpPr/>
          <p:nvPr/>
        </p:nvSpPr>
        <p:spPr>
          <a:xfrm>
            <a:off x="7885176" y="4370832"/>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36" name="Shape 34"/>
          <p:cNvSpPr/>
          <p:nvPr/>
        </p:nvSpPr>
        <p:spPr>
          <a:xfrm>
            <a:off x="8141208" y="4114800"/>
            <a:ext cx="3563112" cy="960120"/>
          </a:xfrm>
          <a:prstGeom prst="roundRect">
            <a:avLst>
              <a:gd name="adj" fmla="val 8571"/>
            </a:avLst>
          </a:prstGeom>
          <a:solidFill>
            <a:srgbClr val="1B2350"/>
          </a:solidFill>
          <a:ln w="12700">
            <a:solidFill>
              <a:srgbClr val="2A3468"/>
            </a:solidFill>
            <a:prstDash val="solid"/>
          </a:ln>
        </p:spPr>
      </p:sp>
      <p:sp>
        <p:nvSpPr>
          <p:cNvPr id="37" name="Shape 35"/>
          <p:cNvSpPr/>
          <p:nvPr/>
        </p:nvSpPr>
        <p:spPr>
          <a:xfrm>
            <a:off x="8250936" y="4224528"/>
            <a:ext cx="292608" cy="292608"/>
          </a:xfrm>
          <a:prstGeom prst="ellipse">
            <a:avLst/>
          </a:prstGeom>
          <a:solidFill>
            <a:srgbClr val="FFC960"/>
          </a:solidFill>
          <a:ln/>
        </p:spPr>
      </p:sp>
      <p:sp>
        <p:nvSpPr>
          <p:cNvPr id="38" name="Text 36"/>
          <p:cNvSpPr/>
          <p:nvPr/>
        </p:nvSpPr>
        <p:spPr>
          <a:xfrm>
            <a:off x="8250936" y="4206240"/>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39" name="Text 37"/>
          <p:cNvSpPr/>
          <p:nvPr/>
        </p:nvSpPr>
        <p:spPr>
          <a:xfrm>
            <a:off x="8250936"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Personalized auto-reply sent to customer</a:t>
            </a:r>
            <a:endParaRPr lang="en-US" sz="1000" dirty="0"/>
          </a:p>
        </p:txBody>
      </p:sp>
      <p:sp>
        <p:nvSpPr>
          <p:cNvPr id="40" name="Shape 38"/>
          <p:cNvSpPr/>
          <p:nvPr/>
        </p:nvSpPr>
        <p:spPr>
          <a:xfrm>
            <a:off x="502920" y="5257800"/>
            <a:ext cx="11201400" cy="960120"/>
          </a:xfrm>
          <a:prstGeom prst="roundRect">
            <a:avLst>
              <a:gd name="adj" fmla="val 8571"/>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41" name="Text 39"/>
          <p:cNvSpPr/>
          <p:nvPr/>
        </p:nvSpPr>
        <p:spPr>
          <a:xfrm>
            <a:off x="5029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2 min</a:t>
            </a:r>
            <a:endParaRPr lang="en-US" sz="1600" dirty="0"/>
          </a:p>
        </p:txBody>
      </p:sp>
      <p:sp>
        <p:nvSpPr>
          <p:cNvPr id="42" name="Text 40"/>
          <p:cNvSpPr/>
          <p:nvPr/>
        </p:nvSpPr>
        <p:spPr>
          <a:xfrm>
            <a:off x="5486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vs. 4-8 hrs manual</a:t>
            </a:r>
            <a:endParaRPr lang="en-US" sz="900" dirty="0"/>
          </a:p>
        </p:txBody>
      </p:sp>
      <p:sp>
        <p:nvSpPr>
          <p:cNvPr id="43" name="Text 41"/>
          <p:cNvSpPr/>
          <p:nvPr/>
        </p:nvSpPr>
        <p:spPr>
          <a:xfrm>
            <a:off x="42367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96%</a:t>
            </a:r>
            <a:endParaRPr lang="en-US" sz="1600" dirty="0"/>
          </a:p>
        </p:txBody>
      </p:sp>
      <p:sp>
        <p:nvSpPr>
          <p:cNvPr id="44" name="Text 42"/>
          <p:cNvSpPr/>
          <p:nvPr/>
        </p:nvSpPr>
        <p:spPr>
          <a:xfrm>
            <a:off x="42824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routing accuracy</a:t>
            </a:r>
            <a:endParaRPr lang="en-US" sz="900" dirty="0"/>
          </a:p>
        </p:txBody>
      </p:sp>
      <p:sp>
        <p:nvSpPr>
          <p:cNvPr id="45" name="Text 43"/>
          <p:cNvSpPr/>
          <p:nvPr/>
        </p:nvSpPr>
        <p:spPr>
          <a:xfrm>
            <a:off x="79705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+34%</a:t>
            </a:r>
            <a:endParaRPr lang="en-US" sz="1600" dirty="0"/>
          </a:p>
        </p:txBody>
      </p:sp>
      <p:sp>
        <p:nvSpPr>
          <p:cNvPr id="46" name="Text 44"/>
          <p:cNvSpPr/>
          <p:nvPr/>
        </p:nvSpPr>
        <p:spPr>
          <a:xfrm>
            <a:off x="80162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CSAT improvement</a:t>
            </a:r>
            <a:endParaRPr lang="en-US" sz="900" dirty="0"/>
          </a:p>
        </p:txBody>
      </p:sp>
      <p:sp>
        <p:nvSpPr>
          <p:cNvPr id="47" name="Text 45"/>
          <p:cNvSpPr/>
          <p:nvPr/>
        </p:nvSpPr>
        <p:spPr>
          <a:xfrm>
            <a:off x="10634472" y="6473952"/>
            <a:ext cx="1280160" cy="274320"/>
          </a:xfrm>
          <a:prstGeom prst="rect">
            <a:avLst/>
          </a:prstGeom>
          <a:noFill/>
          <a:ln/>
        </p:spPr>
        <p:txBody>
          <a:bodyPr wrap="square" rtlCol="0" anchor="ctr"/>
          <a:lstStyle/>
          <a:p>
            <a:pPr marL="0" indent="0" algn="r">
              <a:buNone/>
            </a:pPr>
            <a:r>
              <a:rPr lang="en-US" sz="900" dirty="0">
                <a:solidFill>
                  <a:srgbClr val="6B77A6"/>
                </a:solidFill>
                <a:latin typeface="Calibri" pitchFamily="34" charset="0"/>
                <a:ea typeface="Calibri" pitchFamily="34" charset="-122"/>
                <a:cs typeface="Calibri"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FFC960">
              <a:alpha val="10000"/>
            </a:srgbClr>
          </a:solidFill>
          <a:ln/>
        </p:spPr>
      </p:sp>
      <p:sp>
        <p:nvSpPr>
          <p:cNvPr id="3" name="Shape 1"/>
          <p:cNvSpPr/>
          <p:nvPr/>
        </p:nvSpPr>
        <p:spPr>
          <a:xfrm>
            <a:off x="-1645920" y="5120640"/>
            <a:ext cx="3291840" cy="3291840"/>
          </a:xfrm>
          <a:prstGeom prst="ellipse">
            <a:avLst/>
          </a:prstGeom>
          <a:solidFill>
            <a:srgbClr val="FFC960">
              <a:alpha val="8000"/>
            </a:srgbClr>
          </a:solidFill>
          <a:ln/>
        </p:spPr>
      </p:sp>
      <p:sp>
        <p:nvSpPr>
          <p:cNvPr id="4" name="Shape 2"/>
          <p:cNvSpPr/>
          <p:nvPr/>
        </p:nvSpPr>
        <p:spPr>
          <a:xfrm>
            <a:off x="502920" y="457200"/>
            <a:ext cx="658368" cy="658368"/>
          </a:xfrm>
          <a:prstGeom prst="ellipse">
            <a:avLst/>
          </a:prstGeom>
          <a:solidFill>
            <a:srgbClr val="FFC960">
              <a:alpha val="22000"/>
            </a:srgbClr>
          </a:solidFill>
          <a:ln w="15875">
            <a:solidFill>
              <a:srgbClr val="FFC960"/>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FFC960"/>
                </a:solidFill>
                <a:latin typeface="Calibri" pitchFamily="34" charset="0"/>
                <a:ea typeface="Calibri" pitchFamily="34" charset="-122"/>
                <a:cs typeface="Calibri" pitchFamily="34" charset="-120"/>
              </a:rPr>
              <a:t>EXAMPLE 03</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AI-Powered Sprint Planning</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Automated sprint recommendation every Monday morning</a:t>
            </a:r>
            <a:endParaRPr lang="en-US" sz="1350" dirty="0"/>
          </a:p>
        </p:txBody>
      </p:sp>
      <p:sp>
        <p:nvSpPr>
          <p:cNvPr id="9" name="Shape 7"/>
          <p:cNvSpPr/>
          <p:nvPr/>
        </p:nvSpPr>
        <p:spPr>
          <a:xfrm>
            <a:off x="502920" y="1691640"/>
            <a:ext cx="11201400" cy="868680"/>
          </a:xfrm>
          <a:prstGeom prst="roundRect">
            <a:avLst>
              <a:gd name="adj" fmla="val 9474"/>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777240" y="1801368"/>
            <a:ext cx="10698480" cy="658368"/>
          </a:xfrm>
          <a:prstGeom prst="rect">
            <a:avLst/>
          </a:prstGeom>
          <a:noFill/>
          <a:ln/>
        </p:spPr>
        <p:txBody>
          <a:bodyPr wrap="square" rtlCol="0" anchor="ctr"/>
          <a:lstStyle/>
          <a:p>
            <a:pPr marL="0" indent="0">
              <a:lnSpc>
                <a:spcPct val="115000"/>
              </a:lnSpc>
              <a:buNone/>
            </a:pPr>
            <a:r>
              <a:rPr lang="en-US" sz="1150" dirty="0">
                <a:solidFill>
                  <a:srgbClr val="E8ECFA"/>
                </a:solidFill>
                <a:latin typeface="Calibri" pitchFamily="34" charset="0"/>
                <a:ea typeface="Calibri" pitchFamily="34" charset="-122"/>
                <a:cs typeface="Calibri" pitchFamily="34" charset="-120"/>
              </a:rPr>
              <a:t>📌 SCENARIO   Every Monday, a 2-hour meeting reviews 200+ backlog items. With AI automation, the full analysis is ready before the meeting even starts.</a:t>
            </a:r>
            <a:endParaRPr lang="en-US" sz="1150" dirty="0"/>
          </a:p>
        </p:txBody>
      </p:sp>
      <p:sp>
        <p:nvSpPr>
          <p:cNvPr id="11" name="Text 9"/>
          <p:cNvSpPr/>
          <p:nvPr/>
        </p:nvSpPr>
        <p:spPr>
          <a:xfrm>
            <a:off x="502920" y="2697480"/>
            <a:ext cx="9144000" cy="292608"/>
          </a:xfrm>
          <a:prstGeom prst="rect">
            <a:avLst/>
          </a:prstGeom>
          <a:noFill/>
          <a:ln/>
        </p:spPr>
        <p:txBody>
          <a:bodyPr wrap="square" rtlCol="0" anchor="ctr"/>
          <a:lstStyle/>
          <a:p>
            <a:pPr marL="0" indent="0">
              <a:buNone/>
            </a:pPr>
            <a:r>
              <a:rPr lang="en-US" sz="1300" b="1" kern="0" spc="100" dirty="0">
                <a:solidFill>
                  <a:srgbClr val="FFC960"/>
                </a:solidFill>
                <a:latin typeface="Calibri" pitchFamily="34" charset="0"/>
                <a:ea typeface="Calibri" pitchFamily="34" charset="-122"/>
                <a:cs typeface="Calibri" pitchFamily="34" charset="-120"/>
              </a:rPr>
              <a:t>🔄  AUTOMATED WORKFLOW</a:t>
            </a:r>
            <a:endParaRPr lang="en-US" sz="1300" dirty="0"/>
          </a:p>
        </p:txBody>
      </p:sp>
      <p:sp>
        <p:nvSpPr>
          <p:cNvPr id="12" name="Shape 10"/>
          <p:cNvSpPr/>
          <p:nvPr/>
        </p:nvSpPr>
        <p:spPr>
          <a:xfrm>
            <a:off x="502920" y="2999232"/>
            <a:ext cx="3563112" cy="960120"/>
          </a:xfrm>
          <a:prstGeom prst="roundRect">
            <a:avLst>
              <a:gd name="adj" fmla="val 8571"/>
            </a:avLst>
          </a:prstGeom>
          <a:solidFill>
            <a:srgbClr val="1B2350"/>
          </a:solidFill>
          <a:ln w="12700">
            <a:solidFill>
              <a:srgbClr val="2A3468"/>
            </a:solidFill>
            <a:prstDash val="solid"/>
          </a:ln>
        </p:spPr>
      </p:sp>
      <p:sp>
        <p:nvSpPr>
          <p:cNvPr id="13" name="Shape 11"/>
          <p:cNvSpPr/>
          <p:nvPr/>
        </p:nvSpPr>
        <p:spPr>
          <a:xfrm>
            <a:off x="612648" y="3108960"/>
            <a:ext cx="292608" cy="292608"/>
          </a:xfrm>
          <a:prstGeom prst="ellipse">
            <a:avLst/>
          </a:prstGeom>
          <a:solidFill>
            <a:srgbClr val="FFC960"/>
          </a:solidFill>
          <a:ln/>
        </p:spPr>
      </p:sp>
      <p:sp>
        <p:nvSpPr>
          <p:cNvPr id="14" name="Text 12"/>
          <p:cNvSpPr/>
          <p:nvPr/>
        </p:nvSpPr>
        <p:spPr>
          <a:xfrm>
            <a:off x="612648" y="3090672"/>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15" name="Text 13"/>
          <p:cNvSpPr/>
          <p:nvPr/>
        </p:nvSpPr>
        <p:spPr>
          <a:xfrm>
            <a:off x="612648"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N8N cron triggers Monday 7:00 AM</a:t>
            </a:r>
            <a:endParaRPr lang="en-US" sz="1000" dirty="0"/>
          </a:p>
        </p:txBody>
      </p:sp>
      <p:sp>
        <p:nvSpPr>
          <p:cNvPr id="16" name="Text 14"/>
          <p:cNvSpPr/>
          <p:nvPr/>
        </p:nvSpPr>
        <p:spPr>
          <a:xfrm>
            <a:off x="4066032" y="3255264"/>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17" name="Shape 15"/>
          <p:cNvSpPr/>
          <p:nvPr/>
        </p:nvSpPr>
        <p:spPr>
          <a:xfrm>
            <a:off x="4322064" y="2999232"/>
            <a:ext cx="3563112" cy="960120"/>
          </a:xfrm>
          <a:prstGeom prst="roundRect">
            <a:avLst>
              <a:gd name="adj" fmla="val 8571"/>
            </a:avLst>
          </a:prstGeom>
          <a:solidFill>
            <a:srgbClr val="1B2350"/>
          </a:solidFill>
          <a:ln w="12700">
            <a:solidFill>
              <a:srgbClr val="2A3468"/>
            </a:solidFill>
            <a:prstDash val="solid"/>
          </a:ln>
        </p:spPr>
      </p:sp>
      <p:sp>
        <p:nvSpPr>
          <p:cNvPr id="18" name="Shape 16"/>
          <p:cNvSpPr/>
          <p:nvPr/>
        </p:nvSpPr>
        <p:spPr>
          <a:xfrm>
            <a:off x="4431792" y="3108960"/>
            <a:ext cx="292608" cy="292608"/>
          </a:xfrm>
          <a:prstGeom prst="ellipse">
            <a:avLst/>
          </a:prstGeom>
          <a:solidFill>
            <a:srgbClr val="FFC960"/>
          </a:solidFill>
          <a:ln/>
        </p:spPr>
      </p:sp>
      <p:sp>
        <p:nvSpPr>
          <p:cNvPr id="19" name="Text 17"/>
          <p:cNvSpPr/>
          <p:nvPr/>
        </p:nvSpPr>
        <p:spPr>
          <a:xfrm>
            <a:off x="4431792" y="3090672"/>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20" name="Text 18"/>
          <p:cNvSpPr/>
          <p:nvPr/>
        </p:nvSpPr>
        <p:spPr>
          <a:xfrm>
            <a:off x="4431792"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Fetch full Jira backlog (200+ items)</a:t>
            </a:r>
            <a:endParaRPr lang="en-US" sz="1000" dirty="0"/>
          </a:p>
        </p:txBody>
      </p:sp>
      <p:sp>
        <p:nvSpPr>
          <p:cNvPr id="21" name="Text 19"/>
          <p:cNvSpPr/>
          <p:nvPr/>
        </p:nvSpPr>
        <p:spPr>
          <a:xfrm>
            <a:off x="7885176" y="3255264"/>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22" name="Shape 20"/>
          <p:cNvSpPr/>
          <p:nvPr/>
        </p:nvSpPr>
        <p:spPr>
          <a:xfrm>
            <a:off x="8141208" y="2999232"/>
            <a:ext cx="3563112" cy="960120"/>
          </a:xfrm>
          <a:prstGeom prst="roundRect">
            <a:avLst>
              <a:gd name="adj" fmla="val 8571"/>
            </a:avLst>
          </a:prstGeom>
          <a:solidFill>
            <a:srgbClr val="1B2350"/>
          </a:solidFill>
          <a:ln w="12700">
            <a:solidFill>
              <a:srgbClr val="2A3468"/>
            </a:solidFill>
            <a:prstDash val="solid"/>
          </a:ln>
        </p:spPr>
      </p:sp>
      <p:sp>
        <p:nvSpPr>
          <p:cNvPr id="23" name="Shape 21"/>
          <p:cNvSpPr/>
          <p:nvPr/>
        </p:nvSpPr>
        <p:spPr>
          <a:xfrm>
            <a:off x="8250936" y="3108960"/>
            <a:ext cx="292608" cy="292608"/>
          </a:xfrm>
          <a:prstGeom prst="ellipse">
            <a:avLst/>
          </a:prstGeom>
          <a:solidFill>
            <a:srgbClr val="FFC960"/>
          </a:solidFill>
          <a:ln/>
        </p:spPr>
      </p:sp>
      <p:sp>
        <p:nvSpPr>
          <p:cNvPr id="24" name="Text 22"/>
          <p:cNvSpPr/>
          <p:nvPr/>
        </p:nvSpPr>
        <p:spPr>
          <a:xfrm>
            <a:off x="8250936" y="3090672"/>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25" name="Text 23"/>
          <p:cNvSpPr/>
          <p:nvPr/>
        </p:nvSpPr>
        <p:spPr>
          <a:xfrm>
            <a:off x="8250936" y="3438144"/>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Fetch team velocity &amp; capacity data</a:t>
            </a:r>
            <a:endParaRPr lang="en-US" sz="1000" dirty="0"/>
          </a:p>
        </p:txBody>
      </p:sp>
      <p:sp>
        <p:nvSpPr>
          <p:cNvPr id="26" name="Shape 24"/>
          <p:cNvSpPr/>
          <p:nvPr/>
        </p:nvSpPr>
        <p:spPr>
          <a:xfrm>
            <a:off x="502920" y="4114800"/>
            <a:ext cx="3563112" cy="960120"/>
          </a:xfrm>
          <a:prstGeom prst="roundRect">
            <a:avLst>
              <a:gd name="adj" fmla="val 8571"/>
            </a:avLst>
          </a:prstGeom>
          <a:solidFill>
            <a:srgbClr val="1B2350"/>
          </a:solidFill>
          <a:ln w="12700">
            <a:solidFill>
              <a:srgbClr val="2A3468"/>
            </a:solidFill>
            <a:prstDash val="solid"/>
          </a:ln>
        </p:spPr>
      </p:sp>
      <p:sp>
        <p:nvSpPr>
          <p:cNvPr id="27" name="Shape 25"/>
          <p:cNvSpPr/>
          <p:nvPr/>
        </p:nvSpPr>
        <p:spPr>
          <a:xfrm>
            <a:off x="612648" y="4224528"/>
            <a:ext cx="292608" cy="292608"/>
          </a:xfrm>
          <a:prstGeom prst="ellipse">
            <a:avLst/>
          </a:prstGeom>
          <a:solidFill>
            <a:srgbClr val="FFC960"/>
          </a:solidFill>
          <a:ln/>
        </p:spPr>
      </p:sp>
      <p:sp>
        <p:nvSpPr>
          <p:cNvPr id="28" name="Text 26"/>
          <p:cNvSpPr/>
          <p:nvPr/>
        </p:nvSpPr>
        <p:spPr>
          <a:xfrm>
            <a:off x="612648" y="4206240"/>
            <a:ext cx="292608" cy="292608"/>
          </a:xfrm>
          <a:prstGeom prst="rect">
            <a:avLst/>
          </a:prstGeom>
          <a:noFill/>
          <a:ln/>
        </p:spPr>
        <p:txBody>
          <a:bodyPr wrap="square" rtlCol="0" anchor="ctr"/>
          <a:lstStyle/>
          <a:p>
            <a:pPr marL="0" indent="0" algn="ctr">
              <a:buNone/>
            </a:pPr>
            <a:r>
              <a:rPr lang="en-US" sz="1200" b="1" dirty="0">
                <a:solidFill>
                  <a:srgbClr val="0A0E27"/>
                </a:solidFill>
              </a:rPr>
              <a:t>1</a:t>
            </a:r>
            <a:endParaRPr lang="en-US" sz="1200" dirty="0"/>
          </a:p>
        </p:txBody>
      </p:sp>
      <p:sp>
        <p:nvSpPr>
          <p:cNvPr id="29" name="Text 27"/>
          <p:cNvSpPr/>
          <p:nvPr/>
        </p:nvSpPr>
        <p:spPr>
          <a:xfrm>
            <a:off x="612648"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Claude analyzes priorities &amp; dependencies</a:t>
            </a:r>
            <a:endParaRPr lang="en-US" sz="1000" dirty="0"/>
          </a:p>
        </p:txBody>
      </p:sp>
      <p:sp>
        <p:nvSpPr>
          <p:cNvPr id="30" name="Text 28"/>
          <p:cNvSpPr/>
          <p:nvPr/>
        </p:nvSpPr>
        <p:spPr>
          <a:xfrm>
            <a:off x="4066032" y="4370832"/>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31" name="Shape 29"/>
          <p:cNvSpPr/>
          <p:nvPr/>
        </p:nvSpPr>
        <p:spPr>
          <a:xfrm>
            <a:off x="4322064" y="4114800"/>
            <a:ext cx="3563112" cy="960120"/>
          </a:xfrm>
          <a:prstGeom prst="roundRect">
            <a:avLst>
              <a:gd name="adj" fmla="val 8571"/>
            </a:avLst>
          </a:prstGeom>
          <a:solidFill>
            <a:srgbClr val="1B2350"/>
          </a:solidFill>
          <a:ln w="12700">
            <a:solidFill>
              <a:srgbClr val="2A3468"/>
            </a:solidFill>
            <a:prstDash val="solid"/>
          </a:ln>
        </p:spPr>
      </p:sp>
      <p:sp>
        <p:nvSpPr>
          <p:cNvPr id="32" name="Shape 30"/>
          <p:cNvSpPr/>
          <p:nvPr/>
        </p:nvSpPr>
        <p:spPr>
          <a:xfrm>
            <a:off x="4431792" y="4224528"/>
            <a:ext cx="292608" cy="292608"/>
          </a:xfrm>
          <a:prstGeom prst="ellipse">
            <a:avLst/>
          </a:prstGeom>
          <a:solidFill>
            <a:srgbClr val="FFC960"/>
          </a:solidFill>
          <a:ln/>
        </p:spPr>
      </p:sp>
      <p:sp>
        <p:nvSpPr>
          <p:cNvPr id="33" name="Text 31"/>
          <p:cNvSpPr/>
          <p:nvPr/>
        </p:nvSpPr>
        <p:spPr>
          <a:xfrm>
            <a:off x="4431792" y="4206240"/>
            <a:ext cx="292608" cy="292608"/>
          </a:xfrm>
          <a:prstGeom prst="rect">
            <a:avLst/>
          </a:prstGeom>
          <a:noFill/>
          <a:ln/>
        </p:spPr>
        <p:txBody>
          <a:bodyPr wrap="square" rtlCol="0" anchor="ctr"/>
          <a:lstStyle/>
          <a:p>
            <a:pPr marL="0" indent="0" algn="ctr">
              <a:buNone/>
            </a:pPr>
            <a:r>
              <a:rPr lang="en-US" sz="1200" b="1" dirty="0">
                <a:solidFill>
                  <a:srgbClr val="0A0E27"/>
                </a:solidFill>
              </a:rPr>
              <a:t>2</a:t>
            </a:r>
            <a:endParaRPr lang="en-US" sz="1200" dirty="0"/>
          </a:p>
        </p:txBody>
      </p:sp>
      <p:sp>
        <p:nvSpPr>
          <p:cNvPr id="34" name="Text 32"/>
          <p:cNvSpPr/>
          <p:nvPr/>
        </p:nvSpPr>
        <p:spPr>
          <a:xfrm>
            <a:off x="4431792"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N8N auto-creates sprint in Jira</a:t>
            </a:r>
            <a:endParaRPr lang="en-US" sz="1000" dirty="0"/>
          </a:p>
        </p:txBody>
      </p:sp>
      <p:sp>
        <p:nvSpPr>
          <p:cNvPr id="35" name="Text 33"/>
          <p:cNvSpPr/>
          <p:nvPr/>
        </p:nvSpPr>
        <p:spPr>
          <a:xfrm>
            <a:off x="7885176" y="4370832"/>
            <a:ext cx="256032" cy="365760"/>
          </a:xfrm>
          <a:prstGeom prst="rect">
            <a:avLst/>
          </a:prstGeom>
          <a:noFill/>
          <a:ln/>
        </p:spPr>
        <p:txBody>
          <a:bodyPr wrap="square" rtlCol="0" anchor="ctr"/>
          <a:lstStyle/>
          <a:p>
            <a:pPr marL="0" indent="0" algn="ctr">
              <a:buNone/>
            </a:pPr>
            <a:r>
              <a:rPr lang="en-US" sz="1600" b="1" dirty="0">
                <a:solidFill>
                  <a:srgbClr val="FFC960"/>
                </a:solidFill>
              </a:rPr>
              <a:t>→</a:t>
            </a:r>
            <a:endParaRPr lang="en-US" sz="1600" dirty="0"/>
          </a:p>
        </p:txBody>
      </p:sp>
      <p:sp>
        <p:nvSpPr>
          <p:cNvPr id="36" name="Shape 34"/>
          <p:cNvSpPr/>
          <p:nvPr/>
        </p:nvSpPr>
        <p:spPr>
          <a:xfrm>
            <a:off x="8141208" y="4114800"/>
            <a:ext cx="3563112" cy="960120"/>
          </a:xfrm>
          <a:prstGeom prst="roundRect">
            <a:avLst>
              <a:gd name="adj" fmla="val 8571"/>
            </a:avLst>
          </a:prstGeom>
          <a:solidFill>
            <a:srgbClr val="1B2350"/>
          </a:solidFill>
          <a:ln w="12700">
            <a:solidFill>
              <a:srgbClr val="2A3468"/>
            </a:solidFill>
            <a:prstDash val="solid"/>
          </a:ln>
        </p:spPr>
      </p:sp>
      <p:sp>
        <p:nvSpPr>
          <p:cNvPr id="37" name="Shape 35"/>
          <p:cNvSpPr/>
          <p:nvPr/>
        </p:nvSpPr>
        <p:spPr>
          <a:xfrm>
            <a:off x="8250936" y="4224528"/>
            <a:ext cx="292608" cy="292608"/>
          </a:xfrm>
          <a:prstGeom prst="ellipse">
            <a:avLst/>
          </a:prstGeom>
          <a:solidFill>
            <a:srgbClr val="FFC960"/>
          </a:solidFill>
          <a:ln/>
        </p:spPr>
      </p:sp>
      <p:sp>
        <p:nvSpPr>
          <p:cNvPr id="38" name="Text 36"/>
          <p:cNvSpPr/>
          <p:nvPr/>
        </p:nvSpPr>
        <p:spPr>
          <a:xfrm>
            <a:off x="8250936" y="4206240"/>
            <a:ext cx="292608" cy="292608"/>
          </a:xfrm>
          <a:prstGeom prst="rect">
            <a:avLst/>
          </a:prstGeom>
          <a:noFill/>
          <a:ln/>
        </p:spPr>
        <p:txBody>
          <a:bodyPr wrap="square" rtlCol="0" anchor="ctr"/>
          <a:lstStyle/>
          <a:p>
            <a:pPr marL="0" indent="0" algn="ctr">
              <a:buNone/>
            </a:pPr>
            <a:r>
              <a:rPr lang="en-US" sz="1200" b="1" dirty="0">
                <a:solidFill>
                  <a:srgbClr val="0A0E27"/>
                </a:solidFill>
              </a:rPr>
              <a:t>3</a:t>
            </a:r>
            <a:endParaRPr lang="en-US" sz="1200" dirty="0"/>
          </a:p>
        </p:txBody>
      </p:sp>
      <p:sp>
        <p:nvSpPr>
          <p:cNvPr id="39" name="Text 37"/>
          <p:cNvSpPr/>
          <p:nvPr/>
        </p:nvSpPr>
        <p:spPr>
          <a:xfrm>
            <a:off x="8250936" y="4553712"/>
            <a:ext cx="3343656" cy="475488"/>
          </a:xfrm>
          <a:prstGeom prst="rect">
            <a:avLst/>
          </a:prstGeom>
          <a:noFill/>
          <a:ln/>
        </p:spPr>
        <p:txBody>
          <a:bodyPr wrap="square" rtlCol="0" anchor="t"/>
          <a:lstStyle/>
          <a:p>
            <a:pPr marL="0" indent="0">
              <a:buNone/>
            </a:pPr>
            <a:r>
              <a:rPr lang="en-US" sz="1000" dirty="0">
                <a:solidFill>
                  <a:srgbClr val="E8ECFA"/>
                </a:solidFill>
                <a:latin typeface="Calibri" pitchFamily="34" charset="0"/>
                <a:ea typeface="Calibri" pitchFamily="34" charset="-122"/>
                <a:cs typeface="Calibri" pitchFamily="34" charset="-120"/>
              </a:rPr>
              <a:t>Team briefed via Slack + Confluence</a:t>
            </a:r>
            <a:endParaRPr lang="en-US" sz="1000" dirty="0"/>
          </a:p>
        </p:txBody>
      </p:sp>
      <p:sp>
        <p:nvSpPr>
          <p:cNvPr id="40" name="Shape 38"/>
          <p:cNvSpPr/>
          <p:nvPr/>
        </p:nvSpPr>
        <p:spPr>
          <a:xfrm>
            <a:off x="502920" y="5257800"/>
            <a:ext cx="11201400" cy="960120"/>
          </a:xfrm>
          <a:prstGeom prst="roundRect">
            <a:avLst>
              <a:gd name="adj" fmla="val 8571"/>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41" name="Text 39"/>
          <p:cNvSpPr/>
          <p:nvPr/>
        </p:nvSpPr>
        <p:spPr>
          <a:xfrm>
            <a:off x="5029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30 min</a:t>
            </a:r>
            <a:endParaRPr lang="en-US" sz="1600" dirty="0"/>
          </a:p>
        </p:txBody>
      </p:sp>
      <p:sp>
        <p:nvSpPr>
          <p:cNvPr id="42" name="Text 40"/>
          <p:cNvSpPr/>
          <p:nvPr/>
        </p:nvSpPr>
        <p:spPr>
          <a:xfrm>
            <a:off x="5486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meeting, down from 2 hrs</a:t>
            </a:r>
            <a:endParaRPr lang="en-US" sz="900" dirty="0"/>
          </a:p>
        </p:txBody>
      </p:sp>
      <p:sp>
        <p:nvSpPr>
          <p:cNvPr id="43" name="Text 41"/>
          <p:cNvSpPr/>
          <p:nvPr/>
        </p:nvSpPr>
        <p:spPr>
          <a:xfrm>
            <a:off x="42367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200+</a:t>
            </a:r>
            <a:endParaRPr lang="en-US" sz="1600" dirty="0"/>
          </a:p>
        </p:txBody>
      </p:sp>
      <p:sp>
        <p:nvSpPr>
          <p:cNvPr id="44" name="Text 42"/>
          <p:cNvSpPr/>
          <p:nvPr/>
        </p:nvSpPr>
        <p:spPr>
          <a:xfrm>
            <a:off x="42824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backlog items reviewed</a:t>
            </a:r>
            <a:endParaRPr lang="en-US" sz="900" dirty="0"/>
          </a:p>
        </p:txBody>
      </p:sp>
      <p:sp>
        <p:nvSpPr>
          <p:cNvPr id="45" name="Text 43"/>
          <p:cNvSpPr/>
          <p:nvPr/>
        </p:nvSpPr>
        <p:spPr>
          <a:xfrm>
            <a:off x="7970520" y="5349240"/>
            <a:ext cx="3733800" cy="411480"/>
          </a:xfrm>
          <a:prstGeom prst="rect">
            <a:avLst/>
          </a:prstGeom>
          <a:noFill/>
          <a:ln/>
        </p:spPr>
        <p:txBody>
          <a:bodyPr wrap="square" rtlCol="0" anchor="ctr"/>
          <a:lstStyle/>
          <a:p>
            <a:pPr marL="0" indent="0" algn="ctr">
              <a:buNone/>
            </a:pPr>
            <a:r>
              <a:rPr lang="en-US" sz="1600" b="1" dirty="0">
                <a:solidFill>
                  <a:srgbClr val="FFC960"/>
                </a:solidFill>
                <a:latin typeface="Cambria" pitchFamily="34" charset="0"/>
                <a:ea typeface="Cambria" pitchFamily="34" charset="-122"/>
                <a:cs typeface="Cambria" pitchFamily="34" charset="-120"/>
              </a:rPr>
              <a:t>+23%</a:t>
            </a:r>
            <a:endParaRPr lang="en-US" sz="1600" dirty="0"/>
          </a:p>
        </p:txBody>
      </p:sp>
      <p:sp>
        <p:nvSpPr>
          <p:cNvPr id="46" name="Text 44"/>
          <p:cNvSpPr/>
          <p:nvPr/>
        </p:nvSpPr>
        <p:spPr>
          <a:xfrm>
            <a:off x="8016240" y="5760720"/>
            <a:ext cx="3642360" cy="365760"/>
          </a:xfrm>
          <a:prstGeom prst="rect">
            <a:avLst/>
          </a:prstGeom>
          <a:noFill/>
          <a:ln/>
        </p:spPr>
        <p:txBody>
          <a:bodyPr wrap="square" rtlCol="0" anchor="ctr"/>
          <a:lstStyle/>
          <a:p>
            <a:pPr marL="0" indent="0" algn="ctr">
              <a:buNone/>
            </a:pPr>
            <a:r>
              <a:rPr lang="en-US" sz="900" dirty="0">
                <a:solidFill>
                  <a:srgbClr val="94A0C7"/>
                </a:solidFill>
                <a:latin typeface="Calibri" pitchFamily="34" charset="0"/>
                <a:ea typeface="Calibri" pitchFamily="34" charset="-122"/>
                <a:cs typeface="Calibri" pitchFamily="34" charset="-120"/>
              </a:rPr>
              <a:t>sprint completion rate</a:t>
            </a:r>
            <a:endParaRPr lang="en-US" sz="900" dirty="0"/>
          </a:p>
        </p:txBody>
      </p:sp>
      <p:sp>
        <p:nvSpPr>
          <p:cNvPr id="47" name="Text 45"/>
          <p:cNvSpPr/>
          <p:nvPr/>
        </p:nvSpPr>
        <p:spPr>
          <a:xfrm>
            <a:off x="10634472" y="6473952"/>
            <a:ext cx="1280160" cy="274320"/>
          </a:xfrm>
          <a:prstGeom prst="rect">
            <a:avLst/>
          </a:prstGeom>
          <a:noFill/>
          <a:ln/>
        </p:spPr>
        <p:txBody>
          <a:bodyPr wrap="square" rtlCol="0" anchor="ctr"/>
          <a:lstStyle/>
          <a:p>
            <a:pPr marL="0" indent="0" algn="r">
              <a:buNone/>
            </a:pPr>
            <a:r>
              <a:rPr lang="en-US" sz="900" dirty="0">
                <a:solidFill>
                  <a:srgbClr val="6B77A6"/>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1FD1A8">
              <a:alpha val="10000"/>
            </a:srgbClr>
          </a:solidFill>
          <a:ln/>
        </p:spPr>
      </p:sp>
      <p:sp>
        <p:nvSpPr>
          <p:cNvPr id="3" name="Shape 1"/>
          <p:cNvSpPr/>
          <p:nvPr/>
        </p:nvSpPr>
        <p:spPr>
          <a:xfrm>
            <a:off x="-1645920" y="5120640"/>
            <a:ext cx="3291840" cy="3291840"/>
          </a:xfrm>
          <a:prstGeom prst="ellipse">
            <a:avLst/>
          </a:prstGeom>
          <a:solidFill>
            <a:srgbClr val="1FD1A8">
              <a:alpha val="8000"/>
            </a:srgbClr>
          </a:solidFill>
          <a:ln/>
        </p:spPr>
      </p:sp>
      <p:sp>
        <p:nvSpPr>
          <p:cNvPr id="4" name="Shape 2"/>
          <p:cNvSpPr/>
          <p:nvPr/>
        </p:nvSpPr>
        <p:spPr>
          <a:xfrm>
            <a:off x="502920" y="457200"/>
            <a:ext cx="658368" cy="658368"/>
          </a:xfrm>
          <a:prstGeom prst="ellipse">
            <a:avLst/>
          </a:prstGeom>
          <a:solidFill>
            <a:srgbClr val="1FD1A8">
              <a:alpha val="22000"/>
            </a:srgbClr>
          </a:solidFill>
          <a:ln w="15875">
            <a:solidFill>
              <a:srgbClr val="1FD1A8"/>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1FD1A8"/>
                </a:solidFill>
                <a:latin typeface="Calibri" pitchFamily="34" charset="0"/>
                <a:ea typeface="Calibri" pitchFamily="34" charset="-122"/>
                <a:cs typeface="Calibri" pitchFamily="34" charset="-120"/>
              </a:rPr>
              <a:t>ARCHITECTURE</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Complete System Architecture</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Full AI automation ecosystem — end-to-end view</a:t>
            </a:r>
            <a:endParaRPr lang="en-US" sz="1350" dirty="0"/>
          </a:p>
        </p:txBody>
      </p:sp>
      <p:sp>
        <p:nvSpPr>
          <p:cNvPr id="9" name="Shape 7"/>
          <p:cNvSpPr/>
          <p:nvPr/>
        </p:nvSpPr>
        <p:spPr>
          <a:xfrm>
            <a:off x="502920" y="1783080"/>
            <a:ext cx="2093976" cy="2148840"/>
          </a:xfrm>
          <a:prstGeom prst="roundRect">
            <a:avLst>
              <a:gd name="adj" fmla="val 39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Shape 8"/>
          <p:cNvSpPr/>
          <p:nvPr/>
        </p:nvSpPr>
        <p:spPr>
          <a:xfrm>
            <a:off x="1275588" y="1947672"/>
            <a:ext cx="548640" cy="548640"/>
          </a:xfrm>
          <a:prstGeom prst="ellipse">
            <a:avLst/>
          </a:prstGeom>
          <a:solidFill>
            <a:srgbClr val="6B77A6">
              <a:alpha val="22000"/>
            </a:srgbClr>
          </a:solidFill>
          <a:ln w="15875">
            <a:solidFill>
              <a:srgbClr val="6B77A6"/>
            </a:solidFill>
            <a:prstDash val="solid"/>
          </a:ln>
        </p:spPr>
      </p:sp>
      <p:sp>
        <p:nvSpPr>
          <p:cNvPr id="11" name="Text 9"/>
          <p:cNvSpPr/>
          <p:nvPr/>
        </p:nvSpPr>
        <p:spPr>
          <a:xfrm>
            <a:off x="1275588" y="1929384"/>
            <a:ext cx="548640" cy="548640"/>
          </a:xfrm>
          <a:prstGeom prst="rect">
            <a:avLst/>
          </a:prstGeom>
          <a:noFill/>
          <a:ln/>
        </p:spPr>
        <p:txBody>
          <a:bodyPr wrap="square" rtlCol="0" anchor="ctr"/>
          <a:lstStyle/>
          <a:p>
            <a:pPr marL="0" indent="0" algn="ctr">
              <a:buNone/>
            </a:pPr>
            <a:r>
              <a:rPr lang="en-US" sz="1560" dirty="0">
                <a:solidFill>
                  <a:srgbClr val="000000"/>
                </a:solidFill>
              </a:rPr>
              <a:t>📥</a:t>
            </a:r>
            <a:endParaRPr lang="en-US" sz="1560" dirty="0"/>
          </a:p>
        </p:txBody>
      </p:sp>
      <p:sp>
        <p:nvSpPr>
          <p:cNvPr id="12" name="Text 10"/>
          <p:cNvSpPr/>
          <p:nvPr/>
        </p:nvSpPr>
        <p:spPr>
          <a:xfrm>
            <a:off x="576072" y="2560320"/>
            <a:ext cx="1947672" cy="365760"/>
          </a:xfrm>
          <a:prstGeom prst="rect">
            <a:avLst/>
          </a:prstGeom>
          <a:noFill/>
          <a:ln/>
        </p:spPr>
        <p:txBody>
          <a:bodyPr wrap="square" rtlCol="0" anchor="ctr"/>
          <a:lstStyle/>
          <a:p>
            <a:pPr marL="0" indent="0" algn="ctr">
              <a:buNone/>
            </a:pPr>
            <a:r>
              <a:rPr lang="en-US" sz="1050" b="1" kern="0" spc="50" dirty="0">
                <a:solidFill>
                  <a:srgbClr val="6B77A6"/>
                </a:solidFill>
                <a:latin typeface="Calibri" pitchFamily="34" charset="0"/>
                <a:ea typeface="Calibri" pitchFamily="34" charset="-122"/>
                <a:cs typeface="Calibri" pitchFamily="34" charset="-120"/>
              </a:rPr>
              <a:t>INPUT</a:t>
            </a:r>
            <a:endParaRPr lang="en-US" sz="1050" dirty="0"/>
          </a:p>
        </p:txBody>
      </p:sp>
      <p:sp>
        <p:nvSpPr>
          <p:cNvPr id="13" name="Text 11"/>
          <p:cNvSpPr/>
          <p:nvPr/>
        </p:nvSpPr>
        <p:spPr>
          <a:xfrm>
            <a:off x="612648" y="2926080"/>
            <a:ext cx="1874520" cy="914400"/>
          </a:xfrm>
          <a:prstGeom prst="rect">
            <a:avLst/>
          </a:prstGeom>
          <a:noFill/>
          <a:ln/>
        </p:spPr>
        <p:txBody>
          <a:bodyPr wrap="square" rtlCol="0" anchor="t"/>
          <a:lstStyle/>
          <a:p>
            <a:pPr marL="0" indent="0" algn="ctr">
              <a:lnSpc>
                <a:spcPct val="115000"/>
              </a:lnSpc>
              <a:buNone/>
            </a:pPr>
            <a:r>
              <a:rPr lang="en-US" sz="900" dirty="0">
                <a:solidFill>
                  <a:srgbClr val="94A0C7"/>
                </a:solidFill>
                <a:latin typeface="Calibri" pitchFamily="34" charset="0"/>
                <a:ea typeface="Calibri" pitchFamily="34" charset="-122"/>
                <a:cs typeface="Calibri" pitchFamily="34" charset="-120"/>
              </a:rPr>
              <a:t>Triggers: email, webhooks, cron, Slack, forms</a:t>
            </a:r>
            <a:endParaRPr lang="en-US" sz="900" dirty="0"/>
          </a:p>
        </p:txBody>
      </p:sp>
      <p:sp>
        <p:nvSpPr>
          <p:cNvPr id="14" name="Text 12"/>
          <p:cNvSpPr/>
          <p:nvPr/>
        </p:nvSpPr>
        <p:spPr>
          <a:xfrm>
            <a:off x="2596896" y="2651760"/>
            <a:ext cx="109728" cy="365760"/>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15" name="Shape 13"/>
          <p:cNvSpPr/>
          <p:nvPr/>
        </p:nvSpPr>
        <p:spPr>
          <a:xfrm>
            <a:off x="2706624" y="1783080"/>
            <a:ext cx="2093976" cy="2148840"/>
          </a:xfrm>
          <a:prstGeom prst="roundRect">
            <a:avLst>
              <a:gd name="adj" fmla="val 39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6" name="Shape 14"/>
          <p:cNvSpPr/>
          <p:nvPr/>
        </p:nvSpPr>
        <p:spPr>
          <a:xfrm>
            <a:off x="3479292" y="1947672"/>
            <a:ext cx="548640" cy="548640"/>
          </a:xfrm>
          <a:prstGeom prst="ellipse">
            <a:avLst/>
          </a:prstGeom>
          <a:solidFill>
            <a:srgbClr val="FF6B81">
              <a:alpha val="22000"/>
            </a:srgbClr>
          </a:solidFill>
          <a:ln w="15875">
            <a:solidFill>
              <a:srgbClr val="FF6B81"/>
            </a:solidFill>
            <a:prstDash val="solid"/>
          </a:ln>
        </p:spPr>
      </p:sp>
      <p:sp>
        <p:nvSpPr>
          <p:cNvPr id="17" name="Text 15"/>
          <p:cNvSpPr/>
          <p:nvPr/>
        </p:nvSpPr>
        <p:spPr>
          <a:xfrm>
            <a:off x="3479292" y="1929384"/>
            <a:ext cx="548640" cy="548640"/>
          </a:xfrm>
          <a:prstGeom prst="rect">
            <a:avLst/>
          </a:prstGeom>
          <a:noFill/>
          <a:ln/>
        </p:spPr>
        <p:txBody>
          <a:bodyPr wrap="square" rtlCol="0" anchor="ctr"/>
          <a:lstStyle/>
          <a:p>
            <a:pPr marL="0" indent="0" algn="ctr">
              <a:buNone/>
            </a:pPr>
            <a:r>
              <a:rPr lang="en-US" sz="1560" dirty="0">
                <a:solidFill>
                  <a:srgbClr val="000000"/>
                </a:solidFill>
              </a:rPr>
              <a:t>🔗</a:t>
            </a:r>
            <a:endParaRPr lang="en-US" sz="1560" dirty="0"/>
          </a:p>
        </p:txBody>
      </p:sp>
      <p:sp>
        <p:nvSpPr>
          <p:cNvPr id="18" name="Text 16"/>
          <p:cNvSpPr/>
          <p:nvPr/>
        </p:nvSpPr>
        <p:spPr>
          <a:xfrm>
            <a:off x="2779776" y="2560320"/>
            <a:ext cx="1947672" cy="365760"/>
          </a:xfrm>
          <a:prstGeom prst="rect">
            <a:avLst/>
          </a:prstGeom>
          <a:noFill/>
          <a:ln/>
        </p:spPr>
        <p:txBody>
          <a:bodyPr wrap="square" rtlCol="0" anchor="ctr"/>
          <a:lstStyle/>
          <a:p>
            <a:pPr marL="0" indent="0" algn="ctr">
              <a:buNone/>
            </a:pPr>
            <a:r>
              <a:rPr lang="en-US" sz="1050" b="1" kern="0" spc="50" dirty="0">
                <a:solidFill>
                  <a:srgbClr val="FF6B81"/>
                </a:solidFill>
                <a:latin typeface="Calibri" pitchFamily="34" charset="0"/>
                <a:ea typeface="Calibri" pitchFamily="34" charset="-122"/>
                <a:cs typeface="Calibri" pitchFamily="34" charset="-120"/>
              </a:rPr>
              <a:t>ORCHESTRATION</a:t>
            </a:r>
            <a:endParaRPr lang="en-US" sz="1050" dirty="0"/>
          </a:p>
        </p:txBody>
      </p:sp>
      <p:sp>
        <p:nvSpPr>
          <p:cNvPr id="19" name="Text 17"/>
          <p:cNvSpPr/>
          <p:nvPr/>
        </p:nvSpPr>
        <p:spPr>
          <a:xfrm>
            <a:off x="2816352" y="2926080"/>
            <a:ext cx="1874520" cy="914400"/>
          </a:xfrm>
          <a:prstGeom prst="rect">
            <a:avLst/>
          </a:prstGeom>
          <a:noFill/>
          <a:ln/>
        </p:spPr>
        <p:txBody>
          <a:bodyPr wrap="square" rtlCol="0" anchor="t"/>
          <a:lstStyle/>
          <a:p>
            <a:pPr marL="0" indent="0" algn="ctr">
              <a:lnSpc>
                <a:spcPct val="115000"/>
              </a:lnSpc>
              <a:buNone/>
            </a:pPr>
            <a:r>
              <a:rPr lang="en-US" sz="900" dirty="0">
                <a:solidFill>
                  <a:srgbClr val="94A0C7"/>
                </a:solidFill>
                <a:latin typeface="Calibri" pitchFamily="34" charset="0"/>
                <a:ea typeface="Calibri" pitchFamily="34" charset="-122"/>
                <a:cs typeface="Calibri" pitchFamily="34" charset="-120"/>
              </a:rPr>
              <a:t>N8N — workflow engine, logic, error handling</a:t>
            </a:r>
            <a:endParaRPr lang="en-US" sz="900" dirty="0"/>
          </a:p>
        </p:txBody>
      </p:sp>
      <p:sp>
        <p:nvSpPr>
          <p:cNvPr id="20" name="Text 18"/>
          <p:cNvSpPr/>
          <p:nvPr/>
        </p:nvSpPr>
        <p:spPr>
          <a:xfrm>
            <a:off x="4800600" y="2651760"/>
            <a:ext cx="109728" cy="365760"/>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21" name="Shape 19"/>
          <p:cNvSpPr/>
          <p:nvPr/>
        </p:nvSpPr>
        <p:spPr>
          <a:xfrm>
            <a:off x="4910328" y="1783080"/>
            <a:ext cx="2093976" cy="2148840"/>
          </a:xfrm>
          <a:prstGeom prst="roundRect">
            <a:avLst>
              <a:gd name="adj" fmla="val 39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22" name="Shape 20"/>
          <p:cNvSpPr/>
          <p:nvPr/>
        </p:nvSpPr>
        <p:spPr>
          <a:xfrm>
            <a:off x="5682996" y="1947672"/>
            <a:ext cx="548640" cy="548640"/>
          </a:xfrm>
          <a:prstGeom prst="ellipse">
            <a:avLst/>
          </a:prstGeom>
          <a:solidFill>
            <a:srgbClr val="E07856">
              <a:alpha val="22000"/>
            </a:srgbClr>
          </a:solidFill>
          <a:ln w="15875">
            <a:solidFill>
              <a:srgbClr val="E07856"/>
            </a:solidFill>
            <a:prstDash val="solid"/>
          </a:ln>
        </p:spPr>
      </p:sp>
      <p:sp>
        <p:nvSpPr>
          <p:cNvPr id="23" name="Text 21"/>
          <p:cNvSpPr/>
          <p:nvPr/>
        </p:nvSpPr>
        <p:spPr>
          <a:xfrm>
            <a:off x="5682996" y="1929384"/>
            <a:ext cx="548640" cy="548640"/>
          </a:xfrm>
          <a:prstGeom prst="rect">
            <a:avLst/>
          </a:prstGeom>
          <a:noFill/>
          <a:ln/>
        </p:spPr>
        <p:txBody>
          <a:bodyPr wrap="square" rtlCol="0" anchor="ctr"/>
          <a:lstStyle/>
          <a:p>
            <a:pPr marL="0" indent="0" algn="ctr">
              <a:buNone/>
            </a:pPr>
            <a:r>
              <a:rPr lang="en-US" sz="1560" dirty="0">
                <a:solidFill>
                  <a:srgbClr val="000000"/>
                </a:solidFill>
              </a:rPr>
              <a:t>🤖</a:t>
            </a:r>
            <a:endParaRPr lang="en-US" sz="1560" dirty="0"/>
          </a:p>
        </p:txBody>
      </p:sp>
      <p:sp>
        <p:nvSpPr>
          <p:cNvPr id="24" name="Text 22"/>
          <p:cNvSpPr/>
          <p:nvPr/>
        </p:nvSpPr>
        <p:spPr>
          <a:xfrm>
            <a:off x="4983480" y="2560320"/>
            <a:ext cx="1947672" cy="365760"/>
          </a:xfrm>
          <a:prstGeom prst="rect">
            <a:avLst/>
          </a:prstGeom>
          <a:noFill/>
          <a:ln/>
        </p:spPr>
        <p:txBody>
          <a:bodyPr wrap="square" rtlCol="0" anchor="ctr"/>
          <a:lstStyle/>
          <a:p>
            <a:pPr marL="0" indent="0" algn="ctr">
              <a:buNone/>
            </a:pPr>
            <a:r>
              <a:rPr lang="en-US" sz="1050" b="1" kern="0" spc="50" dirty="0">
                <a:solidFill>
                  <a:srgbClr val="E07856"/>
                </a:solidFill>
                <a:latin typeface="Calibri" pitchFamily="34" charset="0"/>
                <a:ea typeface="Calibri" pitchFamily="34" charset="-122"/>
                <a:cs typeface="Calibri" pitchFamily="34" charset="-120"/>
              </a:rPr>
              <a:t>AI INTELLIGENCE</a:t>
            </a:r>
            <a:endParaRPr lang="en-US" sz="1050" dirty="0"/>
          </a:p>
        </p:txBody>
      </p:sp>
      <p:sp>
        <p:nvSpPr>
          <p:cNvPr id="25" name="Text 23"/>
          <p:cNvSpPr/>
          <p:nvPr/>
        </p:nvSpPr>
        <p:spPr>
          <a:xfrm>
            <a:off x="5020056" y="2926080"/>
            <a:ext cx="1874520" cy="914400"/>
          </a:xfrm>
          <a:prstGeom prst="rect">
            <a:avLst/>
          </a:prstGeom>
          <a:noFill/>
          <a:ln/>
        </p:spPr>
        <p:txBody>
          <a:bodyPr wrap="square" rtlCol="0" anchor="t"/>
          <a:lstStyle/>
          <a:p>
            <a:pPr marL="0" indent="0" algn="ctr">
              <a:lnSpc>
                <a:spcPct val="115000"/>
              </a:lnSpc>
              <a:buNone/>
            </a:pPr>
            <a:r>
              <a:rPr lang="en-US" sz="900" dirty="0">
                <a:solidFill>
                  <a:srgbClr val="94A0C7"/>
                </a:solidFill>
                <a:latin typeface="Calibri" pitchFamily="34" charset="0"/>
                <a:ea typeface="Calibri" pitchFamily="34" charset="-122"/>
                <a:cs typeface="Calibri" pitchFamily="34" charset="-120"/>
              </a:rPr>
              <a:t>Claude — reasoning, structured output, memory</a:t>
            </a:r>
            <a:endParaRPr lang="en-US" sz="900" dirty="0"/>
          </a:p>
        </p:txBody>
      </p:sp>
      <p:sp>
        <p:nvSpPr>
          <p:cNvPr id="26" name="Text 24"/>
          <p:cNvSpPr/>
          <p:nvPr/>
        </p:nvSpPr>
        <p:spPr>
          <a:xfrm>
            <a:off x="7004304" y="2651760"/>
            <a:ext cx="109728" cy="365760"/>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27" name="Shape 25"/>
          <p:cNvSpPr/>
          <p:nvPr/>
        </p:nvSpPr>
        <p:spPr>
          <a:xfrm>
            <a:off x="7114032" y="1783080"/>
            <a:ext cx="2093976" cy="2148840"/>
          </a:xfrm>
          <a:prstGeom prst="roundRect">
            <a:avLst>
              <a:gd name="adj" fmla="val 39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28" name="Shape 26"/>
          <p:cNvSpPr/>
          <p:nvPr/>
        </p:nvSpPr>
        <p:spPr>
          <a:xfrm>
            <a:off x="7886700" y="1947672"/>
            <a:ext cx="548640" cy="548640"/>
          </a:xfrm>
          <a:prstGeom prst="ellipse">
            <a:avLst/>
          </a:prstGeom>
          <a:solidFill>
            <a:srgbClr val="3B82F6">
              <a:alpha val="22000"/>
            </a:srgbClr>
          </a:solidFill>
          <a:ln w="15875">
            <a:solidFill>
              <a:srgbClr val="3B82F6"/>
            </a:solidFill>
            <a:prstDash val="solid"/>
          </a:ln>
        </p:spPr>
      </p:sp>
      <p:sp>
        <p:nvSpPr>
          <p:cNvPr id="29" name="Text 27"/>
          <p:cNvSpPr/>
          <p:nvPr/>
        </p:nvSpPr>
        <p:spPr>
          <a:xfrm>
            <a:off x="7886700" y="1929384"/>
            <a:ext cx="548640" cy="548640"/>
          </a:xfrm>
          <a:prstGeom prst="rect">
            <a:avLst/>
          </a:prstGeom>
          <a:noFill/>
          <a:ln/>
        </p:spPr>
        <p:txBody>
          <a:bodyPr wrap="square" rtlCol="0" anchor="ctr"/>
          <a:lstStyle/>
          <a:p>
            <a:pPr marL="0" indent="0" algn="ctr">
              <a:buNone/>
            </a:pPr>
            <a:r>
              <a:rPr lang="en-US" sz="1560" dirty="0">
                <a:solidFill>
                  <a:srgbClr val="000000"/>
                </a:solidFill>
              </a:rPr>
              <a:t>📋</a:t>
            </a:r>
            <a:endParaRPr lang="en-US" sz="1560" dirty="0"/>
          </a:p>
        </p:txBody>
      </p:sp>
      <p:sp>
        <p:nvSpPr>
          <p:cNvPr id="30" name="Text 28"/>
          <p:cNvSpPr/>
          <p:nvPr/>
        </p:nvSpPr>
        <p:spPr>
          <a:xfrm>
            <a:off x="7187184" y="2560320"/>
            <a:ext cx="1947672" cy="365760"/>
          </a:xfrm>
          <a:prstGeom prst="rect">
            <a:avLst/>
          </a:prstGeom>
          <a:noFill/>
          <a:ln/>
        </p:spPr>
        <p:txBody>
          <a:bodyPr wrap="square" rtlCol="0" anchor="ctr"/>
          <a:lstStyle/>
          <a:p>
            <a:pPr marL="0" indent="0" algn="ctr">
              <a:buNone/>
            </a:pPr>
            <a:r>
              <a:rPr lang="en-US" sz="1050" b="1" kern="0" spc="50" dirty="0">
                <a:solidFill>
                  <a:srgbClr val="3B82F6"/>
                </a:solidFill>
                <a:latin typeface="Calibri" pitchFamily="34" charset="0"/>
                <a:ea typeface="Calibri" pitchFamily="34" charset="-122"/>
                <a:cs typeface="Calibri" pitchFamily="34" charset="-120"/>
              </a:rPr>
              <a:t>PROJECT MGMT</a:t>
            </a:r>
            <a:endParaRPr lang="en-US" sz="1050" dirty="0"/>
          </a:p>
        </p:txBody>
      </p:sp>
      <p:sp>
        <p:nvSpPr>
          <p:cNvPr id="31" name="Text 29"/>
          <p:cNvSpPr/>
          <p:nvPr/>
        </p:nvSpPr>
        <p:spPr>
          <a:xfrm>
            <a:off x="7223760" y="2926080"/>
            <a:ext cx="1874520" cy="914400"/>
          </a:xfrm>
          <a:prstGeom prst="rect">
            <a:avLst/>
          </a:prstGeom>
          <a:noFill/>
          <a:ln/>
        </p:spPr>
        <p:txBody>
          <a:bodyPr wrap="square" rtlCol="0" anchor="t"/>
          <a:lstStyle/>
          <a:p>
            <a:pPr marL="0" indent="0" algn="ctr">
              <a:lnSpc>
                <a:spcPct val="115000"/>
              </a:lnSpc>
              <a:buNone/>
            </a:pPr>
            <a:r>
              <a:rPr lang="en-US" sz="900" dirty="0">
                <a:solidFill>
                  <a:srgbClr val="94A0C7"/>
                </a:solidFill>
                <a:latin typeface="Calibri" pitchFamily="34" charset="0"/>
                <a:ea typeface="Calibri" pitchFamily="34" charset="-122"/>
                <a:cs typeface="Calibri" pitchFamily="34" charset="-120"/>
              </a:rPr>
              <a:t>Jira — issue creation, sprints, reporting</a:t>
            </a:r>
            <a:endParaRPr lang="en-US" sz="900" dirty="0"/>
          </a:p>
        </p:txBody>
      </p:sp>
      <p:sp>
        <p:nvSpPr>
          <p:cNvPr id="32" name="Text 30"/>
          <p:cNvSpPr/>
          <p:nvPr/>
        </p:nvSpPr>
        <p:spPr>
          <a:xfrm>
            <a:off x="9208008" y="2651760"/>
            <a:ext cx="109728" cy="365760"/>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33" name="Shape 31"/>
          <p:cNvSpPr/>
          <p:nvPr/>
        </p:nvSpPr>
        <p:spPr>
          <a:xfrm>
            <a:off x="9317736" y="1783080"/>
            <a:ext cx="2093976" cy="2148840"/>
          </a:xfrm>
          <a:prstGeom prst="roundRect">
            <a:avLst>
              <a:gd name="adj" fmla="val 393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34" name="Shape 32"/>
          <p:cNvSpPr/>
          <p:nvPr/>
        </p:nvSpPr>
        <p:spPr>
          <a:xfrm>
            <a:off x="10090404" y="1947672"/>
            <a:ext cx="548640" cy="548640"/>
          </a:xfrm>
          <a:prstGeom prst="ellipse">
            <a:avLst/>
          </a:prstGeom>
          <a:solidFill>
            <a:srgbClr val="FFB930">
              <a:alpha val="22000"/>
            </a:srgbClr>
          </a:solidFill>
          <a:ln w="15875">
            <a:solidFill>
              <a:srgbClr val="FFB930"/>
            </a:solidFill>
            <a:prstDash val="solid"/>
          </a:ln>
        </p:spPr>
      </p:sp>
      <p:sp>
        <p:nvSpPr>
          <p:cNvPr id="35" name="Text 33"/>
          <p:cNvSpPr/>
          <p:nvPr/>
        </p:nvSpPr>
        <p:spPr>
          <a:xfrm>
            <a:off x="10090404" y="1929384"/>
            <a:ext cx="548640" cy="548640"/>
          </a:xfrm>
          <a:prstGeom prst="rect">
            <a:avLst/>
          </a:prstGeom>
          <a:noFill/>
          <a:ln/>
        </p:spPr>
        <p:txBody>
          <a:bodyPr wrap="square" rtlCol="0" anchor="ctr"/>
          <a:lstStyle/>
          <a:p>
            <a:pPr marL="0" indent="0" algn="ctr">
              <a:buNone/>
            </a:pPr>
            <a:r>
              <a:rPr lang="en-US" sz="1560" dirty="0">
                <a:solidFill>
                  <a:srgbClr val="000000"/>
                </a:solidFill>
              </a:rPr>
              <a:t>📤</a:t>
            </a:r>
            <a:endParaRPr lang="en-US" sz="1560" dirty="0"/>
          </a:p>
        </p:txBody>
      </p:sp>
      <p:sp>
        <p:nvSpPr>
          <p:cNvPr id="36" name="Text 34"/>
          <p:cNvSpPr/>
          <p:nvPr/>
        </p:nvSpPr>
        <p:spPr>
          <a:xfrm>
            <a:off x="9390888" y="2560320"/>
            <a:ext cx="1947672" cy="365760"/>
          </a:xfrm>
          <a:prstGeom prst="rect">
            <a:avLst/>
          </a:prstGeom>
          <a:noFill/>
          <a:ln/>
        </p:spPr>
        <p:txBody>
          <a:bodyPr wrap="square" rtlCol="0" anchor="ctr"/>
          <a:lstStyle/>
          <a:p>
            <a:pPr marL="0" indent="0" algn="ctr">
              <a:buNone/>
            </a:pPr>
            <a:r>
              <a:rPr lang="en-US" sz="1050" b="1" kern="0" spc="50" dirty="0">
                <a:solidFill>
                  <a:srgbClr val="FFB930"/>
                </a:solidFill>
                <a:latin typeface="Calibri" pitchFamily="34" charset="0"/>
                <a:ea typeface="Calibri" pitchFamily="34" charset="-122"/>
                <a:cs typeface="Calibri" pitchFamily="34" charset="-120"/>
              </a:rPr>
              <a:t>OUTPUT</a:t>
            </a:r>
            <a:endParaRPr lang="en-US" sz="1050" dirty="0"/>
          </a:p>
        </p:txBody>
      </p:sp>
      <p:sp>
        <p:nvSpPr>
          <p:cNvPr id="37" name="Text 35"/>
          <p:cNvSpPr/>
          <p:nvPr/>
        </p:nvSpPr>
        <p:spPr>
          <a:xfrm>
            <a:off x="9427464" y="2926080"/>
            <a:ext cx="1874520" cy="914400"/>
          </a:xfrm>
          <a:prstGeom prst="rect">
            <a:avLst/>
          </a:prstGeom>
          <a:noFill/>
          <a:ln/>
        </p:spPr>
        <p:txBody>
          <a:bodyPr wrap="square" rtlCol="0" anchor="t"/>
          <a:lstStyle/>
          <a:p>
            <a:pPr marL="0" indent="0" algn="ctr">
              <a:lnSpc>
                <a:spcPct val="115000"/>
              </a:lnSpc>
              <a:buNone/>
            </a:pPr>
            <a:r>
              <a:rPr lang="en-US" sz="900" dirty="0">
                <a:solidFill>
                  <a:srgbClr val="94A0C7"/>
                </a:solidFill>
                <a:latin typeface="Calibri" pitchFamily="34" charset="0"/>
                <a:ea typeface="Calibri" pitchFamily="34" charset="-122"/>
                <a:cs typeface="Calibri" pitchFamily="34" charset="-120"/>
              </a:rPr>
              <a:t>Slack, Email, Confluence, GitHub, Dashboards</a:t>
            </a:r>
            <a:endParaRPr lang="en-US" sz="900" dirty="0"/>
          </a:p>
        </p:txBody>
      </p:sp>
      <p:sp>
        <p:nvSpPr>
          <p:cNvPr id="38" name="Shape 36"/>
          <p:cNvSpPr/>
          <p:nvPr/>
        </p:nvSpPr>
        <p:spPr>
          <a:xfrm>
            <a:off x="502920" y="4160520"/>
            <a:ext cx="11201400" cy="2103120"/>
          </a:xfrm>
          <a:prstGeom prst="roundRect">
            <a:avLst>
              <a:gd name="adj" fmla="val 391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39" name="Text 37"/>
          <p:cNvSpPr/>
          <p:nvPr/>
        </p:nvSpPr>
        <p:spPr>
          <a:xfrm>
            <a:off x="777240" y="4297680"/>
            <a:ext cx="5486400" cy="292608"/>
          </a:xfrm>
          <a:prstGeom prst="rect">
            <a:avLst/>
          </a:prstGeom>
          <a:noFill/>
          <a:ln/>
        </p:spPr>
        <p:txBody>
          <a:bodyPr wrap="square" rtlCol="0" anchor="ctr"/>
          <a:lstStyle/>
          <a:p>
            <a:pPr marL="0" indent="0">
              <a:buNone/>
            </a:pPr>
            <a:r>
              <a:rPr lang="en-US" sz="1300" b="1" kern="0" spc="100" dirty="0">
                <a:solidFill>
                  <a:srgbClr val="1FD1A8"/>
                </a:solidFill>
                <a:latin typeface="Calibri" pitchFamily="34" charset="0"/>
                <a:ea typeface="Calibri" pitchFamily="34" charset="-122"/>
                <a:cs typeface="Calibri" pitchFamily="34" charset="-120"/>
              </a:rPr>
              <a:t>🔄  COMPLETE DATA FLOW</a:t>
            </a:r>
            <a:endParaRPr lang="en-US" sz="1300" dirty="0"/>
          </a:p>
        </p:txBody>
      </p:sp>
      <p:sp>
        <p:nvSpPr>
          <p:cNvPr id="40" name="Text 38"/>
          <p:cNvSpPr/>
          <p:nvPr/>
        </p:nvSpPr>
        <p:spPr>
          <a:xfrm>
            <a:off x="777240" y="4617720"/>
            <a:ext cx="10698480" cy="914400"/>
          </a:xfrm>
          <a:prstGeom prst="rect">
            <a:avLst/>
          </a:prstGeom>
          <a:noFill/>
          <a:ln/>
        </p:spPr>
        <p:txBody>
          <a:bodyPr wrap="square" rtlCol="0" anchor="t"/>
          <a:lstStyle/>
          <a:p>
            <a:pPr marL="0" indent="0">
              <a:lnSpc>
                <a:spcPct val="130000"/>
              </a:lnSpc>
              <a:buNone/>
            </a:pPr>
            <a:r>
              <a:rPr lang="en-US" sz="1200" dirty="0">
                <a:solidFill>
                  <a:srgbClr val="E8ECFA"/>
                </a:solidFill>
                <a:latin typeface="Calibri" pitchFamily="34" charset="0"/>
                <a:ea typeface="Calibri" pitchFamily="34" charset="-122"/>
                <a:cs typeface="Calibri" pitchFamily="34" charset="-120"/>
              </a:rPr>
              <a:t>Event occurs → N8N triggered → data extracted &amp; formatted → sent to Claude API → Claude analyzes &amp; responds → N8N receives structured response → routes to Jira → ticket created/updated → notifications sent → team informed → work tracked to completion.</a:t>
            </a:r>
            <a:endParaRPr lang="en-US" sz="1200" dirty="0"/>
          </a:p>
        </p:txBody>
      </p:sp>
      <p:sp>
        <p:nvSpPr>
          <p:cNvPr id="41" name="Text 39"/>
          <p:cNvSpPr/>
          <p:nvPr/>
        </p:nvSpPr>
        <p:spPr>
          <a:xfrm>
            <a:off x="777240" y="5577840"/>
            <a:ext cx="10698480" cy="502920"/>
          </a:xfrm>
          <a:prstGeom prst="rect">
            <a:avLst/>
          </a:prstGeom>
          <a:noFill/>
          <a:ln/>
        </p:spPr>
        <p:txBody>
          <a:bodyPr wrap="square" rtlCol="0" anchor="t"/>
          <a:lstStyle/>
          <a:p>
            <a:pPr marL="0" indent="0">
              <a:buNone/>
            </a:pPr>
            <a:r>
              <a:rPr lang="en-US" sz="1100" i="1" dirty="0">
                <a:solidFill>
                  <a:srgbClr val="1FD1A8"/>
                </a:solidFill>
                <a:latin typeface="Calibri" pitchFamily="34" charset="0"/>
                <a:ea typeface="Calibri" pitchFamily="34" charset="-122"/>
                <a:cs typeface="Calibri" pitchFamily="34" charset="-120"/>
              </a:rPr>
              <a:t>✓  All layers are independently scalable — the system grows with your organization.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E07856">
              <a:alpha val="10000"/>
            </a:srgbClr>
          </a:solidFill>
          <a:ln/>
        </p:spPr>
      </p:sp>
      <p:sp>
        <p:nvSpPr>
          <p:cNvPr id="3" name="Shape 1"/>
          <p:cNvSpPr/>
          <p:nvPr/>
        </p:nvSpPr>
        <p:spPr>
          <a:xfrm>
            <a:off x="-1645920" y="5120640"/>
            <a:ext cx="3291840" cy="3291840"/>
          </a:xfrm>
          <a:prstGeom prst="ellipse">
            <a:avLst/>
          </a:prstGeom>
          <a:solidFill>
            <a:srgbClr val="E07856">
              <a:alpha val="8000"/>
            </a:srgbClr>
          </a:solidFill>
          <a:ln/>
        </p:spPr>
      </p:sp>
      <p:sp>
        <p:nvSpPr>
          <p:cNvPr id="4" name="Shape 2"/>
          <p:cNvSpPr/>
          <p:nvPr/>
        </p:nvSpPr>
        <p:spPr>
          <a:xfrm>
            <a:off x="502920" y="457200"/>
            <a:ext cx="658368" cy="658368"/>
          </a:xfrm>
          <a:prstGeom prst="ellipse">
            <a:avLst/>
          </a:prstGeom>
          <a:solidFill>
            <a:srgbClr val="E07856">
              <a:alpha val="22000"/>
            </a:srgbClr>
          </a:solidFill>
          <a:ln w="15875">
            <a:solidFill>
              <a:srgbClr val="E07856"/>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E07856"/>
                </a:solidFill>
                <a:latin typeface="Calibri" pitchFamily="34" charset="0"/>
                <a:ea typeface="Calibri" pitchFamily="34" charset="-122"/>
                <a:cs typeface="Calibri" pitchFamily="34" charset="-120"/>
              </a:rPr>
              <a:t>RESULTS</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Business Impact &amp; Benefits</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Measurable value delivered by the automation ecosystem</a:t>
            </a:r>
            <a:endParaRPr lang="en-US" sz="1350" dirty="0"/>
          </a:p>
        </p:txBody>
      </p:sp>
      <p:sp>
        <p:nvSpPr>
          <p:cNvPr id="9" name="Shape 7"/>
          <p:cNvSpPr/>
          <p:nvPr/>
        </p:nvSpPr>
        <p:spPr>
          <a:xfrm>
            <a:off x="502920" y="1783080"/>
            <a:ext cx="3611880" cy="1600200"/>
          </a:xfrm>
          <a:prstGeom prst="roundRect">
            <a:avLst>
              <a:gd name="adj" fmla="val 514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0" name="Text 8"/>
          <p:cNvSpPr/>
          <p:nvPr/>
        </p:nvSpPr>
        <p:spPr>
          <a:xfrm>
            <a:off x="640080" y="1874520"/>
            <a:ext cx="3337560" cy="880110"/>
          </a:xfrm>
          <a:prstGeom prst="rect">
            <a:avLst/>
          </a:prstGeom>
          <a:noFill/>
          <a:ln/>
        </p:spPr>
        <p:txBody>
          <a:bodyPr wrap="square" rtlCol="0" anchor="b"/>
          <a:lstStyle/>
          <a:p>
            <a:pPr marL="0" indent="0" algn="ctr">
              <a:buNone/>
            </a:pPr>
            <a:r>
              <a:rPr lang="en-US" sz="2600" b="1" dirty="0">
                <a:solidFill>
                  <a:srgbClr val="E07856"/>
                </a:solidFill>
                <a:latin typeface="Cambria" pitchFamily="34" charset="0"/>
                <a:ea typeface="Cambria" pitchFamily="34" charset="-122"/>
                <a:cs typeface="Cambria" pitchFamily="34" charset="-120"/>
              </a:rPr>
              <a:t>80%</a:t>
            </a:r>
            <a:endParaRPr lang="en-US" sz="2600" dirty="0"/>
          </a:p>
        </p:txBody>
      </p:sp>
      <p:sp>
        <p:nvSpPr>
          <p:cNvPr id="11" name="Text 9"/>
          <p:cNvSpPr/>
          <p:nvPr/>
        </p:nvSpPr>
        <p:spPr>
          <a:xfrm>
            <a:off x="594360" y="2775204"/>
            <a:ext cx="3429000" cy="560070"/>
          </a:xfrm>
          <a:prstGeom prst="rect">
            <a:avLst/>
          </a:prstGeom>
          <a:noFill/>
          <a:ln/>
        </p:spPr>
        <p:txBody>
          <a:bodyPr wrap="square" rtlCol="0" anchor="t"/>
          <a:lstStyle/>
          <a:p>
            <a:pPr marL="0" indent="0" algn="ctr">
              <a:buNone/>
            </a:pPr>
            <a:r>
              <a:rPr lang="en-US" sz="1050" dirty="0">
                <a:solidFill>
                  <a:srgbClr val="94A0C7"/>
                </a:solidFill>
                <a:latin typeface="Calibri" pitchFamily="34" charset="0"/>
                <a:ea typeface="Calibri" pitchFamily="34" charset="-122"/>
                <a:cs typeface="Calibri" pitchFamily="34" charset="-120"/>
              </a:rPr>
              <a:t>reduction in manual</a:t>
            </a:r>
            <a:endParaRPr lang="en-US" sz="1050" dirty="0"/>
          </a:p>
          <a:p>
            <a:pPr marL="0" indent="0" algn="ctr">
              <a:buNone/>
            </a:pPr>
            <a:r>
              <a:rPr lang="en-US" sz="1050" dirty="0">
                <a:solidFill>
                  <a:srgbClr val="94A0C7"/>
                </a:solidFill>
                <a:latin typeface="Calibri" pitchFamily="34" charset="0"/>
                <a:ea typeface="Calibri" pitchFamily="34" charset="-122"/>
                <a:cs typeface="Calibri" pitchFamily="34" charset="-120"/>
              </a:rPr>
              <a:t>ticket creation time</a:t>
            </a:r>
            <a:endParaRPr lang="en-US" sz="1050" dirty="0"/>
          </a:p>
        </p:txBody>
      </p:sp>
      <p:sp>
        <p:nvSpPr>
          <p:cNvPr id="12" name="Shape 10"/>
          <p:cNvSpPr/>
          <p:nvPr/>
        </p:nvSpPr>
        <p:spPr>
          <a:xfrm>
            <a:off x="4297680" y="1783080"/>
            <a:ext cx="3611880" cy="1600200"/>
          </a:xfrm>
          <a:prstGeom prst="roundRect">
            <a:avLst>
              <a:gd name="adj" fmla="val 514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3" name="Text 11"/>
          <p:cNvSpPr/>
          <p:nvPr/>
        </p:nvSpPr>
        <p:spPr>
          <a:xfrm>
            <a:off x="4434840" y="1874520"/>
            <a:ext cx="3337560" cy="880110"/>
          </a:xfrm>
          <a:prstGeom prst="rect">
            <a:avLst/>
          </a:prstGeom>
          <a:noFill/>
          <a:ln/>
        </p:spPr>
        <p:txBody>
          <a:bodyPr wrap="square" rtlCol="0" anchor="b"/>
          <a:lstStyle/>
          <a:p>
            <a:pPr marL="0" indent="0" algn="ctr">
              <a:buNone/>
            </a:pPr>
            <a:r>
              <a:rPr lang="en-US" sz="2600" b="1" dirty="0">
                <a:solidFill>
                  <a:srgbClr val="3B82F6"/>
                </a:solidFill>
                <a:latin typeface="Cambria" pitchFamily="34" charset="0"/>
                <a:ea typeface="Cambria" pitchFamily="34" charset="-122"/>
                <a:cs typeface="Cambria" pitchFamily="34" charset="-120"/>
              </a:rPr>
              <a:t>45s</a:t>
            </a:r>
            <a:endParaRPr lang="en-US" sz="2600" dirty="0"/>
          </a:p>
        </p:txBody>
      </p:sp>
      <p:sp>
        <p:nvSpPr>
          <p:cNvPr id="14" name="Text 12"/>
          <p:cNvSpPr/>
          <p:nvPr/>
        </p:nvSpPr>
        <p:spPr>
          <a:xfrm>
            <a:off x="4389120" y="2775204"/>
            <a:ext cx="3429000" cy="560070"/>
          </a:xfrm>
          <a:prstGeom prst="rect">
            <a:avLst/>
          </a:prstGeom>
          <a:noFill/>
          <a:ln/>
        </p:spPr>
        <p:txBody>
          <a:bodyPr wrap="square" rtlCol="0" anchor="t"/>
          <a:lstStyle/>
          <a:p>
            <a:pPr marL="0" indent="0" algn="ctr">
              <a:buNone/>
            </a:pPr>
            <a:r>
              <a:rPr lang="en-US" sz="1050" dirty="0">
                <a:solidFill>
                  <a:srgbClr val="94A0C7"/>
                </a:solidFill>
                <a:latin typeface="Calibri" pitchFamily="34" charset="0"/>
                <a:ea typeface="Calibri" pitchFamily="34" charset="-122"/>
                <a:cs typeface="Calibri" pitchFamily="34" charset="-120"/>
              </a:rPr>
              <a:t>error response time</a:t>
            </a:r>
            <a:endParaRPr lang="en-US" sz="1050" dirty="0"/>
          </a:p>
          <a:p>
            <a:pPr marL="0" indent="0" algn="ctr">
              <a:buNone/>
            </a:pPr>
            <a:r>
              <a:rPr lang="en-US" sz="1050" dirty="0">
                <a:solidFill>
                  <a:srgbClr val="94A0C7"/>
                </a:solidFill>
                <a:latin typeface="Calibri" pitchFamily="34" charset="0"/>
                <a:ea typeface="Calibri" pitchFamily="34" charset="-122"/>
                <a:cs typeface="Calibri" pitchFamily="34" charset="-120"/>
              </a:rPr>
              <a:t>(was 45 minutes)</a:t>
            </a:r>
            <a:endParaRPr lang="en-US" sz="1050" dirty="0"/>
          </a:p>
        </p:txBody>
      </p:sp>
      <p:sp>
        <p:nvSpPr>
          <p:cNvPr id="15" name="Shape 13"/>
          <p:cNvSpPr/>
          <p:nvPr/>
        </p:nvSpPr>
        <p:spPr>
          <a:xfrm>
            <a:off x="8092440" y="1783080"/>
            <a:ext cx="3611880" cy="1600200"/>
          </a:xfrm>
          <a:prstGeom prst="roundRect">
            <a:avLst>
              <a:gd name="adj" fmla="val 514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6" name="Text 14"/>
          <p:cNvSpPr/>
          <p:nvPr/>
        </p:nvSpPr>
        <p:spPr>
          <a:xfrm>
            <a:off x="8229600" y="1874520"/>
            <a:ext cx="3337560" cy="880110"/>
          </a:xfrm>
          <a:prstGeom prst="rect">
            <a:avLst/>
          </a:prstGeom>
          <a:noFill/>
          <a:ln/>
        </p:spPr>
        <p:txBody>
          <a:bodyPr wrap="square" rtlCol="0" anchor="b"/>
          <a:lstStyle/>
          <a:p>
            <a:pPr marL="0" indent="0" algn="ctr">
              <a:buNone/>
            </a:pPr>
            <a:r>
              <a:rPr lang="en-US" sz="2600" b="1" dirty="0">
                <a:solidFill>
                  <a:srgbClr val="FF6B81"/>
                </a:solidFill>
                <a:latin typeface="Cambria" pitchFamily="34" charset="0"/>
                <a:ea typeface="Cambria" pitchFamily="34" charset="-122"/>
                <a:cs typeface="Cambria" pitchFamily="34" charset="-120"/>
              </a:rPr>
              <a:t>2 min</a:t>
            </a:r>
            <a:endParaRPr lang="en-US" sz="2600" dirty="0"/>
          </a:p>
        </p:txBody>
      </p:sp>
      <p:sp>
        <p:nvSpPr>
          <p:cNvPr id="17" name="Text 15"/>
          <p:cNvSpPr/>
          <p:nvPr/>
        </p:nvSpPr>
        <p:spPr>
          <a:xfrm>
            <a:off x="8183880" y="2775204"/>
            <a:ext cx="3429000" cy="560070"/>
          </a:xfrm>
          <a:prstGeom prst="rect">
            <a:avLst/>
          </a:prstGeom>
          <a:noFill/>
          <a:ln/>
        </p:spPr>
        <p:txBody>
          <a:bodyPr wrap="square" rtlCol="0" anchor="t"/>
          <a:lstStyle/>
          <a:p>
            <a:pPr marL="0" indent="0" algn="ctr">
              <a:buNone/>
            </a:pPr>
            <a:r>
              <a:rPr lang="en-US" sz="1050" dirty="0">
                <a:solidFill>
                  <a:srgbClr val="94A0C7"/>
                </a:solidFill>
                <a:latin typeface="Calibri" pitchFamily="34" charset="0"/>
                <a:ea typeface="Calibri" pitchFamily="34" charset="-122"/>
                <a:cs typeface="Calibri" pitchFamily="34" charset="-120"/>
              </a:rPr>
              <a:t>support response time</a:t>
            </a:r>
            <a:endParaRPr lang="en-US" sz="1050" dirty="0"/>
          </a:p>
          <a:p>
            <a:pPr marL="0" indent="0" algn="ctr">
              <a:buNone/>
            </a:pPr>
            <a:r>
              <a:rPr lang="en-US" sz="1050" dirty="0">
                <a:solidFill>
                  <a:srgbClr val="94A0C7"/>
                </a:solidFill>
                <a:latin typeface="Calibri" pitchFamily="34" charset="0"/>
                <a:ea typeface="Calibri" pitchFamily="34" charset="-122"/>
                <a:cs typeface="Calibri" pitchFamily="34" charset="-120"/>
              </a:rPr>
              <a:t>(was 4-8 hours)</a:t>
            </a:r>
            <a:endParaRPr lang="en-US" sz="1050" dirty="0"/>
          </a:p>
        </p:txBody>
      </p:sp>
      <p:sp>
        <p:nvSpPr>
          <p:cNvPr id="18" name="Shape 16"/>
          <p:cNvSpPr/>
          <p:nvPr/>
        </p:nvSpPr>
        <p:spPr>
          <a:xfrm>
            <a:off x="502920" y="3566160"/>
            <a:ext cx="3611880" cy="1600200"/>
          </a:xfrm>
          <a:prstGeom prst="roundRect">
            <a:avLst>
              <a:gd name="adj" fmla="val 514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19" name="Text 17"/>
          <p:cNvSpPr/>
          <p:nvPr/>
        </p:nvSpPr>
        <p:spPr>
          <a:xfrm>
            <a:off x="640080" y="3657600"/>
            <a:ext cx="3337560" cy="880110"/>
          </a:xfrm>
          <a:prstGeom prst="rect">
            <a:avLst/>
          </a:prstGeom>
          <a:noFill/>
          <a:ln/>
        </p:spPr>
        <p:txBody>
          <a:bodyPr wrap="square" rtlCol="0" anchor="b"/>
          <a:lstStyle/>
          <a:p>
            <a:pPr marL="0" indent="0" algn="ctr">
              <a:buNone/>
            </a:pPr>
            <a:r>
              <a:rPr lang="en-US" sz="2600" b="1" dirty="0">
                <a:solidFill>
                  <a:srgbClr val="FFB930"/>
                </a:solidFill>
                <a:latin typeface="Cambria" pitchFamily="34" charset="0"/>
                <a:ea typeface="Cambria" pitchFamily="34" charset="-122"/>
                <a:cs typeface="Cambria" pitchFamily="34" charset="-120"/>
              </a:rPr>
              <a:t>30 min</a:t>
            </a:r>
            <a:endParaRPr lang="en-US" sz="2600" dirty="0"/>
          </a:p>
        </p:txBody>
      </p:sp>
      <p:sp>
        <p:nvSpPr>
          <p:cNvPr id="20" name="Text 18"/>
          <p:cNvSpPr/>
          <p:nvPr/>
        </p:nvSpPr>
        <p:spPr>
          <a:xfrm>
            <a:off x="594360" y="4558284"/>
            <a:ext cx="3429000" cy="560070"/>
          </a:xfrm>
          <a:prstGeom prst="rect">
            <a:avLst/>
          </a:prstGeom>
          <a:noFill/>
          <a:ln/>
        </p:spPr>
        <p:txBody>
          <a:bodyPr wrap="square" rtlCol="0" anchor="t"/>
          <a:lstStyle/>
          <a:p>
            <a:pPr marL="0" indent="0" algn="ctr">
              <a:buNone/>
            </a:pPr>
            <a:r>
              <a:rPr lang="en-US" sz="1050" dirty="0">
                <a:solidFill>
                  <a:srgbClr val="94A0C7"/>
                </a:solidFill>
                <a:latin typeface="Calibri" pitchFamily="34" charset="0"/>
                <a:ea typeface="Calibri" pitchFamily="34" charset="-122"/>
                <a:cs typeface="Calibri" pitchFamily="34" charset="-120"/>
              </a:rPr>
              <a:t>sprint planning prep</a:t>
            </a:r>
            <a:endParaRPr lang="en-US" sz="1050" dirty="0"/>
          </a:p>
          <a:p>
            <a:pPr marL="0" indent="0" algn="ctr">
              <a:buNone/>
            </a:pPr>
            <a:r>
              <a:rPr lang="en-US" sz="1050" dirty="0">
                <a:solidFill>
                  <a:srgbClr val="94A0C7"/>
                </a:solidFill>
                <a:latin typeface="Calibri" pitchFamily="34" charset="0"/>
                <a:ea typeface="Calibri" pitchFamily="34" charset="-122"/>
                <a:cs typeface="Calibri" pitchFamily="34" charset="-120"/>
              </a:rPr>
              <a:t>(was 3 hours)</a:t>
            </a:r>
            <a:endParaRPr lang="en-US" sz="1050" dirty="0"/>
          </a:p>
        </p:txBody>
      </p:sp>
      <p:sp>
        <p:nvSpPr>
          <p:cNvPr id="21" name="Shape 19"/>
          <p:cNvSpPr/>
          <p:nvPr/>
        </p:nvSpPr>
        <p:spPr>
          <a:xfrm>
            <a:off x="4297680" y="3566160"/>
            <a:ext cx="3611880" cy="1600200"/>
          </a:xfrm>
          <a:prstGeom prst="roundRect">
            <a:avLst>
              <a:gd name="adj" fmla="val 514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22" name="Text 20"/>
          <p:cNvSpPr/>
          <p:nvPr/>
        </p:nvSpPr>
        <p:spPr>
          <a:xfrm>
            <a:off x="4434840" y="3657600"/>
            <a:ext cx="3337560" cy="880110"/>
          </a:xfrm>
          <a:prstGeom prst="rect">
            <a:avLst/>
          </a:prstGeom>
          <a:noFill/>
          <a:ln/>
        </p:spPr>
        <p:txBody>
          <a:bodyPr wrap="square" rtlCol="0" anchor="b"/>
          <a:lstStyle/>
          <a:p>
            <a:pPr marL="0" indent="0" algn="ctr">
              <a:buNone/>
            </a:pPr>
            <a:r>
              <a:rPr lang="en-US" sz="2600" b="1" dirty="0">
                <a:solidFill>
                  <a:srgbClr val="1FD1A8"/>
                </a:solidFill>
                <a:latin typeface="Cambria" pitchFamily="34" charset="0"/>
                <a:ea typeface="Cambria" pitchFamily="34" charset="-122"/>
                <a:cs typeface="Cambria" pitchFamily="34" charset="-120"/>
              </a:rPr>
              <a:t>24/7</a:t>
            </a:r>
            <a:endParaRPr lang="en-US" sz="2600" dirty="0"/>
          </a:p>
        </p:txBody>
      </p:sp>
      <p:sp>
        <p:nvSpPr>
          <p:cNvPr id="23" name="Text 21"/>
          <p:cNvSpPr/>
          <p:nvPr/>
        </p:nvSpPr>
        <p:spPr>
          <a:xfrm>
            <a:off x="4389120" y="4558284"/>
            <a:ext cx="3429000" cy="560070"/>
          </a:xfrm>
          <a:prstGeom prst="rect">
            <a:avLst/>
          </a:prstGeom>
          <a:noFill/>
          <a:ln/>
        </p:spPr>
        <p:txBody>
          <a:bodyPr wrap="square" rtlCol="0" anchor="t"/>
          <a:lstStyle/>
          <a:p>
            <a:pPr marL="0" indent="0" algn="ctr">
              <a:buNone/>
            </a:pPr>
            <a:r>
              <a:rPr lang="en-US" sz="1050" dirty="0">
                <a:solidFill>
                  <a:srgbClr val="94A0C7"/>
                </a:solidFill>
                <a:latin typeface="Calibri" pitchFamily="34" charset="0"/>
                <a:ea typeface="Calibri" pitchFamily="34" charset="-122"/>
                <a:cs typeface="Calibri" pitchFamily="34" charset="-120"/>
              </a:rPr>
              <a:t>automated monitoring,</a:t>
            </a:r>
            <a:endParaRPr lang="en-US" sz="1050" dirty="0"/>
          </a:p>
          <a:p>
            <a:pPr marL="0" indent="0" algn="ctr">
              <a:buNone/>
            </a:pPr>
            <a:r>
              <a:rPr lang="en-US" sz="1050" dirty="0">
                <a:solidFill>
                  <a:srgbClr val="94A0C7"/>
                </a:solidFill>
                <a:latin typeface="Calibri" pitchFamily="34" charset="0"/>
                <a:ea typeface="Calibri" pitchFamily="34" charset="-122"/>
                <a:cs typeface="Calibri" pitchFamily="34" charset="-120"/>
              </a:rPr>
              <a:t>support &amp; response</a:t>
            </a:r>
            <a:endParaRPr lang="en-US" sz="1050" dirty="0"/>
          </a:p>
        </p:txBody>
      </p:sp>
      <p:sp>
        <p:nvSpPr>
          <p:cNvPr id="24" name="Shape 22"/>
          <p:cNvSpPr/>
          <p:nvPr/>
        </p:nvSpPr>
        <p:spPr>
          <a:xfrm>
            <a:off x="8092440" y="3566160"/>
            <a:ext cx="3611880" cy="1600200"/>
          </a:xfrm>
          <a:prstGeom prst="roundRect">
            <a:avLst>
              <a:gd name="adj" fmla="val 5143"/>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25" name="Text 23"/>
          <p:cNvSpPr/>
          <p:nvPr/>
        </p:nvSpPr>
        <p:spPr>
          <a:xfrm>
            <a:off x="8229600" y="3657600"/>
            <a:ext cx="3337560" cy="880110"/>
          </a:xfrm>
          <a:prstGeom prst="rect">
            <a:avLst/>
          </a:prstGeom>
          <a:noFill/>
          <a:ln/>
        </p:spPr>
        <p:txBody>
          <a:bodyPr wrap="square" rtlCol="0" anchor="b"/>
          <a:lstStyle/>
          <a:p>
            <a:pPr marL="0" indent="0" algn="ctr">
              <a:buNone/>
            </a:pPr>
            <a:r>
              <a:rPr lang="en-US" sz="2600" b="1" dirty="0">
                <a:solidFill>
                  <a:srgbClr val="9D7BFF"/>
                </a:solidFill>
                <a:latin typeface="Cambria" pitchFamily="34" charset="0"/>
                <a:ea typeface="Cambria" pitchFamily="34" charset="-122"/>
                <a:cs typeface="Cambria" pitchFamily="34" charset="-120"/>
              </a:rPr>
              <a:t>0</a:t>
            </a:r>
            <a:endParaRPr lang="en-US" sz="2600" dirty="0"/>
          </a:p>
        </p:txBody>
      </p:sp>
      <p:sp>
        <p:nvSpPr>
          <p:cNvPr id="26" name="Text 24"/>
          <p:cNvSpPr/>
          <p:nvPr/>
        </p:nvSpPr>
        <p:spPr>
          <a:xfrm>
            <a:off x="8183880" y="4558284"/>
            <a:ext cx="3429000" cy="560070"/>
          </a:xfrm>
          <a:prstGeom prst="rect">
            <a:avLst/>
          </a:prstGeom>
          <a:noFill/>
          <a:ln/>
        </p:spPr>
        <p:txBody>
          <a:bodyPr wrap="square" rtlCol="0" anchor="t"/>
          <a:lstStyle/>
          <a:p>
            <a:pPr marL="0" indent="0" algn="ctr">
              <a:buNone/>
            </a:pPr>
            <a:r>
              <a:rPr lang="en-US" sz="1050" dirty="0">
                <a:solidFill>
                  <a:srgbClr val="94A0C7"/>
                </a:solidFill>
                <a:latin typeface="Calibri" pitchFamily="34" charset="0"/>
                <a:ea typeface="Calibri" pitchFamily="34" charset="-122"/>
                <a:cs typeface="Calibri" pitchFamily="34" charset="-120"/>
              </a:rPr>
              <a:t>missed issues — AI</a:t>
            </a:r>
            <a:endParaRPr lang="en-US" sz="1050" dirty="0"/>
          </a:p>
          <a:p>
            <a:pPr marL="0" indent="0" algn="ctr">
              <a:buNone/>
            </a:pPr>
            <a:r>
              <a:rPr lang="en-US" sz="1050" dirty="0">
                <a:solidFill>
                  <a:srgbClr val="94A0C7"/>
                </a:solidFill>
                <a:latin typeface="Calibri" pitchFamily="34" charset="0"/>
                <a:ea typeface="Calibri" pitchFamily="34" charset="-122"/>
                <a:cs typeface="Calibri" pitchFamily="34" charset="-120"/>
              </a:rPr>
              <a:t>never sleeps</a:t>
            </a:r>
            <a:endParaRPr lang="en-US" sz="1050" dirty="0"/>
          </a:p>
        </p:txBody>
      </p:sp>
      <p:sp>
        <p:nvSpPr>
          <p:cNvPr id="27" name="Shape 25"/>
          <p:cNvSpPr/>
          <p:nvPr/>
        </p:nvSpPr>
        <p:spPr>
          <a:xfrm>
            <a:off x="502920" y="5440680"/>
            <a:ext cx="11201400" cy="777240"/>
          </a:xfrm>
          <a:prstGeom prst="roundRect">
            <a:avLst>
              <a:gd name="adj" fmla="val 10588"/>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28" name="Text 26"/>
          <p:cNvSpPr/>
          <p:nvPr/>
        </p:nvSpPr>
        <p:spPr>
          <a:xfrm>
            <a:off x="777240" y="5559552"/>
            <a:ext cx="10698480" cy="548640"/>
          </a:xfrm>
          <a:prstGeom prst="rect">
            <a:avLst/>
          </a:prstGeom>
          <a:noFill/>
          <a:ln/>
        </p:spPr>
        <p:txBody>
          <a:bodyPr wrap="square" rtlCol="0" anchor="ctr"/>
          <a:lstStyle/>
          <a:p>
            <a:pPr marL="0" indent="0">
              <a:buNone/>
            </a:pPr>
            <a:r>
              <a:rPr lang="en-US" sz="1200" dirty="0">
                <a:solidFill>
                  <a:srgbClr val="E8ECFA"/>
                </a:solidFill>
                <a:latin typeface="Calibri" pitchFamily="34" charset="0"/>
                <a:ea typeface="Calibri" pitchFamily="34" charset="-122"/>
                <a:cs typeface="Calibri" pitchFamily="34" charset="-120"/>
              </a:rPr>
              <a:t>✅  Team focuses on high-value creative &amp; strategic work  ·  ✅  Consistent quality, no tired-engineer mistakes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9875520" y="-1463040"/>
            <a:ext cx="4206240" cy="4206240"/>
          </a:xfrm>
          <a:prstGeom prst="ellipse">
            <a:avLst/>
          </a:prstGeom>
          <a:solidFill>
            <a:srgbClr val="1FD1A8">
              <a:alpha val="10000"/>
            </a:srgbClr>
          </a:solidFill>
          <a:ln/>
        </p:spPr>
      </p:sp>
      <p:sp>
        <p:nvSpPr>
          <p:cNvPr id="3" name="Shape 1"/>
          <p:cNvSpPr/>
          <p:nvPr/>
        </p:nvSpPr>
        <p:spPr>
          <a:xfrm>
            <a:off x="-1645920" y="5120640"/>
            <a:ext cx="3291840" cy="3291840"/>
          </a:xfrm>
          <a:prstGeom prst="ellipse">
            <a:avLst/>
          </a:prstGeom>
          <a:solidFill>
            <a:srgbClr val="1FD1A8">
              <a:alpha val="8000"/>
            </a:srgbClr>
          </a:solidFill>
          <a:ln/>
        </p:spPr>
      </p:sp>
      <p:sp>
        <p:nvSpPr>
          <p:cNvPr id="4" name="Shape 2"/>
          <p:cNvSpPr/>
          <p:nvPr/>
        </p:nvSpPr>
        <p:spPr>
          <a:xfrm>
            <a:off x="502920" y="457200"/>
            <a:ext cx="658368" cy="658368"/>
          </a:xfrm>
          <a:prstGeom prst="ellipse">
            <a:avLst/>
          </a:prstGeom>
          <a:solidFill>
            <a:srgbClr val="1FD1A8">
              <a:alpha val="22000"/>
            </a:srgbClr>
          </a:solidFill>
          <a:ln w="15875">
            <a:solidFill>
              <a:srgbClr val="1FD1A8"/>
            </a:solidFill>
            <a:prstDash val="solid"/>
          </a:ln>
        </p:spPr>
      </p:sp>
      <p:sp>
        <p:nvSpPr>
          <p:cNvPr id="5" name="Text 3"/>
          <p:cNvSpPr/>
          <p:nvPr/>
        </p:nvSpPr>
        <p:spPr>
          <a:xfrm>
            <a:off x="502920" y="438912"/>
            <a:ext cx="658368" cy="658368"/>
          </a:xfrm>
          <a:prstGeom prst="rect">
            <a:avLst/>
          </a:prstGeom>
          <a:noFill/>
          <a:ln/>
        </p:spPr>
        <p:txBody>
          <a:bodyPr wrap="square" rtlCol="0" anchor="ctr"/>
          <a:lstStyle/>
          <a:p>
            <a:pPr marL="0" indent="0" algn="ctr">
              <a:buNone/>
            </a:pPr>
            <a:r>
              <a:rPr lang="en-US" sz="1872" dirty="0">
                <a:solidFill>
                  <a:srgbClr val="000000"/>
                </a:solidFill>
              </a:rPr>
              <a:t>🚀</a:t>
            </a:r>
            <a:endParaRPr lang="en-US" sz="1872" dirty="0"/>
          </a:p>
        </p:txBody>
      </p:sp>
      <p:sp>
        <p:nvSpPr>
          <p:cNvPr id="6" name="Text 4"/>
          <p:cNvSpPr/>
          <p:nvPr/>
        </p:nvSpPr>
        <p:spPr>
          <a:xfrm>
            <a:off x="1371600" y="420624"/>
            <a:ext cx="8229600" cy="274320"/>
          </a:xfrm>
          <a:prstGeom prst="rect">
            <a:avLst/>
          </a:prstGeom>
          <a:noFill/>
          <a:ln/>
        </p:spPr>
        <p:txBody>
          <a:bodyPr wrap="square" rtlCol="0" anchor="ctr"/>
          <a:lstStyle/>
          <a:p>
            <a:pPr marL="0" indent="0">
              <a:buNone/>
            </a:pPr>
            <a:r>
              <a:rPr lang="en-US" sz="1250" b="1" kern="0" spc="200" dirty="0">
                <a:solidFill>
                  <a:srgbClr val="1FD1A8"/>
                </a:solidFill>
                <a:latin typeface="Calibri" pitchFamily="34" charset="0"/>
                <a:ea typeface="Calibri" pitchFamily="34" charset="-122"/>
                <a:cs typeface="Calibri" pitchFamily="34" charset="-120"/>
              </a:rPr>
              <a:t>ACTION PLAN</a:t>
            </a:r>
            <a:endParaRPr lang="en-US" sz="1250" dirty="0"/>
          </a:p>
        </p:txBody>
      </p:sp>
      <p:sp>
        <p:nvSpPr>
          <p:cNvPr id="7" name="Text 5"/>
          <p:cNvSpPr/>
          <p:nvPr/>
        </p:nvSpPr>
        <p:spPr>
          <a:xfrm>
            <a:off x="1371600" y="658368"/>
            <a:ext cx="941832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Getting Started — Roadmap</a:t>
            </a:r>
            <a:endParaRPr lang="en-US" sz="2800" dirty="0"/>
          </a:p>
        </p:txBody>
      </p:sp>
      <p:sp>
        <p:nvSpPr>
          <p:cNvPr id="8" name="Text 6"/>
          <p:cNvSpPr/>
          <p:nvPr/>
        </p:nvSpPr>
        <p:spPr>
          <a:xfrm>
            <a:off x="1371600" y="1170432"/>
            <a:ext cx="9692640" cy="310896"/>
          </a:xfrm>
          <a:prstGeom prst="rect">
            <a:avLst/>
          </a:prstGeom>
          <a:noFill/>
          <a:ln/>
        </p:spPr>
        <p:txBody>
          <a:bodyPr wrap="square" rtlCol="0" anchor="ctr"/>
          <a:lstStyle/>
          <a:p>
            <a:pPr marL="0" indent="0">
              <a:buNone/>
            </a:pPr>
            <a:r>
              <a:rPr lang="en-US" sz="1350" i="1" dirty="0">
                <a:solidFill>
                  <a:srgbClr val="94A0C7"/>
                </a:solidFill>
                <a:latin typeface="Calibri" pitchFamily="34" charset="0"/>
                <a:ea typeface="Calibri" pitchFamily="34" charset="-122"/>
                <a:cs typeface="Calibri" pitchFamily="34" charset="-120"/>
              </a:rPr>
              <a:t>Don't just automate tasks — automate intelligently</a:t>
            </a:r>
            <a:endParaRPr lang="en-US" sz="1350" dirty="0"/>
          </a:p>
        </p:txBody>
      </p:sp>
      <p:sp>
        <p:nvSpPr>
          <p:cNvPr id="9" name="Shape 7"/>
          <p:cNvSpPr/>
          <p:nvPr/>
        </p:nvSpPr>
        <p:spPr>
          <a:xfrm>
            <a:off x="502920" y="1783080"/>
            <a:ext cx="2697480" cy="2286000"/>
          </a:xfrm>
          <a:prstGeom prst="roundRect">
            <a:avLst>
              <a:gd name="adj" fmla="val 360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0" name="Shape 8"/>
          <p:cNvSpPr/>
          <p:nvPr/>
        </p:nvSpPr>
        <p:spPr>
          <a:xfrm>
            <a:off x="640080" y="1947672"/>
            <a:ext cx="1051560" cy="365760"/>
          </a:xfrm>
          <a:prstGeom prst="roundRect">
            <a:avLst>
              <a:gd name="adj" fmla="val 15000"/>
            </a:avLst>
          </a:prstGeom>
          <a:solidFill>
            <a:srgbClr val="E07856">
              <a:alpha val="85000"/>
            </a:srgbClr>
          </a:solidFill>
          <a:ln/>
        </p:spPr>
      </p:sp>
      <p:sp>
        <p:nvSpPr>
          <p:cNvPr id="11" name="Text 9"/>
          <p:cNvSpPr/>
          <p:nvPr/>
        </p:nvSpPr>
        <p:spPr>
          <a:xfrm>
            <a:off x="640080" y="1947672"/>
            <a:ext cx="1051560" cy="365760"/>
          </a:xfrm>
          <a:prstGeom prst="rect">
            <a:avLst/>
          </a:prstGeom>
          <a:noFill/>
          <a:ln/>
        </p:spPr>
        <p:txBody>
          <a:bodyPr wrap="square" rtlCol="0" anchor="ctr"/>
          <a:lstStyle/>
          <a:p>
            <a:pPr marL="0" indent="0" algn="ctr">
              <a:buNone/>
            </a:pPr>
            <a:r>
              <a:rPr lang="en-US" sz="1100" b="1" dirty="0">
                <a:solidFill>
                  <a:srgbClr val="0A0E27"/>
                </a:solidFill>
                <a:latin typeface="Calibri" pitchFamily="34" charset="0"/>
                <a:ea typeface="Calibri" pitchFamily="34" charset="-122"/>
                <a:cs typeface="Calibri" pitchFamily="34" charset="-120"/>
              </a:rPr>
              <a:t>WEEK 1</a:t>
            </a:r>
            <a:endParaRPr lang="en-US" sz="1100" dirty="0"/>
          </a:p>
        </p:txBody>
      </p:sp>
      <p:sp>
        <p:nvSpPr>
          <p:cNvPr id="12" name="Text 10"/>
          <p:cNvSpPr/>
          <p:nvPr/>
        </p:nvSpPr>
        <p:spPr>
          <a:xfrm>
            <a:off x="640080" y="2441448"/>
            <a:ext cx="242316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Explore Tools</a:t>
            </a:r>
            <a:endParaRPr lang="en-US" sz="1500" dirty="0"/>
          </a:p>
        </p:txBody>
      </p:sp>
      <p:sp>
        <p:nvSpPr>
          <p:cNvPr id="13" name="Text 11"/>
          <p:cNvSpPr/>
          <p:nvPr/>
        </p:nvSpPr>
        <p:spPr>
          <a:xfrm>
            <a:off x="640080" y="2880360"/>
            <a:ext cx="2423160" cy="1097280"/>
          </a:xfrm>
          <a:prstGeom prst="rect">
            <a:avLst/>
          </a:prstGeom>
          <a:noFill/>
          <a:ln/>
        </p:spPr>
        <p:txBody>
          <a:bodyPr wrap="square" rtlCol="0" anchor="t"/>
          <a:lstStyle/>
          <a:p>
            <a:pPr marL="0" indent="0">
              <a:lnSpc>
                <a:spcPct val="125000"/>
              </a:lnSpc>
              <a:buNone/>
            </a:pPr>
            <a:r>
              <a:rPr lang="en-US" sz="1050" dirty="0">
                <a:solidFill>
                  <a:srgbClr val="94A0C7"/>
                </a:solidFill>
                <a:latin typeface="Calibri" pitchFamily="34" charset="0"/>
                <a:ea typeface="Calibri" pitchFamily="34" charset="-122"/>
                <a:cs typeface="Calibri" pitchFamily="34" charset="-120"/>
              </a:rPr>
              <a:t>Sign up for Claude API, visit lmarena.ai, install N8N, connect Jira account.</a:t>
            </a:r>
            <a:endParaRPr lang="en-US" sz="1050" dirty="0"/>
          </a:p>
        </p:txBody>
      </p:sp>
      <p:sp>
        <p:nvSpPr>
          <p:cNvPr id="14" name="Text 12"/>
          <p:cNvSpPr/>
          <p:nvPr/>
        </p:nvSpPr>
        <p:spPr>
          <a:xfrm>
            <a:off x="3200400" y="2697480"/>
            <a:ext cx="164592" cy="365760"/>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15" name="Shape 13"/>
          <p:cNvSpPr/>
          <p:nvPr/>
        </p:nvSpPr>
        <p:spPr>
          <a:xfrm>
            <a:off x="3364992" y="1783080"/>
            <a:ext cx="2697480" cy="2286000"/>
          </a:xfrm>
          <a:prstGeom prst="roundRect">
            <a:avLst>
              <a:gd name="adj" fmla="val 360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16" name="Shape 14"/>
          <p:cNvSpPr/>
          <p:nvPr/>
        </p:nvSpPr>
        <p:spPr>
          <a:xfrm>
            <a:off x="3502152" y="1947672"/>
            <a:ext cx="1051560" cy="365760"/>
          </a:xfrm>
          <a:prstGeom prst="roundRect">
            <a:avLst>
              <a:gd name="adj" fmla="val 15000"/>
            </a:avLst>
          </a:prstGeom>
          <a:solidFill>
            <a:srgbClr val="3B82F6">
              <a:alpha val="85000"/>
            </a:srgbClr>
          </a:solidFill>
          <a:ln/>
        </p:spPr>
      </p:sp>
      <p:sp>
        <p:nvSpPr>
          <p:cNvPr id="17" name="Text 15"/>
          <p:cNvSpPr/>
          <p:nvPr/>
        </p:nvSpPr>
        <p:spPr>
          <a:xfrm>
            <a:off x="3502152" y="1947672"/>
            <a:ext cx="1051560" cy="365760"/>
          </a:xfrm>
          <a:prstGeom prst="rect">
            <a:avLst/>
          </a:prstGeom>
          <a:noFill/>
          <a:ln/>
        </p:spPr>
        <p:txBody>
          <a:bodyPr wrap="square" rtlCol="0" anchor="ctr"/>
          <a:lstStyle/>
          <a:p>
            <a:pPr marL="0" indent="0" algn="ctr">
              <a:buNone/>
            </a:pPr>
            <a:r>
              <a:rPr lang="en-US" sz="1100" b="1" dirty="0">
                <a:solidFill>
                  <a:srgbClr val="0A0E27"/>
                </a:solidFill>
                <a:latin typeface="Calibri" pitchFamily="34" charset="0"/>
                <a:ea typeface="Calibri" pitchFamily="34" charset="-122"/>
                <a:cs typeface="Calibri" pitchFamily="34" charset="-120"/>
              </a:rPr>
              <a:t>WEEK 2</a:t>
            </a:r>
            <a:endParaRPr lang="en-US" sz="1100" dirty="0"/>
          </a:p>
        </p:txBody>
      </p:sp>
      <p:sp>
        <p:nvSpPr>
          <p:cNvPr id="18" name="Text 16"/>
          <p:cNvSpPr/>
          <p:nvPr/>
        </p:nvSpPr>
        <p:spPr>
          <a:xfrm>
            <a:off x="3502152" y="2441448"/>
            <a:ext cx="242316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First Workflow</a:t>
            </a:r>
            <a:endParaRPr lang="en-US" sz="1500" dirty="0"/>
          </a:p>
        </p:txBody>
      </p:sp>
      <p:sp>
        <p:nvSpPr>
          <p:cNvPr id="19" name="Text 17"/>
          <p:cNvSpPr/>
          <p:nvPr/>
        </p:nvSpPr>
        <p:spPr>
          <a:xfrm>
            <a:off x="3502152" y="2880360"/>
            <a:ext cx="2423160" cy="1097280"/>
          </a:xfrm>
          <a:prstGeom prst="rect">
            <a:avLst/>
          </a:prstGeom>
          <a:noFill/>
          <a:ln/>
        </p:spPr>
        <p:txBody>
          <a:bodyPr wrap="square" rtlCol="0" anchor="t"/>
          <a:lstStyle/>
          <a:p>
            <a:pPr marL="0" indent="0">
              <a:lnSpc>
                <a:spcPct val="125000"/>
              </a:lnSpc>
              <a:buNone/>
            </a:pPr>
            <a:r>
              <a:rPr lang="en-US" sz="1050" dirty="0">
                <a:solidFill>
                  <a:srgbClr val="94A0C7"/>
                </a:solidFill>
                <a:latin typeface="Calibri" pitchFamily="34" charset="0"/>
                <a:ea typeface="Calibri" pitchFamily="34" charset="-122"/>
                <a:cs typeface="Calibri" pitchFamily="34" charset="-120"/>
              </a:rPr>
              <a:t>Build: Email → N8N → Claude (summarize) → Jira. Start simple. Test. Iterate.</a:t>
            </a:r>
            <a:endParaRPr lang="en-US" sz="1050" dirty="0"/>
          </a:p>
        </p:txBody>
      </p:sp>
      <p:sp>
        <p:nvSpPr>
          <p:cNvPr id="20" name="Text 18"/>
          <p:cNvSpPr/>
          <p:nvPr/>
        </p:nvSpPr>
        <p:spPr>
          <a:xfrm>
            <a:off x="6062472" y="2697480"/>
            <a:ext cx="164592" cy="365760"/>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21" name="Shape 19"/>
          <p:cNvSpPr/>
          <p:nvPr/>
        </p:nvSpPr>
        <p:spPr>
          <a:xfrm>
            <a:off x="6227064" y="1783080"/>
            <a:ext cx="2697480" cy="2286000"/>
          </a:xfrm>
          <a:prstGeom prst="roundRect">
            <a:avLst>
              <a:gd name="adj" fmla="val 360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22" name="Shape 20"/>
          <p:cNvSpPr/>
          <p:nvPr/>
        </p:nvSpPr>
        <p:spPr>
          <a:xfrm>
            <a:off x="6364224" y="1947672"/>
            <a:ext cx="1051560" cy="365760"/>
          </a:xfrm>
          <a:prstGeom prst="roundRect">
            <a:avLst>
              <a:gd name="adj" fmla="val 15000"/>
            </a:avLst>
          </a:prstGeom>
          <a:solidFill>
            <a:srgbClr val="FF6B81">
              <a:alpha val="85000"/>
            </a:srgbClr>
          </a:solidFill>
          <a:ln/>
        </p:spPr>
      </p:sp>
      <p:sp>
        <p:nvSpPr>
          <p:cNvPr id="23" name="Text 21"/>
          <p:cNvSpPr/>
          <p:nvPr/>
        </p:nvSpPr>
        <p:spPr>
          <a:xfrm>
            <a:off x="6364224" y="1947672"/>
            <a:ext cx="1051560" cy="365760"/>
          </a:xfrm>
          <a:prstGeom prst="rect">
            <a:avLst/>
          </a:prstGeom>
          <a:noFill/>
          <a:ln/>
        </p:spPr>
        <p:txBody>
          <a:bodyPr wrap="square" rtlCol="0" anchor="ctr"/>
          <a:lstStyle/>
          <a:p>
            <a:pPr marL="0" indent="0" algn="ctr">
              <a:buNone/>
            </a:pPr>
            <a:r>
              <a:rPr lang="en-US" sz="1100" b="1" dirty="0">
                <a:solidFill>
                  <a:srgbClr val="0A0E27"/>
                </a:solidFill>
                <a:latin typeface="Calibri" pitchFamily="34" charset="0"/>
                <a:ea typeface="Calibri" pitchFamily="34" charset="-122"/>
                <a:cs typeface="Calibri" pitchFamily="34" charset="-120"/>
              </a:rPr>
              <a:t>WEEK 3</a:t>
            </a:r>
            <a:endParaRPr lang="en-US" sz="1100" dirty="0"/>
          </a:p>
        </p:txBody>
      </p:sp>
      <p:sp>
        <p:nvSpPr>
          <p:cNvPr id="24" name="Text 22"/>
          <p:cNvSpPr/>
          <p:nvPr/>
        </p:nvSpPr>
        <p:spPr>
          <a:xfrm>
            <a:off x="6364224" y="2441448"/>
            <a:ext cx="242316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Add Intelligence</a:t>
            </a:r>
            <a:endParaRPr lang="en-US" sz="1500" dirty="0"/>
          </a:p>
        </p:txBody>
      </p:sp>
      <p:sp>
        <p:nvSpPr>
          <p:cNvPr id="25" name="Text 23"/>
          <p:cNvSpPr/>
          <p:nvPr/>
        </p:nvSpPr>
        <p:spPr>
          <a:xfrm>
            <a:off x="6364224" y="2880360"/>
            <a:ext cx="2423160" cy="1097280"/>
          </a:xfrm>
          <a:prstGeom prst="rect">
            <a:avLst/>
          </a:prstGeom>
          <a:noFill/>
          <a:ln/>
        </p:spPr>
        <p:txBody>
          <a:bodyPr wrap="square" rtlCol="0" anchor="t"/>
          <a:lstStyle/>
          <a:p>
            <a:pPr marL="0" indent="0">
              <a:lnSpc>
                <a:spcPct val="125000"/>
              </a:lnSpc>
              <a:buNone/>
            </a:pPr>
            <a:r>
              <a:rPr lang="en-US" sz="1050" dirty="0">
                <a:solidFill>
                  <a:srgbClr val="94A0C7"/>
                </a:solidFill>
                <a:latin typeface="Calibri" pitchFamily="34" charset="0"/>
                <a:ea typeface="Calibri" pitchFamily="34" charset="-122"/>
                <a:cs typeface="Calibri" pitchFamily="34" charset="-120"/>
              </a:rPr>
              <a:t>Add classification, priority detection, auto-assignment &amp; Slack alerts.</a:t>
            </a:r>
            <a:endParaRPr lang="en-US" sz="1050" dirty="0"/>
          </a:p>
        </p:txBody>
      </p:sp>
      <p:sp>
        <p:nvSpPr>
          <p:cNvPr id="26" name="Text 24"/>
          <p:cNvSpPr/>
          <p:nvPr/>
        </p:nvSpPr>
        <p:spPr>
          <a:xfrm>
            <a:off x="8924544" y="2697480"/>
            <a:ext cx="164592" cy="365760"/>
          </a:xfrm>
          <a:prstGeom prst="rect">
            <a:avLst/>
          </a:prstGeom>
          <a:noFill/>
          <a:ln/>
        </p:spPr>
        <p:txBody>
          <a:bodyPr wrap="square" rtlCol="0" anchor="ctr"/>
          <a:lstStyle/>
          <a:p>
            <a:pPr marL="0" indent="0" algn="ctr">
              <a:buNone/>
            </a:pPr>
            <a:r>
              <a:rPr lang="en-US" sz="1600" b="1" dirty="0">
                <a:solidFill>
                  <a:srgbClr val="FFFFFF"/>
                </a:solidFill>
              </a:rPr>
              <a:t>→</a:t>
            </a:r>
            <a:endParaRPr lang="en-US" sz="1600" dirty="0"/>
          </a:p>
        </p:txBody>
      </p:sp>
      <p:sp>
        <p:nvSpPr>
          <p:cNvPr id="27" name="Shape 25"/>
          <p:cNvSpPr/>
          <p:nvPr/>
        </p:nvSpPr>
        <p:spPr>
          <a:xfrm>
            <a:off x="9089136" y="1783080"/>
            <a:ext cx="2697480" cy="2286000"/>
          </a:xfrm>
          <a:prstGeom prst="roundRect">
            <a:avLst>
              <a:gd name="adj" fmla="val 3600"/>
            </a:avLst>
          </a:prstGeom>
          <a:solidFill>
            <a:srgbClr val="141A3D"/>
          </a:solidFill>
          <a:ln w="12700">
            <a:solidFill>
              <a:srgbClr val="2A3468"/>
            </a:solidFill>
            <a:prstDash val="solid"/>
          </a:ln>
          <a:effectLst>
            <a:outerShdw blurRad="101600" dist="38100" dir="5400000" algn="bl" rotWithShape="0">
              <a:srgbClr val="000000">
                <a:alpha val="35000"/>
              </a:srgbClr>
            </a:outerShdw>
          </a:effectLst>
        </p:spPr>
      </p:sp>
      <p:sp>
        <p:nvSpPr>
          <p:cNvPr id="28" name="Shape 26"/>
          <p:cNvSpPr/>
          <p:nvPr/>
        </p:nvSpPr>
        <p:spPr>
          <a:xfrm>
            <a:off x="9226296" y="1947672"/>
            <a:ext cx="1051560" cy="365760"/>
          </a:xfrm>
          <a:prstGeom prst="roundRect">
            <a:avLst>
              <a:gd name="adj" fmla="val 15000"/>
            </a:avLst>
          </a:prstGeom>
          <a:solidFill>
            <a:srgbClr val="FFB930">
              <a:alpha val="85000"/>
            </a:srgbClr>
          </a:solidFill>
          <a:ln/>
        </p:spPr>
      </p:sp>
      <p:sp>
        <p:nvSpPr>
          <p:cNvPr id="29" name="Text 27"/>
          <p:cNvSpPr/>
          <p:nvPr/>
        </p:nvSpPr>
        <p:spPr>
          <a:xfrm>
            <a:off x="9226296" y="1947672"/>
            <a:ext cx="1051560" cy="365760"/>
          </a:xfrm>
          <a:prstGeom prst="rect">
            <a:avLst/>
          </a:prstGeom>
          <a:noFill/>
          <a:ln/>
        </p:spPr>
        <p:txBody>
          <a:bodyPr wrap="square" rtlCol="0" anchor="ctr"/>
          <a:lstStyle/>
          <a:p>
            <a:pPr marL="0" indent="0" algn="ctr">
              <a:buNone/>
            </a:pPr>
            <a:r>
              <a:rPr lang="en-US" sz="1100" b="1" dirty="0">
                <a:solidFill>
                  <a:srgbClr val="0A0E27"/>
                </a:solidFill>
                <a:latin typeface="Calibri" pitchFamily="34" charset="0"/>
                <a:ea typeface="Calibri" pitchFamily="34" charset="-122"/>
                <a:cs typeface="Calibri" pitchFamily="34" charset="-120"/>
              </a:rPr>
              <a:t>WEEK 4+</a:t>
            </a:r>
            <a:endParaRPr lang="en-US" sz="1100" dirty="0"/>
          </a:p>
        </p:txBody>
      </p:sp>
      <p:sp>
        <p:nvSpPr>
          <p:cNvPr id="30" name="Text 28"/>
          <p:cNvSpPr/>
          <p:nvPr/>
        </p:nvSpPr>
        <p:spPr>
          <a:xfrm>
            <a:off x="9226296" y="2441448"/>
            <a:ext cx="242316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Scale &amp; Optimize</a:t>
            </a:r>
            <a:endParaRPr lang="en-US" sz="1500" dirty="0"/>
          </a:p>
        </p:txBody>
      </p:sp>
      <p:sp>
        <p:nvSpPr>
          <p:cNvPr id="31" name="Text 29"/>
          <p:cNvSpPr/>
          <p:nvPr/>
        </p:nvSpPr>
        <p:spPr>
          <a:xfrm>
            <a:off x="9226296" y="2880360"/>
            <a:ext cx="2423160" cy="1097280"/>
          </a:xfrm>
          <a:prstGeom prst="rect">
            <a:avLst/>
          </a:prstGeom>
          <a:noFill/>
          <a:ln/>
        </p:spPr>
        <p:txBody>
          <a:bodyPr wrap="square" rtlCol="0" anchor="t"/>
          <a:lstStyle/>
          <a:p>
            <a:pPr marL="0" indent="0">
              <a:lnSpc>
                <a:spcPct val="125000"/>
              </a:lnSpc>
              <a:buNone/>
            </a:pPr>
            <a:r>
              <a:rPr lang="en-US" sz="1050" dirty="0">
                <a:solidFill>
                  <a:srgbClr val="94A0C7"/>
                </a:solidFill>
                <a:latin typeface="Calibri" pitchFamily="34" charset="0"/>
                <a:ea typeface="Calibri" pitchFamily="34" charset="-122"/>
                <a:cs typeface="Calibri" pitchFamily="34" charset="-120"/>
              </a:rPr>
              <a:t>Add sprint planning &amp; code review. Benchmark with LM Arena. Measure ROI.</a:t>
            </a:r>
            <a:endParaRPr lang="en-US" sz="1050" dirty="0"/>
          </a:p>
        </p:txBody>
      </p:sp>
      <p:sp>
        <p:nvSpPr>
          <p:cNvPr id="32" name="Shape 30"/>
          <p:cNvSpPr/>
          <p:nvPr/>
        </p:nvSpPr>
        <p:spPr>
          <a:xfrm>
            <a:off x="502920" y="4343400"/>
            <a:ext cx="11201400" cy="1783080"/>
          </a:xfrm>
          <a:prstGeom prst="roundRect">
            <a:avLst>
              <a:gd name="adj" fmla="val 4615"/>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33" name="Text 31"/>
          <p:cNvSpPr/>
          <p:nvPr/>
        </p:nvSpPr>
        <p:spPr>
          <a:xfrm>
            <a:off x="777240" y="4480560"/>
            <a:ext cx="5486400" cy="292608"/>
          </a:xfrm>
          <a:prstGeom prst="rect">
            <a:avLst/>
          </a:prstGeom>
          <a:noFill/>
          <a:ln/>
        </p:spPr>
        <p:txBody>
          <a:bodyPr wrap="square" rtlCol="0" anchor="ctr"/>
          <a:lstStyle/>
          <a:p>
            <a:pPr marL="0" indent="0">
              <a:buNone/>
            </a:pPr>
            <a:r>
              <a:rPr lang="en-US" sz="1300" b="1" kern="0" spc="100" dirty="0">
                <a:solidFill>
                  <a:srgbClr val="1FD1A8"/>
                </a:solidFill>
                <a:latin typeface="Calibri" pitchFamily="34" charset="0"/>
                <a:ea typeface="Calibri" pitchFamily="34" charset="-122"/>
                <a:cs typeface="Calibri" pitchFamily="34" charset="-120"/>
              </a:rPr>
              <a:t>🔑  USEFUL LINKS</a:t>
            </a:r>
            <a:endParaRPr lang="en-US" sz="1300" dirty="0"/>
          </a:p>
        </p:txBody>
      </p:sp>
      <p:sp>
        <p:nvSpPr>
          <p:cNvPr id="34" name="Text 32"/>
          <p:cNvSpPr/>
          <p:nvPr/>
        </p:nvSpPr>
        <p:spPr>
          <a:xfrm>
            <a:off x="777240" y="4800600"/>
            <a:ext cx="5303520" cy="1280160"/>
          </a:xfrm>
          <a:prstGeom prst="rect">
            <a:avLst/>
          </a:prstGeom>
          <a:noFill/>
          <a:ln/>
        </p:spPr>
        <p:txBody>
          <a:bodyPr wrap="square" rtlCol="0" anchor="t"/>
          <a:lstStyle/>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Claude API — anthropic.com/api</a:t>
            </a:r>
            <a:endParaRPr lang="en-US" sz="1150" dirty="0"/>
          </a:p>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LM Arena — lmarena.ai</a:t>
            </a:r>
            <a:endParaRPr lang="en-US" sz="1150" dirty="0"/>
          </a:p>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N8N — n8n.io (cloud) or github.com/n8n-io/n8n</a:t>
            </a:r>
            <a:endParaRPr lang="en-US" sz="1150" dirty="0"/>
          </a:p>
        </p:txBody>
      </p:sp>
      <p:sp>
        <p:nvSpPr>
          <p:cNvPr id="35" name="Text 33"/>
          <p:cNvSpPr/>
          <p:nvPr/>
        </p:nvSpPr>
        <p:spPr>
          <a:xfrm>
            <a:off x="6309360" y="4800600"/>
            <a:ext cx="5212080" cy="1280160"/>
          </a:xfrm>
          <a:prstGeom prst="rect">
            <a:avLst/>
          </a:prstGeom>
          <a:noFill/>
          <a:ln/>
        </p:spPr>
        <p:txBody>
          <a:bodyPr wrap="square" rtlCol="0" anchor="t"/>
          <a:lstStyle/>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Jira — atlassian.com/software/jira</a:t>
            </a:r>
            <a:endParaRPr lang="en-US" sz="1150" dirty="0"/>
          </a:p>
          <a:p>
            <a:pPr marL="177800" indent="-177800">
              <a:spcAft>
                <a:spcPts val="600"/>
              </a:spcAft>
              <a:buSzPct val="100000"/>
              <a:buChar char="▪"/>
            </a:pPr>
            <a:r>
              <a:rPr lang="en-US" sz="1150" dirty="0">
                <a:solidFill>
                  <a:srgbClr val="E8ECFA"/>
                </a:solidFill>
                <a:latin typeface="Calibri" pitchFamily="34" charset="0"/>
                <a:ea typeface="Calibri" pitchFamily="34" charset="-122"/>
                <a:cs typeface="Calibri" pitchFamily="34" charset="-120"/>
              </a:rPr>
              <a:t>N8N Templates — n8n.io/workflows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9D7BFF">
              <a:alpha val="12000"/>
            </a:srgbClr>
          </a:solidFill>
          <a:ln/>
        </p:spPr>
      </p:sp>
      <p:sp>
        <p:nvSpPr>
          <p:cNvPr id="3" name="Shape 1"/>
          <p:cNvSpPr/>
          <p:nvPr/>
        </p:nvSpPr>
        <p:spPr>
          <a:xfrm>
            <a:off x="-2194560" y="3840480"/>
            <a:ext cx="5120640" cy="5120640"/>
          </a:xfrm>
          <a:prstGeom prst="ellipse">
            <a:avLst/>
          </a:prstGeom>
          <a:solidFill>
            <a:srgbClr val="E07856">
              <a:alpha val="10000"/>
            </a:srgbClr>
          </a:solidFill>
          <a:ln/>
        </p:spPr>
      </p:sp>
      <p:sp>
        <p:nvSpPr>
          <p:cNvPr id="4" name="Text 2"/>
          <p:cNvSpPr/>
          <p:nvPr/>
        </p:nvSpPr>
        <p:spPr>
          <a:xfrm>
            <a:off x="0" y="1371600"/>
            <a:ext cx="12188952" cy="1005840"/>
          </a:xfrm>
          <a:prstGeom prst="rect">
            <a:avLst/>
          </a:prstGeom>
          <a:noFill/>
          <a:ln/>
        </p:spPr>
        <p:txBody>
          <a:bodyPr wrap="square" rtlCol="0" anchor="ctr"/>
          <a:lstStyle/>
          <a:p>
            <a:pPr marL="0" indent="0" algn="ctr">
              <a:buNone/>
            </a:pPr>
            <a:r>
              <a:rPr lang="en-US" sz="4400" dirty="0">
                <a:solidFill>
                  <a:srgbClr val="000000"/>
                </a:solidFill>
              </a:rPr>
              <a:t>🙏</a:t>
            </a:r>
            <a:endParaRPr lang="en-US" sz="4400" dirty="0"/>
          </a:p>
        </p:txBody>
      </p:sp>
      <p:sp>
        <p:nvSpPr>
          <p:cNvPr id="5" name="Text 3"/>
          <p:cNvSpPr/>
          <p:nvPr/>
        </p:nvSpPr>
        <p:spPr>
          <a:xfrm>
            <a:off x="0" y="2331720"/>
            <a:ext cx="12188952"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4"/>
          <p:cNvSpPr/>
          <p:nvPr/>
        </p:nvSpPr>
        <p:spPr>
          <a:xfrm>
            <a:off x="0" y="3200400"/>
            <a:ext cx="12188952" cy="457200"/>
          </a:xfrm>
          <a:prstGeom prst="rect">
            <a:avLst/>
          </a:prstGeom>
          <a:noFill/>
          <a:ln/>
        </p:spPr>
        <p:txBody>
          <a:bodyPr wrap="square" rtlCol="0" anchor="ctr"/>
          <a:lstStyle/>
          <a:p>
            <a:pPr marL="0" indent="0" algn="ctr">
              <a:buNone/>
            </a:pPr>
            <a:r>
              <a:rPr lang="en-US" sz="1800" i="1" dirty="0">
                <a:solidFill>
                  <a:srgbClr val="1FD1A8"/>
                </a:solidFill>
                <a:latin typeface="Calibri" pitchFamily="34" charset="0"/>
                <a:ea typeface="Calibri" pitchFamily="34" charset="-122"/>
                <a:cs typeface="Calibri" pitchFamily="34" charset="-120"/>
              </a:rPr>
              <a:t>Questions Welcome!</a:t>
            </a:r>
            <a:endParaRPr lang="en-US" sz="1800" dirty="0"/>
          </a:p>
        </p:txBody>
      </p:sp>
      <p:sp>
        <p:nvSpPr>
          <p:cNvPr id="7" name="Shape 5"/>
          <p:cNvSpPr/>
          <p:nvPr/>
        </p:nvSpPr>
        <p:spPr>
          <a:xfrm>
            <a:off x="2441448" y="3977640"/>
            <a:ext cx="7315200" cy="1280160"/>
          </a:xfrm>
          <a:prstGeom prst="roundRect">
            <a:avLst>
              <a:gd name="adj" fmla="val 6429"/>
            </a:avLst>
          </a:prstGeom>
          <a:solidFill>
            <a:srgbClr val="1B2350"/>
          </a:solidFill>
          <a:ln w="12700">
            <a:solidFill>
              <a:srgbClr val="2A3468"/>
            </a:solidFill>
            <a:prstDash val="solid"/>
          </a:ln>
          <a:effectLst>
            <a:outerShdw blurRad="101600" dist="38100" dir="5400000" algn="bl" rotWithShape="0">
              <a:srgbClr val="000000">
                <a:alpha val="35000"/>
              </a:srgbClr>
            </a:outerShdw>
          </a:effectLst>
        </p:spPr>
      </p:sp>
      <p:sp>
        <p:nvSpPr>
          <p:cNvPr id="8" name="Text 6"/>
          <p:cNvSpPr/>
          <p:nvPr/>
        </p:nvSpPr>
        <p:spPr>
          <a:xfrm>
            <a:off x="2743200" y="4114800"/>
            <a:ext cx="6720840" cy="1005840"/>
          </a:xfrm>
          <a:prstGeom prst="rect">
            <a:avLst/>
          </a:prstGeom>
          <a:noFill/>
          <a:ln/>
        </p:spPr>
        <p:txBody>
          <a:bodyPr wrap="square" rtlCol="0" anchor="ctr"/>
          <a:lstStyle/>
          <a:p>
            <a:pPr marL="0" indent="0" algn="ctr">
              <a:lnSpc>
                <a:spcPct val="130000"/>
              </a:lnSpc>
              <a:buNone/>
            </a:pPr>
            <a:r>
              <a:rPr lang="en-US" sz="1350" i="1" dirty="0">
                <a:solidFill>
                  <a:srgbClr val="E8ECFA"/>
                </a:solidFill>
                <a:latin typeface="Calibri" pitchFamily="34" charset="0"/>
                <a:ea typeface="Calibri" pitchFamily="34" charset="-122"/>
                <a:cs typeface="Calibri" pitchFamily="34" charset="-120"/>
              </a:rPr>
              <a:t>"Don't just automate tasks — automate intelligently.</a:t>
            </a:r>
            <a:endParaRPr lang="en-US" sz="1350" dirty="0"/>
          </a:p>
          <a:p>
            <a:pPr marL="0" indent="0" algn="ctr">
              <a:lnSpc>
                <a:spcPct val="130000"/>
              </a:lnSpc>
              <a:buNone/>
            </a:pPr>
            <a:r>
              <a:rPr lang="en-US" sz="1350" i="1" dirty="0">
                <a:solidFill>
                  <a:srgbClr val="E8ECFA"/>
                </a:solidFill>
                <a:latin typeface="Calibri" pitchFamily="34" charset="0"/>
                <a:ea typeface="Calibri" pitchFamily="34" charset="-122"/>
                <a:cs typeface="Calibri" pitchFamily="34" charset="-120"/>
              </a:rPr>
              <a:t>The right AI + the right workflow = a team that never sleeps."</a:t>
            </a:r>
            <a:endParaRPr lang="en-US" sz="1350" dirty="0"/>
          </a:p>
        </p:txBody>
      </p:sp>
      <p:sp>
        <p:nvSpPr>
          <p:cNvPr id="9" name="Text 7"/>
          <p:cNvSpPr/>
          <p:nvPr/>
        </p:nvSpPr>
        <p:spPr>
          <a:xfrm>
            <a:off x="3945636" y="5532120"/>
            <a:ext cx="64008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4860036" y="5532120"/>
            <a:ext cx="64008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5774436" y="5532120"/>
            <a:ext cx="64008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6688836" y="5532120"/>
            <a:ext cx="64008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7603236" y="5532120"/>
            <a:ext cx="64008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2349</Words>
  <Application>Microsoft Office PowerPoint</Application>
  <PresentationFormat>Widescreen</PresentationFormat>
  <Paragraphs>530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2</cp:revision>
  <dcterms:created xsi:type="dcterms:W3CDTF">2026-07-22T03:56:50Z</dcterms:created>
  <dcterms:modified xsi:type="dcterms:W3CDTF">2026-07-22T04:01:33Z</dcterms:modified>
</cp:coreProperties>
</file>