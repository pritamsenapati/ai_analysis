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9" r:id="rId42"/>
    <p:sldId id="300" r:id="rId43"/>
    <p:sldId id="301" r:id="rId44"/>
    <p:sldId id="30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06" y="6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1005840"/>
            <a:ext cx="292608" cy="292608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1828800"/>
            <a:ext cx="292608" cy="292608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2743200"/>
            <a:ext cx="292608" cy="292608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3657600"/>
            <a:ext cx="292608" cy="292608"/>
          </a:xfrm>
          <a:prstGeom prst="ellipse">
            <a:avLst/>
          </a:prstGeom>
          <a:solidFill>
            <a:srgbClr val="9C70FF"/>
          </a:solidFill>
          <a:ln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0" y="4114800"/>
            <a:ext cx="292608" cy="292608"/>
          </a:xfrm>
          <a:prstGeom prst="ellipse">
            <a:avLst/>
          </a:prstGeom>
          <a:solidFill>
            <a:srgbClr val="57CF8B"/>
          </a:solidFill>
          <a:ln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9253728" y="1143000"/>
            <a:ext cx="987552" cy="777240"/>
          </a:xfrm>
          <a:prstGeom prst="line">
            <a:avLst/>
          </a:prstGeom>
          <a:ln w="381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281160" y="2057400"/>
            <a:ext cx="1097280" cy="777240"/>
          </a:xfrm>
          <a:prstGeom prst="line">
            <a:avLst/>
          </a:prstGeom>
          <a:ln w="381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81160" y="3017520"/>
            <a:ext cx="1234440" cy="731519"/>
          </a:xfrm>
          <a:prstGeom prst="line">
            <a:avLst/>
          </a:prstGeom>
          <a:ln w="381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549640" y="2880360"/>
            <a:ext cx="594360" cy="1280160"/>
          </a:xfrm>
          <a:prstGeom prst="line">
            <a:avLst/>
          </a:prstGeom>
          <a:ln w="381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960120"/>
            <a:ext cx="67665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F4F7FB"/>
                </a:solidFill>
                <a:latin typeface="Aptos"/>
              </a:rPr>
              <a:t>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19072"/>
            <a:ext cx="6858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30D3B8"/>
                </a:solidFill>
                <a:latin typeface="Aptos"/>
              </a:rPr>
              <a:t>Practical &amp; Architectural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7132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AAB7CA"/>
                </a:solidFill>
                <a:latin typeface="Aptos"/>
              </a:rPr>
              <a:t>State • Nodes • Routing • Loops • Agents • Persistence • Time Travel • Subgraphs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19"/>
            <a:ext cx="6217920" cy="1881403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1188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0D3B8"/>
                </a:solidFill>
                <a:latin typeface="Aptos"/>
              </a:rPr>
              <a:t>Prepared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Varsha — 25MSCSCPY0002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3542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AB7CA"/>
                </a:solidFill>
                <a:latin typeface="Aptos"/>
              </a:rPr>
              <a:t>M.Sc. Computer Science (Data Analyst)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Pritam — 25MCA00PY0028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AB7CA"/>
                </a:solidFill>
                <a:latin typeface="Aptos"/>
              </a:rPr>
              <a:t>Master of Computer Applications (MCA)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8229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AB7CA"/>
                </a:solidFill>
                <a:latin typeface="Aptos"/>
              </a:rPr>
              <a:t>A clean, practical walkthrough of how graph-based AI workflows are designed and implemented.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sz="2800" b="1" dirty="0" err="1">
                <a:solidFill>
                  <a:srgbClr val="F4F7FB"/>
                </a:solidFill>
                <a:latin typeface="Aptos"/>
              </a:rPr>
              <a:t>LangGraph</a:t>
            </a:r>
            <a:r>
              <a:rPr lang="en-IN" sz="2800" b="1" dirty="0">
                <a:solidFill>
                  <a:srgbClr val="F4F7FB"/>
                </a:solidFill>
                <a:latin typeface="Aptos"/>
              </a:rPr>
              <a:t>-Concepts</a:t>
            </a:r>
            <a:endParaRPr sz="2800" b="1" dirty="0">
              <a:solidFill>
                <a:srgbClr val="F4F7F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theory + implementation path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66928" cy="310896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920239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30D3B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56231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dirty="0" err="1">
                <a:solidFill>
                  <a:srgbClr val="F4F7FB"/>
                </a:solidFill>
                <a:latin typeface="Aptos"/>
              </a:rPr>
              <a:t>LangGraph</a:t>
            </a:r>
            <a:r>
              <a:rPr sz="1600" b="1" dirty="0">
                <a:solidFill>
                  <a:srgbClr val="F4F7FB"/>
                </a:solidFill>
                <a:latin typeface="Aptos"/>
              </a:rPr>
              <a:t>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56231"/>
            <a:ext cx="7406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What a graph is, why state matters, and how nodes/edges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9191"/>
            <a:ext cx="566928" cy="310896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724911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30D3B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60903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Practical graph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60903"/>
            <a:ext cx="7406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StateGraph, START/END, compile, invoke, routing and loops.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83863"/>
            <a:ext cx="566928" cy="310896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529583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30D3B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65575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Advanced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65575"/>
            <a:ext cx="7406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Checkpointing, persistence, interrupts, memory and time travel.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88536"/>
            <a:ext cx="566928" cy="310896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4334255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30D3B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70248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70248"/>
            <a:ext cx="7406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Subgraphs, modularity and a 4-agent AutoXLab design.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93207"/>
            <a:ext cx="566928" cy="310896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5138927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30D3B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749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074920"/>
            <a:ext cx="7406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When LangGraph is better than a normal Python pipeline—and when it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960120"/>
            <a:ext cx="1097280" cy="109728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2011680"/>
            <a:ext cx="502920" cy="502920"/>
          </a:xfrm>
          <a:prstGeom prst="ellipse">
            <a:avLst/>
          </a:prstGeom>
          <a:solidFill>
            <a:srgbClr val="18263D"/>
          </a:solidFill>
          <a:ln>
            <a:solidFill>
              <a:srgbClr val="18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0D3B8"/>
                </a:solidFill>
                <a:latin typeface="Aptos"/>
              </a:rPr>
              <a:t>01 • CORE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686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Aptos"/>
              </a:rPr>
              <a:t>LANGGRAPH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AB7CA"/>
                </a:solidFill>
                <a:latin typeface="Aptos"/>
              </a:rPr>
              <a:t>From concepts to implementation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383280"/>
            <a:ext cx="5010912" cy="0"/>
          </a:xfrm>
          <a:prstGeom prst="line">
            <a:avLst/>
          </a:prstGeom>
          <a:ln w="38100">
            <a:solidFill>
              <a:srgbClr val="30D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12648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AAB7C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What Is LangGraph?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graph-based way to build stateful AI workflows and agents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577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4F7FB"/>
                </a:solidFill>
                <a:latin typeface="Aptos"/>
              </a:rPr>
              <a:t>Think of LangGraph as a flowchart that can remember what happened.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60320"/>
            <a:ext cx="54864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Tasks are represented as nodes.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Connections are represented as edges.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Shared information is represented as state.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Conditional edges allow decisions.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Cycles allow loops and agent-style reasoning.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Persistence enables memory, recovery and time travel.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920240"/>
            <a:ext cx="118872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1993392"/>
            <a:ext cx="104241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834640"/>
            <a:ext cx="137160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907792"/>
            <a:ext cx="122529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155448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2907792"/>
            <a:ext cx="140817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Evaluate</a:t>
            </a:r>
          </a:p>
        </p:txBody>
      </p:sp>
      <p:sp>
        <p:nvSpPr>
          <p:cNvPr id="16" name="Diamond 15"/>
          <p:cNvSpPr/>
          <p:nvPr/>
        </p:nvSpPr>
        <p:spPr>
          <a:xfrm>
            <a:off x="8229600" y="3886200"/>
            <a:ext cx="1463040" cy="868680"/>
          </a:xfrm>
          <a:prstGeom prst="diamond">
            <a:avLst/>
          </a:prstGeom>
          <a:solidFill>
            <a:srgbClr val="18263D"/>
          </a:solidFill>
          <a:ln w="1905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4142232"/>
            <a:ext cx="1133856" cy="41147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Good?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166360"/>
            <a:ext cx="137160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88352" y="5239512"/>
            <a:ext cx="122529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5166360"/>
            <a:ext cx="137160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E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7152" y="5239512"/>
            <a:ext cx="122529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Retry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01000" y="2468880"/>
            <a:ext cx="0" cy="36576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5" idx="1"/>
            <a:endCxn id="12" idx="3"/>
          </p:cNvCxnSpPr>
          <p:nvPr/>
        </p:nvCxnSpPr>
        <p:spPr>
          <a:xfrm flipH="1">
            <a:off x="8686800" y="3108960"/>
            <a:ext cx="530352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 flipH="1">
            <a:off x="9464040" y="3383280"/>
            <a:ext cx="457200" cy="704086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001000" y="4663440"/>
            <a:ext cx="548640" cy="50292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4709160"/>
            <a:ext cx="365760" cy="45720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35240" y="470916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57CF8B"/>
                </a:solidFill>
                <a:latin typeface="Aptos"/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70916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F6060"/>
                </a:solidFill>
                <a:latin typeface="Aptos"/>
              </a:rPr>
              <a:t>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The Core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Remember these five building blocks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2057400" cy="205740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08176" y="2331720"/>
            <a:ext cx="502920" cy="50292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99923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30D3B8"/>
                </a:solidFill>
                <a:latin typeface="Aptos"/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01568"/>
            <a:ext cx="166420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AAB7CA"/>
                </a:solidFill>
                <a:latin typeface="Aptos"/>
              </a:rPr>
              <a:t>Shared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057400"/>
            <a:ext cx="2057400" cy="205740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75888" y="2331720"/>
            <a:ext cx="502920" cy="50292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99923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4A90E2"/>
                </a:solidFill>
                <a:latin typeface="Aptos"/>
              </a:rPr>
              <a:t>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401568"/>
            <a:ext cx="166420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AAB7CA"/>
                </a:solidFill>
                <a:latin typeface="Aptos"/>
              </a:rPr>
              <a:t>A unit of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057400"/>
            <a:ext cx="2057400" cy="205740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43600" y="2331720"/>
            <a:ext cx="502920" cy="502920"/>
          </a:xfrm>
          <a:prstGeom prst="ellipse">
            <a:avLst/>
          </a:prstGeom>
          <a:solidFill>
            <a:srgbClr val="9C70FF"/>
          </a:solidFill>
          <a:ln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58383" y="299923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9C70FF"/>
                </a:solidFill>
                <a:latin typeface="Aptos"/>
              </a:rPr>
              <a:t>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3401568"/>
            <a:ext cx="166420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AAB7CA"/>
                </a:solidFill>
                <a:latin typeface="Aptos"/>
              </a:rPr>
              <a:t>What runs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1504" y="2057400"/>
            <a:ext cx="2057400" cy="205740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11312" y="2331720"/>
            <a:ext cx="502920" cy="502920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6096" y="299923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7A646"/>
                </a:solidFill>
                <a:latin typeface="Aptos"/>
              </a:rPr>
              <a:t>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3401568"/>
            <a:ext cx="166420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AAB7CA"/>
                </a:solidFill>
                <a:latin typeface="Aptos"/>
              </a:rPr>
              <a:t>Decision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9216" y="2057400"/>
            <a:ext cx="2057400" cy="205740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79024" y="2331720"/>
            <a:ext cx="502920" cy="502920"/>
          </a:xfrm>
          <a:prstGeom prst="ellipse">
            <a:avLst/>
          </a:prstGeom>
          <a:solidFill>
            <a:srgbClr val="57CF8B"/>
          </a:solidFill>
          <a:ln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93808" y="2999232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57CF8B"/>
                </a:solidFill>
                <a:latin typeface="Aptos"/>
              </a:rPr>
              <a:t>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3401568"/>
            <a:ext cx="1664208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AAB7CA"/>
                </a:solidFill>
                <a:latin typeface="Aptos"/>
              </a:rPr>
              <a:t>The complete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4F7FB"/>
                </a:solidFill>
                <a:latin typeface="Aptos"/>
              </a:rPr>
              <a:t>If you understand these five, you understand the basic structure of LangGraph.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State: The Shared Memory of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Nodes read state and return updates to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3840480" cy="356616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30D3B8"/>
                </a:solidFill>
                <a:latin typeface="Aptos"/>
              </a:rPr>
              <a:t>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06040"/>
            <a:ext cx="3429000" cy="164592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715768"/>
            <a:ext cx="30998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999232"/>
            <a:ext cx="3099816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DAE4F0"/>
                </a:solidFill>
                <a:latin typeface="Cascadia Mono"/>
              </a:rPr>
              <a:t>class State(TypedDict):
    data: str
    features: list
    accuracy: float
    report: 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Aptos"/>
              </a:rPr>
              <a:t>Think of State as a shared notebook.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2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AB7CA"/>
                </a:solidFill>
                <a:latin typeface="Aptos"/>
              </a:rPr>
              <a:t>Every node can read what it needs and return only the fields it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057400"/>
            <a:ext cx="164592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59552" y="2130552"/>
            <a:ext cx="149961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Data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057400"/>
            <a:ext cx="17373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1" y="2130552"/>
            <a:ext cx="15910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Feature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794760"/>
            <a:ext cx="17373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3992" y="3867912"/>
            <a:ext cx="15910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Experiment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0" y="2651760"/>
            <a:ext cx="822959" cy="0"/>
          </a:xfrm>
          <a:prstGeom prst="line">
            <a:avLst/>
          </a:prstGeom>
          <a:ln w="25400">
            <a:solidFill>
              <a:srgbClr val="30D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772400" y="2651760"/>
            <a:ext cx="1051560" cy="1143000"/>
          </a:xfrm>
          <a:prstGeom prst="line">
            <a:avLst/>
          </a:prstGeom>
          <a:ln w="25400">
            <a:solidFill>
              <a:srgbClr val="30D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0" y="2880360"/>
            <a:ext cx="1234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AAB7CA"/>
                </a:solidFill>
                <a:latin typeface="Aptos"/>
              </a:rPr>
              <a:t>cleaned_data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88036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AAB7CA"/>
                </a:solidFill>
                <a:latin typeface="Aptos"/>
              </a:rP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61772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AAB7CA"/>
                </a:solidFill>
                <a:latin typeface="Aptos"/>
              </a:rPr>
              <a:t>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State Design: What Should Go Into State?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Good state design keeps the graph understandable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9672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AB7CA"/>
                </a:solidFill>
                <a:latin typeface="Aptos"/>
              </a:rPr>
              <a:t>LANGGRAPH • PRACTICAL &amp; ARCHITECTURAL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338328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57CF8B"/>
                </a:solidFill>
                <a:latin typeface="Aptos"/>
              </a:rPr>
              <a:t>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4480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Inputs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Important intermediate results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Decisions / flags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Final outputs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12080" cy="338328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224028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EF6060"/>
                </a:solidFill>
                <a:latin typeface="Aptos"/>
              </a:rPr>
              <a:t>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788920"/>
            <a:ext cx="4480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Huge raw objects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Temporary variables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Duplicate information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Unrelated UI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5577840"/>
            <a:ext cx="8046720" cy="50292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40280" y="5696712"/>
            <a:ext cx="7680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Rule: State should contain the information the next node actually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Node = One Clear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node is usually a normal Python function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19672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AB7CA"/>
                </a:solidFill>
                <a:latin typeface="Aptos"/>
              </a:rPr>
              <a:t>LANGGRAPH • PRACTICAL &amp; ARCHITECTURAL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212080" cy="301752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029968"/>
            <a:ext cx="4882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13432"/>
            <a:ext cx="4882896" cy="2514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DAE4F0"/>
                </a:solidFill>
                <a:latin typeface="Cascadia Mono"/>
              </a:rPr>
              <a:t>def clean_data(state):
    cleaned = remove_missing_values(state["data"])
    return {
        "cleaned_data": cleaned
   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057400"/>
            <a:ext cx="155448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2130552"/>
            <a:ext cx="140817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Input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971800"/>
            <a:ext cx="17373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05672" y="3044952"/>
            <a:ext cx="15910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clean_data()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160520"/>
            <a:ext cx="155448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4233672"/>
            <a:ext cx="140817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Updated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0" y="2651760"/>
            <a:ext cx="1325880" cy="320040"/>
          </a:xfrm>
          <a:prstGeom prst="line">
            <a:avLst/>
          </a:prstGeom>
          <a:ln w="25400">
            <a:solidFill>
              <a:srgbClr val="30D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06640" y="3566160"/>
            <a:ext cx="1325880" cy="594360"/>
          </a:xfrm>
          <a:prstGeom prst="line">
            <a:avLst/>
          </a:prstGeom>
          <a:ln w="25400">
            <a:solidFill>
              <a:srgbClr val="30D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2743200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AAB7CA"/>
                </a:solidFill>
                <a:latin typeface="Aptos"/>
              </a:rPr>
              <a:t>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03320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AAB7CA"/>
                </a:solidFill>
                <a:latin typeface="Aptos"/>
              </a:rPr>
              <a:t>Return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12080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Aptos"/>
              </a:rPr>
              <a:t>Design tip: keep nodes small enough that you can explain their job in one sentence.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Edges: Defining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An edge answers: what should run after this node?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2344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862072"/>
            <a:ext cx="10881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788920"/>
            <a:ext cx="12344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2862072"/>
            <a:ext cx="10881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788920"/>
            <a:ext cx="12344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2862072"/>
            <a:ext cx="10881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788920"/>
            <a:ext cx="12344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2" y="2862072"/>
            <a:ext cx="10881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788920"/>
            <a:ext cx="12344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77072" y="2862072"/>
            <a:ext cx="10881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788920"/>
            <a:ext cx="10515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51592" y="2862072"/>
            <a:ext cx="905255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3081528"/>
            <a:ext cx="68580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977639" y="3081528"/>
            <a:ext cx="685801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97880" y="3081528"/>
            <a:ext cx="68580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818120" y="3081528"/>
            <a:ext cx="68580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38360" y="3081528"/>
            <a:ext cx="68580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88920" y="4160520"/>
            <a:ext cx="6629400" cy="160020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53512" y="4270248"/>
            <a:ext cx="63002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3512" y="4553712"/>
            <a:ext cx="6300216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DAE4F0"/>
                </a:solidFill>
                <a:latin typeface="Cascadia Mono"/>
              </a:rPr>
              <a:t>builder.add_edge(START, "load")
builder.add_edge("load", "clean")
builder.add_edge("clean", "train")
builder.add_edge("train", "report")
builder.add_edge("report", END)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960120"/>
            <a:ext cx="1097280" cy="109728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2011680"/>
            <a:ext cx="502920" cy="502920"/>
          </a:xfrm>
          <a:prstGeom prst="ellipse">
            <a:avLst/>
          </a:prstGeom>
          <a:solidFill>
            <a:srgbClr val="18263D"/>
          </a:solidFill>
          <a:ln>
            <a:solidFill>
              <a:srgbClr val="18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Aptos"/>
              </a:rPr>
              <a:t>02 • FROM CODE TO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686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Aptos"/>
              </a:rPr>
              <a:t>BUILDING A PRACTICAL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AB7CA"/>
                </a:solidFill>
                <a:latin typeface="Aptos"/>
              </a:rPr>
              <a:t>From concepts to implementation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383280"/>
            <a:ext cx="5010912" cy="0"/>
          </a:xfrm>
          <a:prstGeom prst="line">
            <a:avLst/>
          </a:prstGeom>
          <a:ln w="381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12648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AAB7C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Basic StateGraph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The smallest useful LangGraph program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669280" cy="420624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53400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21992"/>
            <a:ext cx="5340096" cy="3703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DAE4F0"/>
                </a:solidFill>
                <a:latin typeface="Cascadia Mono"/>
              </a:rPr>
              <a:t>class State(TypedDict):
    message: str
def hello(state):
    return {"message": "Hello!"}
builder = StateGraph(State)
builder.add_node("hello", hello)
builder.add_edge(START, "hello")
builder.add_edge("hello", END)
graph = builder.compile()
result = graph.invoke({"message": ""})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57400"/>
            <a:ext cx="12344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88352" y="2130552"/>
            <a:ext cx="10881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063240"/>
            <a:ext cx="141732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34272" y="3136392"/>
            <a:ext cx="127101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hello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160520"/>
            <a:ext cx="12344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4233672"/>
            <a:ext cx="10881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09560" y="2651760"/>
            <a:ext cx="1051560" cy="41148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909560" y="3657600"/>
            <a:ext cx="1051560" cy="50292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75120" y="507492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4F7FB"/>
                </a:solidFill>
                <a:latin typeface="Aptos"/>
              </a:rPr>
              <a:t>Define → connect → compile → invoke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The Graph-Building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repeatable implementation pattern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475488" cy="475488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A111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10512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Design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10512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What information must move through the workflow?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2304288"/>
            <a:ext cx="0" cy="27432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2670048"/>
            <a:ext cx="475488" cy="475488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61488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A111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5176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Write 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51760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Create small Python functions for each task.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3145536"/>
            <a:ext cx="0" cy="27432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77240" y="3511296"/>
            <a:ext cx="475488" cy="475488"/>
          </a:xfrm>
          <a:prstGeom prst="ellipse">
            <a:avLst/>
          </a:prstGeom>
          <a:solidFill>
            <a:srgbClr val="9C70FF"/>
          </a:solidFill>
          <a:ln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02736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A111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93008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Connect 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493008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Define the normal path between tasks.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3986783"/>
            <a:ext cx="0" cy="274321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77240" y="4352544"/>
            <a:ext cx="475488" cy="475488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443983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A111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33425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Add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334256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 conditions when the next step can change.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" y="4828031"/>
            <a:ext cx="0" cy="274321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77240" y="5193792"/>
            <a:ext cx="475488" cy="475488"/>
          </a:xfrm>
          <a:prstGeom prst="ellipse">
            <a:avLst/>
          </a:prstGeom>
          <a:solidFill>
            <a:srgbClr val="57CF8B"/>
          </a:solidFill>
          <a:ln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285231"/>
            <a:ext cx="47548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A111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175504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Aptos"/>
              </a:rPr>
              <a:t>Compile +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175504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Compile once, then invoke/stream the graph.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Sequential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 normal edges when the path is fixed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55448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14081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Load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743200"/>
            <a:ext cx="155448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36392" y="2816352"/>
            <a:ext cx="14081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Clean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743200"/>
            <a:ext cx="155448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5232" y="2816352"/>
            <a:ext cx="14081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Train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743200"/>
            <a:ext cx="155448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2816352"/>
            <a:ext cx="14081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Report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3063240"/>
            <a:ext cx="5943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17720" y="3063240"/>
            <a:ext cx="5943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3063240"/>
            <a:ext cx="5943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20240" y="4114800"/>
            <a:ext cx="7863840" cy="141732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84832" y="4224528"/>
            <a:ext cx="753465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2" y="4507992"/>
            <a:ext cx="7534656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DAE4F0"/>
                </a:solidFill>
                <a:latin typeface="Cascadia Mono"/>
              </a:rPr>
              <a:t>builder.add_edge("load", "clean")
builder.add_edge("clean", "train")
builder.add_edge("train", "report")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Conditional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Route to different nodes based on the current state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14</a:t>
            </a:r>
          </a:p>
        </p:txBody>
      </p:sp>
      <p:sp>
        <p:nvSpPr>
          <p:cNvPr id="8" name="Diamond 7"/>
          <p:cNvSpPr/>
          <p:nvPr/>
        </p:nvSpPr>
        <p:spPr>
          <a:xfrm>
            <a:off x="4709160" y="2331720"/>
            <a:ext cx="1828800" cy="1051560"/>
          </a:xfrm>
          <a:prstGeom prst="diamond">
            <a:avLst/>
          </a:prstGeom>
          <a:solidFill>
            <a:srgbClr val="18263D"/>
          </a:solidFill>
          <a:ln w="1905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73752" y="2587752"/>
            <a:ext cx="1499616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accuracy ≥ 80?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160520"/>
            <a:ext cx="14630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4233672"/>
            <a:ext cx="13167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160520"/>
            <a:ext cx="14630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E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4233672"/>
            <a:ext cx="13167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Retry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063240" y="3337560"/>
            <a:ext cx="2103120" cy="822960"/>
          </a:xfrm>
          <a:prstGeom prst="line">
            <a:avLst/>
          </a:prstGeom>
          <a:ln w="25400">
            <a:solidFill>
              <a:srgbClr val="57C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3337560"/>
            <a:ext cx="2148840" cy="82296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29000" y="3703320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7CF8B"/>
                </a:solidFill>
                <a:latin typeface="Aptos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703320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F6060"/>
                </a:solidFill>
                <a:latin typeface="Aptos"/>
              </a:rPr>
              <a:t>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80"/>
            <a:ext cx="10149840" cy="187452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5093208"/>
            <a:ext cx="99578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376672"/>
            <a:ext cx="9957816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dirty="0">
                <a:solidFill>
                  <a:srgbClr val="DAE4F0"/>
                </a:solidFill>
                <a:latin typeface="Cascadia Mono"/>
              </a:rPr>
              <a:t>def route(state):
    if state["accuracy"] &gt;= 80:
        return "good"
    return "retry"
</a:t>
            </a:r>
            <a:r>
              <a:rPr sz="1100" dirty="0" err="1">
                <a:solidFill>
                  <a:srgbClr val="DAE4F0"/>
                </a:solidFill>
                <a:latin typeface="Cascadia Mono"/>
              </a:rPr>
              <a:t>builder.add_conditional_edges</a:t>
            </a:r>
            <a:r>
              <a:rPr sz="1100" dirty="0">
                <a:solidFill>
                  <a:srgbClr val="DAE4F0"/>
                </a:solidFill>
                <a:latin typeface="Cascadia Mono"/>
              </a:rPr>
              <a:t>(
    "evaluate", route,
    {"good": "report", "retry": "train"}
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Conditional Loop / Retry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graph loop is simply an edge back to an earlier node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331720"/>
            <a:ext cx="146304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2404872"/>
            <a:ext cx="131673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331720"/>
            <a:ext cx="155448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2404872"/>
            <a:ext cx="14081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Evaluate</a:t>
            </a:r>
          </a:p>
        </p:txBody>
      </p:sp>
      <p:sp>
        <p:nvSpPr>
          <p:cNvPr id="12" name="Diamond 11"/>
          <p:cNvSpPr/>
          <p:nvPr/>
        </p:nvSpPr>
        <p:spPr>
          <a:xfrm>
            <a:off x="6400800" y="2148840"/>
            <a:ext cx="1508760" cy="1005840"/>
          </a:xfrm>
          <a:prstGeom prst="diamond">
            <a:avLst/>
          </a:prstGeom>
          <a:solidFill>
            <a:srgbClr val="18263D"/>
          </a:solidFill>
          <a:ln w="1905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404872"/>
            <a:ext cx="117957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Good?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331720"/>
            <a:ext cx="146304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2404872"/>
            <a:ext cx="131673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160520"/>
            <a:ext cx="12801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7152" y="4233672"/>
            <a:ext cx="11338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2651760"/>
            <a:ext cx="10515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12080" y="2651760"/>
            <a:ext cx="118872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9560" y="2651760"/>
            <a:ext cx="1234440" cy="0"/>
          </a:xfrm>
          <a:prstGeom prst="line">
            <a:avLst/>
          </a:prstGeom>
          <a:ln w="25400">
            <a:solidFill>
              <a:srgbClr val="57C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75520" y="2971800"/>
            <a:ext cx="0" cy="1188720"/>
          </a:xfrm>
          <a:prstGeom prst="line">
            <a:avLst/>
          </a:prstGeom>
          <a:ln w="25400">
            <a:solidFill>
              <a:srgbClr val="57C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78040" y="3154680"/>
            <a:ext cx="0" cy="182880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74519" y="4983480"/>
            <a:ext cx="5303521" cy="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74519" y="2971800"/>
            <a:ext cx="0" cy="201168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461772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EF6060"/>
                </a:solidFill>
                <a:latin typeface="Aptos"/>
              </a:rPr>
              <a:t>NO → retry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3591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57CF8B"/>
                </a:solidFill>
                <a:latin typeface="Aptos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486399"/>
            <a:ext cx="9698531" cy="1280159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61872" y="5596128"/>
            <a:ext cx="9454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5879592"/>
            <a:ext cx="9454896" cy="274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dirty="0" err="1">
                <a:solidFill>
                  <a:srgbClr val="DAE4F0"/>
                </a:solidFill>
                <a:latin typeface="Cascadia Mono"/>
              </a:rPr>
              <a:t>builder.add_conditional_edges</a:t>
            </a:r>
            <a:r>
              <a:rPr sz="1100" dirty="0">
                <a:solidFill>
                  <a:srgbClr val="DAE4F0"/>
                </a:solidFill>
                <a:latin typeface="Cascadia Mono"/>
              </a:rPr>
              <a:t>(
    "evaluate",
    route,
    {"good": "report", "retry": "train"}
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Branching: More Than Two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Routing can select one of several specialized nodes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64592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149961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Check Input</a:t>
            </a:r>
          </a:p>
        </p:txBody>
      </p:sp>
      <p:sp>
        <p:nvSpPr>
          <p:cNvPr id="10" name="Diamond 9"/>
          <p:cNvSpPr/>
          <p:nvPr/>
        </p:nvSpPr>
        <p:spPr>
          <a:xfrm>
            <a:off x="3383280" y="2423160"/>
            <a:ext cx="1554480" cy="914400"/>
          </a:xfrm>
          <a:prstGeom prst="diamond">
            <a:avLst/>
          </a:prstGeom>
          <a:solidFill>
            <a:srgbClr val="18263D"/>
          </a:solidFill>
          <a:ln w="1905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2679191"/>
            <a:ext cx="122529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source?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600200"/>
            <a:ext cx="132588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33872" y="1673352"/>
            <a:ext cx="117957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743200"/>
            <a:ext cx="132588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33872" y="2816352"/>
            <a:ext cx="117957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886200"/>
            <a:ext cx="15087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3959352"/>
            <a:ext cx="13624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743200"/>
            <a:ext cx="146304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68512" y="2816352"/>
            <a:ext cx="131673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Process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468880" y="2880360"/>
            <a:ext cx="914400" cy="18288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937760" y="1874519"/>
            <a:ext cx="822960" cy="1005841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2880360"/>
            <a:ext cx="822960" cy="13716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37760" y="2880360"/>
            <a:ext cx="822960" cy="128016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86600" y="1901952"/>
            <a:ext cx="1508760" cy="1161288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86600" y="3044952"/>
            <a:ext cx="1508760" cy="18288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86600" y="3063240"/>
            <a:ext cx="1508760" cy="1124712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4983480"/>
            <a:ext cx="10149840" cy="187452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5093208"/>
            <a:ext cx="100035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376672"/>
            <a:ext cx="10003536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dirty="0" err="1">
                <a:solidFill>
                  <a:srgbClr val="DAE4F0"/>
                </a:solidFill>
                <a:latin typeface="Cascadia Mono"/>
              </a:rPr>
              <a:t>builder.add_conditional_edges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(
    "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check_source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",
    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choose_source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,
    {
        "csv": "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csv_processor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",
        "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json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": "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json_processor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",
        "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db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": "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db_processor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"
    }
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Parallel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Independent branches can contribute to a shared state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141732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127101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Prepare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965960"/>
            <a:ext cx="164592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1" y="2039112"/>
            <a:ext cx="149961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Feature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977639"/>
            <a:ext cx="164592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2191" y="4050791"/>
            <a:ext cx="149961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Model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971800"/>
            <a:ext cx="141732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5552" y="3044952"/>
            <a:ext cx="127101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Report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240280" y="2286000"/>
            <a:ext cx="1508759" cy="100584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40280" y="3291840"/>
            <a:ext cx="1508759" cy="100584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94960" y="2286000"/>
            <a:ext cx="2377440" cy="100584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94960" y="3291840"/>
            <a:ext cx="2377440" cy="100584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0" y="50749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Independent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3840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AAB7CA"/>
                </a:solidFill>
                <a:latin typeface="Aptos"/>
              </a:rPr>
              <a:t>Useful when work can be split without one branch waiting on the other.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Reducers: Combining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Useful when multiple branches update the same state field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4663440" cy="201168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075688"/>
            <a:ext cx="433425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59152"/>
            <a:ext cx="4334255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DAE4F0"/>
                </a:solidFill>
                <a:latin typeface="Cascadia Mono"/>
              </a:rPr>
              <a:t>from typing import Annotated
import operator
class State(TypedDict):
    results: Annotated[list, operator.add]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14630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039112"/>
            <a:ext cx="13167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Agent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14630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3776472"/>
            <a:ext cx="13167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Agent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834640"/>
            <a:ext cx="164592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9952" y="2907792"/>
            <a:ext cx="149961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Reducer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4389120"/>
            <a:ext cx="164592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9952" y="4462272"/>
            <a:ext cx="149961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Combined list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2286000"/>
            <a:ext cx="822960" cy="77724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863840" y="3246120"/>
            <a:ext cx="822960" cy="731519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09760" y="3474720"/>
            <a:ext cx="0" cy="914400"/>
          </a:xfrm>
          <a:prstGeom prst="line">
            <a:avLst/>
          </a:prstGeom>
          <a:ln w="25400">
            <a:solidFill>
              <a:srgbClr val="30D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78040" y="525780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["A finished", "B finished"]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Compile and Invoke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Compilation turns the builder into an executable graph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251460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121408"/>
            <a:ext cx="47000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04872"/>
            <a:ext cx="4700016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DAE4F0"/>
                </a:solidFill>
                <a:latin typeface="Cascadia Mono"/>
              </a:rPr>
              <a:t>graph = builder.compile()
result = graph.invoke({
    "data": "dataset.csv",
    "accuracy": 0
})
print(result)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57400"/>
            <a:ext cx="160020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2" y="2130552"/>
            <a:ext cx="145389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StateGraph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057400"/>
            <a:ext cx="160020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97112" y="2130552"/>
            <a:ext cx="145389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compile()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657600"/>
            <a:ext cx="182880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9831" y="3730752"/>
            <a:ext cx="168249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Runnable Graph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79" y="2697480"/>
            <a:ext cx="640081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641080" y="2697480"/>
            <a:ext cx="960120" cy="96012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92240" y="480060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4F7FB"/>
                </a:solidFill>
                <a:latin typeface="Aptos"/>
              </a:rPr>
              <a:t>invoke() → final result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invoke() vs stream()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Two useful ways to execute and observe a graph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324612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30D3B8"/>
                </a:solidFill>
                <a:latin typeface="Aptos"/>
              </a:rPr>
              <a:t>invoke()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Run the workflow and return the final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429000"/>
            <a:ext cx="4572000" cy="73152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3538728"/>
            <a:ext cx="42428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822191"/>
            <a:ext cx="4242816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>
                <a:solidFill>
                  <a:srgbClr val="DAE4F0"/>
                </a:solidFill>
                <a:latin typeface="Cascadia Mono"/>
              </a:rPr>
              <a:t>result = graph.invoke(input_data)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5212080" cy="324612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Aptos"/>
              </a:rPr>
              <a:t>stream()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480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Observe intermediate events or node outputs as the graph 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429000"/>
            <a:ext cx="4572000" cy="100584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3538728"/>
            <a:ext cx="42428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822191"/>
            <a:ext cx="4242816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DAE4F0"/>
                </a:solidFill>
                <a:latin typeface="Cascadia Mono"/>
              </a:rPr>
              <a:t>for event in graph.stream(input_data):
    print(event)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960120"/>
            <a:ext cx="1097280" cy="1097280"/>
          </a:xfrm>
          <a:prstGeom prst="ellipse">
            <a:avLst/>
          </a:prstGeom>
          <a:solidFill>
            <a:srgbClr val="9C70FF"/>
          </a:solidFill>
          <a:ln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2011680"/>
            <a:ext cx="502920" cy="502920"/>
          </a:xfrm>
          <a:prstGeom prst="ellipse">
            <a:avLst/>
          </a:prstGeom>
          <a:solidFill>
            <a:srgbClr val="18263D"/>
          </a:solidFill>
          <a:ln>
            <a:solidFill>
              <a:srgbClr val="18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9C70FF"/>
                </a:solidFill>
                <a:latin typeface="Aptos"/>
              </a:rPr>
              <a:t>03 • ARCHITECTURE FOR COMPLEX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686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Aptos"/>
              </a:rPr>
              <a:t>AGENTS, SUBGRAPHS &amp; MODULARITY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AB7CA"/>
                </a:solidFill>
                <a:latin typeface="Aptos"/>
              </a:rPr>
              <a:t>From concepts to implementation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383280"/>
            <a:ext cx="5010912" cy="0"/>
          </a:xfrm>
          <a:prstGeom prst="line">
            <a:avLst/>
          </a:prstGeom>
          <a:ln w="38100">
            <a:solidFill>
              <a:srgbClr val="9C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12648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AAB7CA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Node vs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An agent is a decision-making component; a node is a graph unit of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257800" cy="352044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Aptos"/>
              </a:rPr>
              <a:t>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43891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Usually one clear task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Often deterministic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Examples: clean data, save file, calculate metric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Easy to test independently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257800" cy="352044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9C70FF"/>
                </a:solidFill>
                <a:latin typeface="Aptos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43891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Can reason about what to do next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May call tools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Can iterate / retry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30D3B8"/>
                </a:solidFill>
                <a:latin typeface="Aptos"/>
              </a:rPr>
              <a:t>• </a:t>
            </a:r>
            <a:r>
              <a:rPr sz="1500">
                <a:solidFill>
                  <a:srgbClr val="F4F7FB"/>
                </a:solidFill>
                <a:latin typeface="Aptos"/>
              </a:rPr>
              <a:t>Examples: research agent, experiment agent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What Is a Subgraph?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graph inside a larger graph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55448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14081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Main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737360"/>
            <a:ext cx="4572000" cy="347472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2011680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0D3B8"/>
                </a:solidFill>
                <a:latin typeface="Aptos"/>
              </a:rPr>
              <a:t>SUBGRAPH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743200"/>
            <a:ext cx="109728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2816352"/>
            <a:ext cx="95097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743200"/>
            <a:ext cx="109728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3752" y="2816352"/>
            <a:ext cx="95097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Clean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43200"/>
            <a:ext cx="128016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9632" y="2816352"/>
            <a:ext cx="113385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Validate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017520"/>
            <a:ext cx="22860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97880" y="3017520"/>
            <a:ext cx="22860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20" y="2743200"/>
            <a:ext cx="155448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2816352"/>
            <a:ext cx="140817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Next Agent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77440" y="3063240"/>
            <a:ext cx="68580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5240" y="3063240"/>
            <a:ext cx="8686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03120" y="5440680"/>
            <a:ext cx="79552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4F7FB"/>
                </a:solidFill>
                <a:latin typeface="Aptos"/>
              </a:rPr>
              <a:t>Use subgraphs to isolate complex or reusable workflows.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Subgraph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Build a child graph and plug it into the parent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6400800" cy="416052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60716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67712"/>
            <a:ext cx="6071616" cy="3657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dirty="0">
                <a:solidFill>
                  <a:srgbClr val="DAE4F0"/>
                </a:solidFill>
                <a:latin typeface="Cascadia Mono"/>
              </a:rPr>
              <a:t># Child graph
sub = 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StateGraph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(State)
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sub.add_node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("clean", 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clean_data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)
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sub.add_node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("validate", 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validate_data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)
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sub.add_edge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(START, "clean")
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sub.add_edge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("clean", "validate")
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sub.add_edge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("validate", END)
subgraph = 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sub.compile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()
# Parent graph
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builder.add_node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("</a:t>
            </a:r>
            <a:r>
              <a:rPr sz="1150" dirty="0" err="1">
                <a:solidFill>
                  <a:srgbClr val="DAE4F0"/>
                </a:solidFill>
                <a:latin typeface="Cascadia Mono"/>
              </a:rPr>
              <a:t>data_preparation</a:t>
            </a:r>
            <a:r>
              <a:rPr sz="1150" dirty="0">
                <a:solidFill>
                  <a:srgbClr val="DAE4F0"/>
                </a:solidFill>
                <a:latin typeface="Cascadia Mono"/>
              </a:rPr>
              <a:t>", subgraph)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148840"/>
            <a:ext cx="160020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36992" y="2221992"/>
            <a:ext cx="145389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Parent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337560"/>
            <a:ext cx="1874519" cy="68580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9831" y="3410712"/>
            <a:ext cx="1728216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Data Subgraph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617720"/>
            <a:ext cx="160020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4690872"/>
            <a:ext cx="145389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Next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41080" y="2788920"/>
            <a:ext cx="0" cy="54864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41080" y="4023360"/>
            <a:ext cx="0" cy="59436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Modularity: Keep the Graph Maintainable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Split a large system into clear modules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AB7CA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60320" cy="224028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  <a:latin typeface="Aptos"/>
              </a:rPr>
              <a:t>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Load • clean •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7CA"/>
                </a:solidFill>
                <a:latin typeface="Aptos"/>
              </a:rPr>
              <a:t>Reusable 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057400"/>
            <a:ext cx="2560320" cy="224028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9C70FF"/>
                </a:solidFill>
                <a:latin typeface="Aptos"/>
              </a:rPr>
              <a:t>features/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88036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Create • select •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840480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7CA"/>
                </a:solidFill>
                <a:latin typeface="Aptos"/>
              </a:rPr>
              <a:t>Reusable module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57400"/>
            <a:ext cx="2560320" cy="224028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7A646"/>
                </a:solidFill>
                <a:latin typeface="Aptos"/>
              </a:rPr>
              <a:t>experiments/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Train • compare •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7CA"/>
                </a:solidFill>
                <a:latin typeface="Aptos"/>
              </a:rPr>
              <a:t>Reusable 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057400"/>
            <a:ext cx="2560320" cy="224028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233172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57CF8B"/>
                </a:solidFill>
                <a:latin typeface="Aptos"/>
              </a:rPr>
              <a:t>reporting/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288036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Explain • summarize •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840480"/>
            <a:ext cx="2103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AB7CA"/>
                </a:solidFill>
                <a:latin typeface="Aptos"/>
              </a:rPr>
              <a:t>Reusable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83480"/>
            <a:ext cx="9509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4F7FB"/>
                </a:solidFill>
                <a:latin typeface="Aptos"/>
              </a:rPr>
              <a:t>Modularity makes debugging, testing and future changes easier.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960120"/>
            <a:ext cx="1097280" cy="1097280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2011680"/>
            <a:ext cx="502920" cy="502920"/>
          </a:xfrm>
          <a:prstGeom prst="ellipse">
            <a:avLst/>
          </a:prstGeom>
          <a:solidFill>
            <a:srgbClr val="18263D"/>
          </a:solidFill>
          <a:ln>
            <a:solidFill>
              <a:srgbClr val="18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7A646"/>
                </a:solidFill>
                <a:latin typeface="Aptos"/>
              </a:rPr>
              <a:t>04 • STATEFUL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686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Aptos"/>
              </a:rPr>
              <a:t>PERSISTENCE, MEMORY &amp; TIME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AB7CA"/>
                </a:solidFill>
                <a:latin typeface="Aptos"/>
              </a:rPr>
              <a:t>From concepts to implementation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383280"/>
            <a:ext cx="5010912" cy="0"/>
          </a:xfrm>
          <a:prstGeom prst="line">
            <a:avLst/>
          </a:prstGeom>
          <a:ln w="38100">
            <a:solidFill>
              <a:srgbClr val="F7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126480"/>
            <a:ext cx="731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dirty="0">
                <a:solidFill>
                  <a:srgbClr val="AAB7CA"/>
                </a:solidFill>
                <a:latin typeface="Aptos"/>
              </a:rPr>
              <a:t>2</a:t>
            </a:r>
            <a:r>
              <a:rPr lang="en-IN" sz="1000" b="1" dirty="0">
                <a:solidFill>
                  <a:srgbClr val="AAB7CA"/>
                </a:solidFill>
                <a:latin typeface="Aptos"/>
              </a:rPr>
              <a:t>6</a:t>
            </a:r>
            <a:endParaRPr sz="1000" b="1" dirty="0">
              <a:solidFill>
                <a:srgbClr val="AAB7C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Checkpointing: Save the Graph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Checkpoints capture state at execution points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2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7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18872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907792"/>
            <a:ext cx="104241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834640"/>
            <a:ext cx="12801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2907792"/>
            <a:ext cx="11338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Node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834640"/>
            <a:ext cx="12801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5192" y="2907792"/>
            <a:ext cx="11338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Node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834640"/>
            <a:ext cx="12801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14032" y="2907792"/>
            <a:ext cx="11338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Node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834640"/>
            <a:ext cx="118872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62872" y="2907792"/>
            <a:ext cx="104241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3127248"/>
            <a:ext cx="8229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23360" y="3127248"/>
            <a:ext cx="8229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3127248"/>
            <a:ext cx="8229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21040" y="3127248"/>
            <a:ext cx="82296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880360" y="3886200"/>
            <a:ext cx="320040" cy="320040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07208" y="4315968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7A646"/>
                </a:solidFill>
                <a:latin typeface="Aptos"/>
              </a:rPr>
              <a:t>CP1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3886200"/>
            <a:ext cx="320040" cy="320040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6048" y="4315968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7A646"/>
                </a:solidFill>
                <a:latin typeface="Aptos"/>
              </a:rPr>
              <a:t>CP2</a:t>
            </a:r>
          </a:p>
        </p:txBody>
      </p:sp>
      <p:sp>
        <p:nvSpPr>
          <p:cNvPr id="26" name="Oval 25"/>
          <p:cNvSpPr/>
          <p:nvPr/>
        </p:nvSpPr>
        <p:spPr>
          <a:xfrm>
            <a:off x="7178040" y="3886200"/>
            <a:ext cx="320040" cy="320040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04888" y="4315968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7A646"/>
                </a:solidFill>
                <a:latin typeface="Aptos"/>
              </a:rPr>
              <a:t>CP3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074920"/>
            <a:ext cx="5760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4F7FB"/>
                </a:solidFill>
                <a:latin typeface="Aptos"/>
              </a:rPr>
              <a:t>Checkpoint = saved snapshot of the graph's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532119"/>
            <a:ext cx="8412480" cy="1170431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93392" y="5641848"/>
            <a:ext cx="80832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2" y="5925312"/>
            <a:ext cx="8083296" cy="1828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DAE4F0"/>
                </a:solidFill>
                <a:latin typeface="Cascadia Mono"/>
              </a:rPr>
              <a:t>from langgraph.checkpoint.memory import InMemorySaver
checkpointer = InMemorySaver()
graph = builder.compile(checkpointer=checkpointer)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Threads: Keep Conversations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thread identifies a continuing execution / conversation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lang="en-IN" sz="900" b="1" dirty="0">
                <a:solidFill>
                  <a:srgbClr val="AAB7CA"/>
                </a:solidFill>
                <a:latin typeface="Aptos"/>
              </a:rPr>
              <a:t>28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4572000" cy="237744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167128"/>
            <a:ext cx="42428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4242816" cy="1874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DAE4F0"/>
                </a:solidFill>
                <a:latin typeface="Cascadia Mono"/>
              </a:rPr>
              <a:t>config = {
    "configurable": {
        "thread_id": "varsha"
    }
}
graph.invoke(input_data, config)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182880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168249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Thread: Varsha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3246120"/>
            <a:ext cx="15087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8152" y="3319272"/>
            <a:ext cx="13624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Checkpoint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46120"/>
            <a:ext cx="15087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3319272"/>
            <a:ext cx="13624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Checkpoint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3246120"/>
            <a:ext cx="150876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28632" y="3319272"/>
            <a:ext cx="136245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Checkpoint 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60" y="3547872"/>
            <a:ext cx="4114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3547872"/>
            <a:ext cx="4114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06440" y="4663440"/>
            <a:ext cx="4754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Different thread IDs → independent state histories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Memory: Persistence Enables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Saved state can be used across interactions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lang="en-IN" sz="900" b="1" dirty="0">
                <a:solidFill>
                  <a:srgbClr val="AAB7CA"/>
                </a:solidFill>
                <a:latin typeface="Aptos"/>
              </a:rPr>
              <a:t>29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29200" cy="333756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0D3B8"/>
                </a:solidFill>
                <a:latin typeface="Aptos"/>
              </a:rPr>
              <a:t>INTERACTION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4F7FB"/>
                </a:solidFill>
                <a:latin typeface="Aptos"/>
              </a:rPr>
              <a:t>User: My name is Varsha.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AB7CA"/>
                </a:solidFill>
                <a:latin typeface="Aptos"/>
              </a:rPr>
              <a:t>Saved state → name = Varsha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029200" cy="333756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4A90E2"/>
                </a:solidFill>
                <a:latin typeface="Aptos"/>
              </a:rPr>
              <a:t>INTERACTION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4F7FB"/>
                </a:solidFill>
                <a:latin typeface="Aptos"/>
              </a:rPr>
              <a:t>User: What is my name?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AB7CA"/>
                </a:solidFill>
                <a:latin typeface="Aptos"/>
              </a:rPr>
              <a:t>Graph reads the saved state → Varsha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80"/>
            <a:ext cx="9875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7A646"/>
                </a:solidFill>
                <a:latin typeface="Aptos"/>
              </a:rPr>
              <a:t>Important: memory is not magic—the application needs persistence and a stable thread.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Time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Inspect an earlier checkpoint, replay it, or fork a new path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0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731520" cy="50292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816352"/>
            <a:ext cx="58521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743200"/>
            <a:ext cx="731520" cy="50292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2816352"/>
            <a:ext cx="58521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31520" cy="50292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816352"/>
            <a:ext cx="58521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731520" cy="50292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816352"/>
            <a:ext cx="58521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43200"/>
            <a:ext cx="731520" cy="50292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816352"/>
            <a:ext cx="585216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5920" y="2999232"/>
            <a:ext cx="10972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74720" y="2999232"/>
            <a:ext cx="10972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2999232"/>
            <a:ext cx="10972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32320" y="2999232"/>
            <a:ext cx="10972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37760" y="3246120"/>
            <a:ext cx="0" cy="1463040"/>
          </a:xfrm>
          <a:prstGeom prst="line">
            <a:avLst/>
          </a:prstGeom>
          <a:ln w="25400">
            <a:solidFill>
              <a:srgbClr val="F7A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0" y="4572000"/>
            <a:ext cx="114300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E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42432" y="4645152"/>
            <a:ext cx="99669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Fork 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572000"/>
            <a:ext cx="114300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E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71231" y="4645152"/>
            <a:ext cx="99669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Fork 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37760" y="4709160"/>
            <a:ext cx="731520" cy="13716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12280" y="4846320"/>
            <a:ext cx="685799" cy="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74720" y="205740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AAB7CA"/>
                </a:solidFill>
                <a:latin typeface="Aptos"/>
              </a:rPr>
              <a:t>Original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534924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F6060"/>
                </a:solidFill>
                <a:latin typeface="Aptos"/>
              </a:rPr>
              <a:t>Fork from an earlier checkpoint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79" y="5669279"/>
            <a:ext cx="9832847" cy="978407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61872" y="5779008"/>
            <a:ext cx="94548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6062472"/>
            <a:ext cx="9454896" cy="91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dirty="0">
                <a:solidFill>
                  <a:srgbClr val="DAE4F0"/>
                </a:solidFill>
                <a:latin typeface="Cascadia Mono"/>
              </a:rPr>
              <a:t>history = list(</a:t>
            </a:r>
            <a:r>
              <a:rPr sz="1050" dirty="0" err="1">
                <a:solidFill>
                  <a:srgbClr val="DAE4F0"/>
                </a:solidFill>
                <a:latin typeface="Cascadia Mono"/>
              </a:rPr>
              <a:t>graph.get_state_history</a:t>
            </a:r>
            <a:r>
              <a:rPr sz="1050" dirty="0">
                <a:solidFill>
                  <a:srgbClr val="DAE4F0"/>
                </a:solidFill>
                <a:latin typeface="Cascadia Mono"/>
              </a:rPr>
              <a:t>(config))
# inspect a previous checkpoint
# replay or fork from that checkpoint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Replay vs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Two ways to use an earlier checkpoint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1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333756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30D3B8"/>
                </a:solidFill>
                <a:latin typeface="Aptos"/>
              </a:rPr>
              <a:t>REPLAY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389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Run the existing path again from a previous checkpoint.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AAB7CA"/>
                </a:solidFill>
                <a:latin typeface="Aptos"/>
              </a:rPr>
              <a:t>A → B → C →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Useful for debugging and reproducing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333756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7A646"/>
                </a:solidFill>
                <a:latin typeface="Aptos"/>
              </a:rPr>
              <a:t>FORK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389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Start from a previous checkpoint with a different state or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65760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AAB7CA"/>
                </a:solidFill>
                <a:latin typeface="Aptos"/>
              </a:rPr>
              <a:t>A → B → X →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9768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Useful for experiments and alternate decisions.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Human-in-the-Loop &amp; Interrupts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Pause a workflow, get human input, then continue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2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37160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122529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Generate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743200"/>
            <a:ext cx="137160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2816352"/>
            <a:ext cx="122529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Review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0" y="2578608"/>
            <a:ext cx="822960" cy="822960"/>
          </a:xfrm>
          <a:prstGeom prst="ellipse">
            <a:avLst/>
          </a:prstGeom>
          <a:solidFill>
            <a:srgbClr val="F7A646"/>
          </a:solidFill>
          <a:ln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2816352"/>
            <a:ext cx="822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0A111F"/>
                </a:solidFill>
                <a:latin typeface="Aptos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743200"/>
            <a:ext cx="137160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2552" y="2816352"/>
            <a:ext cx="122529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Human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743200"/>
            <a:ext cx="146304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14232" y="2816352"/>
            <a:ext cx="131673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Continue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3035808"/>
            <a:ext cx="6400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06240" y="3035808"/>
            <a:ext cx="8686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97880" y="3035808"/>
            <a:ext cx="73152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3035808"/>
            <a:ext cx="6400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28800" y="4251960"/>
            <a:ext cx="8458200" cy="123444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93392" y="4361688"/>
            <a:ext cx="81290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4645152"/>
            <a:ext cx="8129016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>
                <a:solidFill>
                  <a:srgbClr val="DAE4F0"/>
                </a:solidFill>
                <a:latin typeface="Cascadia Mono"/>
              </a:rPr>
              <a:t>from langgraph.types import interrupt
def review(state):
    answer = interrupt("Approve this result?")
    return {"approval": answer}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Command: Update State +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Useful when a node needs to change state and choose where to go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3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4937760" cy="1965960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460857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96312"/>
            <a:ext cx="4773168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DAE4F0"/>
                </a:solidFill>
                <a:latin typeface="Cascadia Mono"/>
              </a:rPr>
              <a:t>from </a:t>
            </a:r>
            <a:r>
              <a:rPr lang="en-US" sz="1300" dirty="0" err="1">
                <a:solidFill>
                  <a:srgbClr val="DAE4F0"/>
                </a:solidFill>
                <a:latin typeface="Cascadia Mono"/>
              </a:rPr>
              <a:t>langgraph.types</a:t>
            </a:r>
            <a:r>
              <a:rPr lang="en-US" sz="1300" dirty="0">
                <a:solidFill>
                  <a:srgbClr val="DAE4F0"/>
                </a:solidFill>
                <a:latin typeface="Cascadia Mono"/>
              </a:rPr>
              <a:t> import Command</a:t>
            </a:r>
          </a:p>
          <a:p>
            <a:endParaRPr lang="en-US" sz="1300" dirty="0">
              <a:solidFill>
                <a:srgbClr val="DAE4F0"/>
              </a:solidFill>
              <a:latin typeface="Cascadia Mono"/>
            </a:endParaRPr>
          </a:p>
          <a:p>
            <a:r>
              <a:rPr lang="en-US" sz="1300" dirty="0">
                <a:solidFill>
                  <a:srgbClr val="DAE4F0"/>
                </a:solidFill>
                <a:latin typeface="Cascadia Mono"/>
              </a:rPr>
              <a:t>def approval(state):</a:t>
            </a:r>
          </a:p>
          <a:p>
            <a:r>
              <a:rPr lang="en-US" sz="1300" dirty="0">
                <a:solidFill>
                  <a:srgbClr val="DAE4F0"/>
                </a:solidFill>
                <a:latin typeface="Cascadia Mono"/>
              </a:rPr>
              <a:t>    return Command(</a:t>
            </a:r>
          </a:p>
          <a:p>
            <a:r>
              <a:rPr lang="en-US" sz="1300" dirty="0">
                <a:solidFill>
                  <a:srgbClr val="DAE4F0"/>
                </a:solidFill>
                <a:latin typeface="Cascadia Mono"/>
              </a:rPr>
              <a:t>        update={"status": "approved"},</a:t>
            </a:r>
          </a:p>
          <a:p>
            <a:r>
              <a:rPr lang="en-US" sz="1300" dirty="0">
                <a:solidFill>
                  <a:srgbClr val="DAE4F0"/>
                </a:solidFill>
                <a:latin typeface="Cascadia Mono"/>
              </a:rPr>
              <a:t>        </a:t>
            </a:r>
            <a:r>
              <a:rPr lang="en-US" sz="1300" dirty="0" err="1">
                <a:solidFill>
                  <a:srgbClr val="DAE4F0"/>
                </a:solidFill>
                <a:latin typeface="Cascadia Mono"/>
              </a:rPr>
              <a:t>goto</a:t>
            </a:r>
            <a:r>
              <a:rPr lang="en-US" sz="1300" dirty="0">
                <a:solidFill>
                  <a:srgbClr val="DAE4F0"/>
                </a:solidFill>
                <a:latin typeface="Cascadia Mono"/>
              </a:rPr>
              <a:t>="</a:t>
            </a:r>
            <a:r>
              <a:rPr lang="en-US" sz="1300" dirty="0" err="1">
                <a:solidFill>
                  <a:srgbClr val="DAE4F0"/>
                </a:solidFill>
                <a:latin typeface="Cascadia Mono"/>
              </a:rPr>
              <a:t>next_node</a:t>
            </a:r>
            <a:r>
              <a:rPr lang="en-US" sz="1300" dirty="0">
                <a:solidFill>
                  <a:srgbClr val="DAE4F0"/>
                </a:solidFill>
                <a:latin typeface="Cascadia Mono"/>
              </a:rPr>
              <a:t>"</a:t>
            </a:r>
          </a:p>
          <a:p>
            <a:r>
              <a:rPr lang="en-US" sz="1300" dirty="0">
                <a:solidFill>
                  <a:srgbClr val="DAE4F0"/>
                </a:solidFill>
                <a:latin typeface="Cascadia Mono"/>
              </a:rPr>
              <a:t>   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1645920" cy="64008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176272"/>
            <a:ext cx="1499616" cy="493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Current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737360"/>
            <a:ext cx="164592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4232" y="1810512"/>
            <a:ext cx="149961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Update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926080"/>
            <a:ext cx="1645920" cy="59436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14232" y="2999232"/>
            <a:ext cx="1499616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Choose Next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046720" y="2011680"/>
            <a:ext cx="594360" cy="41148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2423160"/>
            <a:ext cx="594360" cy="77724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0" y="4160520"/>
            <a:ext cx="4663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4F7FB"/>
                </a:solidFill>
                <a:latin typeface="Aptos"/>
              </a:rPr>
              <a:t>Think: Command = state update + routing decision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960120"/>
            <a:ext cx="1097280" cy="1097280"/>
          </a:xfrm>
          <a:prstGeom prst="ellipse">
            <a:avLst/>
          </a:prstGeom>
          <a:solidFill>
            <a:srgbClr val="57CF8B"/>
          </a:solidFill>
          <a:ln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2011680"/>
            <a:ext cx="502920" cy="502920"/>
          </a:xfrm>
          <a:prstGeom prst="ellipse">
            <a:avLst/>
          </a:prstGeom>
          <a:solidFill>
            <a:srgbClr val="18263D"/>
          </a:solidFill>
          <a:ln>
            <a:solidFill>
              <a:srgbClr val="18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57CF8B"/>
                </a:solidFill>
                <a:latin typeface="Aptos"/>
              </a:rPr>
              <a:t>05 • WHEN TO USE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686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Aptos"/>
              </a:rPr>
              <a:t>COMPARISON &amp; DESIGN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AB7CA"/>
                </a:solidFill>
                <a:latin typeface="Aptos"/>
              </a:rPr>
              <a:t>From concepts to implementation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383280"/>
            <a:ext cx="5010912" cy="0"/>
          </a:xfrm>
          <a:prstGeom prst="line">
            <a:avLst/>
          </a:prstGeom>
          <a:ln w="38100">
            <a:solidFill>
              <a:srgbClr val="57C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126480"/>
            <a:ext cx="731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1000" b="1" dirty="0">
                <a:solidFill>
                  <a:srgbClr val="AAB7CA"/>
                </a:solidFill>
                <a:latin typeface="Aptos"/>
              </a:rPr>
              <a:t>4</a:t>
            </a:r>
            <a:endParaRPr sz="1000" b="1" dirty="0">
              <a:solidFill>
                <a:srgbClr val="AAB7C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LangGraph vs Normal Python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Both are useful—choose based on workflow complexity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5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2103120" cy="502920"/>
          </a:xfrm>
          <a:prstGeom prst="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93391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D3B8"/>
                </a:solidFill>
                <a:latin typeface="Aptos"/>
              </a:rPr>
              <a:t>Aspect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874519"/>
            <a:ext cx="4251960" cy="502920"/>
          </a:xfrm>
          <a:prstGeom prst="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993391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D3B8"/>
                </a:solidFill>
                <a:latin typeface="Aptos"/>
              </a:rPr>
              <a:t>Normal 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874519"/>
            <a:ext cx="4251960" cy="502920"/>
          </a:xfrm>
          <a:prstGeom prst="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1993391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D3B8"/>
                </a:solidFill>
                <a:latin typeface="Aptos"/>
              </a:rPr>
              <a:t>LangGraph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77439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4688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Basic sequence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79" y="23774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4688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Excellent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3774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24688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Excellent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834639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29260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Shared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79" y="28346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88920" y="29260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Manual variables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8346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29260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Explicit 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291839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3832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Branching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79" y="32918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88920" y="33832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if/else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2918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0" y="33832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Conditional edges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749039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38404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Loops / retries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79" y="37490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88920" y="38404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while/for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749039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0" y="38404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Graph cycles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206240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42976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Visualization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79" y="42062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42976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Usually manual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0" y="42062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42976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Graph structure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663440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47548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Persistence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97479" y="46634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88920" y="47548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Build it yourself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46634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0" y="47548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Checkpointing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120640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" y="52120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Human approval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7479" y="51206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52120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Custom logic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51206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40880" y="52120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Interrupts + persistence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5577840"/>
            <a:ext cx="210312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5800" y="5669279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AAB7CA"/>
                </a:solidFill>
                <a:latin typeface="Aptos"/>
              </a:rPr>
              <a:t>Complex agents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79" y="55778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88920" y="56692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Becomes harder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5577840"/>
            <a:ext cx="4251960" cy="457200"/>
          </a:xfrm>
          <a:prstGeom prst="rect">
            <a:avLst/>
          </a:prstGeom>
          <a:solidFill>
            <a:srgbClr val="0A111F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40880" y="5669279"/>
            <a:ext cx="4069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F4F7FB"/>
                </a:solidFill>
                <a:latin typeface="Aptos"/>
              </a:rPr>
              <a:t>Natural graph model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When LangGraph Is a Good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 the graph model when workflow state and control flow matter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6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486400" cy="356616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57CF8B"/>
                </a:solidFill>
                <a:latin typeface="Aptos"/>
              </a:rPr>
              <a:t>GOOD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7548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Multiple steps with shared state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Conditional routing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Retries / feedback loops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Multiple agents or tools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Human approval points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Need to inspect or recover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120640" cy="3566160"/>
          </a:xfrm>
          <a:prstGeom prst="roundRect">
            <a:avLst/>
          </a:prstGeom>
          <a:solidFill>
            <a:srgbClr val="121D30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7A646"/>
                </a:solidFill>
                <a:latin typeface="Aptos"/>
              </a:rPr>
              <a:t>MAY BE OVERKILL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97480"/>
            <a:ext cx="42976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One tiny script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Purely linear transformation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No state between steps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30D3B8"/>
                </a:solidFill>
                <a:latin typeface="Aptos"/>
              </a:rPr>
              <a:t>• </a:t>
            </a:r>
            <a:r>
              <a:rPr sz="1400">
                <a:solidFill>
                  <a:srgbClr val="F4F7FB"/>
                </a:solidFill>
                <a:latin typeface="Aptos"/>
              </a:rPr>
              <a:t>No decisions, loops or persistence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Common Design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Simple rules prevent many graph problems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3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7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28800" cy="566928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E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75104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EF6060"/>
                </a:solidFill>
                <a:latin typeface="Aptos"/>
              </a:rPr>
              <a:t>Huge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01952"/>
            <a:ext cx="8229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One node does everything → split responsibilities.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828800" cy="566928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98064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7A646"/>
                </a:solidFill>
                <a:latin typeface="Aptos"/>
              </a:rPr>
              <a:t>Messy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24912"/>
            <a:ext cx="8229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Store everything → keep only useful workflow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828800" cy="566928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21024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9C70FF"/>
                </a:solidFill>
                <a:latin typeface="Aptos"/>
              </a:rPr>
              <a:t>Unclear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547872"/>
            <a:ext cx="8229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Hidden decisions → make routing explicit.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1828800" cy="566928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443984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4A90E2"/>
                </a:solidFill>
                <a:latin typeface="Aptos"/>
              </a:rPr>
              <a:t>No 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370832"/>
            <a:ext cx="8229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Loops without limits → define retry / exit rules.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828800" cy="566928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266944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D3B8"/>
                </a:solidFill>
                <a:latin typeface="Aptos"/>
              </a:rPr>
              <a:t>Too many abstractions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193792"/>
            <a:ext cx="8229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Over-engineering → start simple, modularize later.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960120"/>
            <a:ext cx="1097280" cy="109728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2011680"/>
            <a:ext cx="502920" cy="502920"/>
          </a:xfrm>
          <a:prstGeom prst="ellipse">
            <a:avLst/>
          </a:prstGeom>
          <a:solidFill>
            <a:srgbClr val="18263D"/>
          </a:solidFill>
          <a:ln>
            <a:solidFill>
              <a:srgbClr val="18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0D3B8"/>
                </a:solidFill>
                <a:latin typeface="Aptos"/>
              </a:rPr>
              <a:t>06 • PUT THE PIECES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686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4F7FB"/>
                </a:solidFill>
                <a:latin typeface="Aptos"/>
              </a:rPr>
              <a:t>COMPLETE PRACTICAL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AB7CA"/>
                </a:solidFill>
                <a:latin typeface="Aptos"/>
              </a:rPr>
              <a:t>From concepts to implementation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383280"/>
            <a:ext cx="5010912" cy="0"/>
          </a:xfrm>
          <a:prstGeom prst="line">
            <a:avLst/>
          </a:prstGeom>
          <a:ln w="38100">
            <a:solidFill>
              <a:srgbClr val="30D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126480"/>
            <a:ext cx="731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sz="1000" b="1" dirty="0">
                <a:solidFill>
                  <a:srgbClr val="AAB7CA"/>
                </a:solidFill>
                <a:latin typeface="Aptos"/>
              </a:rPr>
              <a:t>38</a:t>
            </a:r>
            <a:endParaRPr sz="1000" b="1" dirty="0">
              <a:solidFill>
                <a:srgbClr val="AAB7C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Complete Mini Graph: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A compact example combining state, nodes, routing and a loop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lang="en-IN" sz="900" b="1" dirty="0">
                <a:solidFill>
                  <a:srgbClr val="AAB7CA"/>
                </a:solidFill>
                <a:latin typeface="Aptos"/>
              </a:rPr>
              <a:t>39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3290" y="1425677"/>
            <a:ext cx="11484078" cy="5011693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92807"/>
            <a:ext cx="108722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716" y="1545336"/>
            <a:ext cx="10248556" cy="4809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919" dirty="0">
                <a:solidFill>
                  <a:srgbClr val="DAE4F0"/>
                </a:solidFill>
                <a:latin typeface="Cascadia Mono"/>
              </a:rPr>
              <a:t>from typing import 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TypedDict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
from 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langgraph.graph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 import 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StateGraph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, START, END
class State(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TypedDict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):
    accuracy: float
    report: str
def train(state):
    return {"accuracy": 85}
def evaluate(state):
    return {}
def route(state):
    return "good" if state["accuracy"] &gt;= 80 else "retry"
def report(state):
    return {"report": "Model accepted"}
builder = 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StateGraph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(State)
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builder.add_node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("train", train)
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builder.add_node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("evaluate", evaluate)
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builder.add_node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("report", report)
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builder.add_edge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(START, "train")
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builder.add_edge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("train", "evaluate")
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builder.add_conditional_edges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
    "evaluate", route,
    {"good": "report", "retry": "train"}
)
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builder.add_edge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("report", END)
graph = 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builder.compile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()
result = </a:t>
            </a:r>
            <a:r>
              <a:rPr lang="en-IN" sz="919" dirty="0" err="1">
                <a:solidFill>
                  <a:srgbClr val="DAE4F0"/>
                </a:solidFill>
                <a:latin typeface="Cascadia Mono"/>
              </a:rPr>
              <a:t>graph.invoke</a:t>
            </a:r>
            <a:r>
              <a:rPr lang="en-IN" sz="919" dirty="0">
                <a:solidFill>
                  <a:srgbClr val="DAE4F0"/>
                </a:solidFill>
                <a:latin typeface="Cascadia Mono"/>
              </a:rPr>
              <a:t>({"accuracy": 0, "report": ""})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Complete Mini Graph: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The code above creates this execution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4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0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109728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816352"/>
            <a:ext cx="95097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743200"/>
            <a:ext cx="128016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0592" y="2816352"/>
            <a:ext cx="113385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43200"/>
            <a:ext cx="146304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9C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2816352"/>
            <a:ext cx="131673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Evaluate</a:t>
            </a:r>
          </a:p>
        </p:txBody>
      </p:sp>
      <p:sp>
        <p:nvSpPr>
          <p:cNvPr id="14" name="Diamond 13"/>
          <p:cNvSpPr/>
          <p:nvPr/>
        </p:nvSpPr>
        <p:spPr>
          <a:xfrm>
            <a:off x="6537960" y="2423160"/>
            <a:ext cx="1554480" cy="914400"/>
          </a:xfrm>
          <a:prstGeom prst="diamond">
            <a:avLst/>
          </a:prstGeom>
          <a:solidFill>
            <a:srgbClr val="18263D"/>
          </a:solidFill>
          <a:ln w="19050">
            <a:solidFill>
              <a:srgbClr val="F7A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2552" y="2679191"/>
            <a:ext cx="1225295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accuracy
≥ 80?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920240"/>
            <a:ext cx="132588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57C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1993392"/>
            <a:ext cx="117957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1920240"/>
            <a:ext cx="109728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97312" y="1993392"/>
            <a:ext cx="95097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4160520"/>
            <a:ext cx="1645920" cy="548640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E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14232" y="4233672"/>
            <a:ext cx="1499616" cy="40233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4F7FB"/>
                </a:solidFill>
                <a:latin typeface="Aptos"/>
              </a:rPr>
              <a:t>Retry → Train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74519" y="3017520"/>
            <a:ext cx="502921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3017520"/>
            <a:ext cx="640080" cy="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60720" y="2880360"/>
            <a:ext cx="777240" cy="137160"/>
          </a:xfrm>
          <a:prstGeom prst="line">
            <a:avLst/>
          </a:prstGeom>
          <a:ln w="254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92440" y="2194560"/>
            <a:ext cx="822960" cy="548640"/>
          </a:xfrm>
          <a:prstGeom prst="line">
            <a:avLst/>
          </a:prstGeom>
          <a:ln w="25400">
            <a:solidFill>
              <a:srgbClr val="57C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41280" y="2194560"/>
            <a:ext cx="182880" cy="0"/>
          </a:xfrm>
          <a:prstGeom prst="line">
            <a:avLst/>
          </a:prstGeom>
          <a:ln w="25400">
            <a:solidFill>
              <a:srgbClr val="57C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52360" y="3337560"/>
            <a:ext cx="1188720" cy="109728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20" idx="2"/>
          </p:cNvCxnSpPr>
          <p:nvPr/>
        </p:nvCxnSpPr>
        <p:spPr>
          <a:xfrm>
            <a:off x="9464040" y="4709160"/>
            <a:ext cx="0" cy="54864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017520" y="5257800"/>
            <a:ext cx="6446520" cy="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017520" y="3337560"/>
            <a:ext cx="0" cy="1920240"/>
          </a:xfrm>
          <a:prstGeom prst="line">
            <a:avLst/>
          </a:prstGeom>
          <a:ln w="25400">
            <a:solidFill>
              <a:srgbClr val="E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83879" y="21488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57CF8B"/>
                </a:solidFill>
                <a:latin typeface="Aptos"/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88620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EF6060"/>
                </a:solidFill>
                <a:latin typeface="Aptos"/>
              </a:rPr>
              <a:t>NO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 err="1">
                <a:solidFill>
                  <a:srgbClr val="F4F7FB"/>
                </a:solidFill>
                <a:latin typeface="Aptos"/>
              </a:rPr>
              <a:t>LangGraph</a:t>
            </a:r>
            <a:r>
              <a:rPr sz="2800" b="1" dirty="0">
                <a:solidFill>
                  <a:srgbClr val="F4F7FB"/>
                </a:solidFill>
                <a:latin typeface="Aptos"/>
              </a:rPr>
              <a:t> Code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The structure to remember for implementation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4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1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4632" y="1590337"/>
            <a:ext cx="11343968" cy="4883615"/>
          </a:xfrm>
          <a:prstGeom prst="roundRect">
            <a:avLst/>
          </a:prstGeom>
          <a:solidFill>
            <a:srgbClr val="0C1422"/>
          </a:solidFill>
          <a:ln w="12700">
            <a:solidFill>
              <a:srgbClr val="28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1050645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30D3B8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542" y="1664928"/>
            <a:ext cx="9134168" cy="4801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dirty="0">
                <a:solidFill>
                  <a:srgbClr val="DAE4F0"/>
                </a:solidFill>
                <a:latin typeface="Cascadia Mono"/>
              </a:rPr>
              <a:t># 1. State
class State(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TypedDict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):
    ...
# 2. Nodes
def 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node_a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(state):
    return {...}
# 3. Builder
builder = 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StateGraph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(State)
# 4. Add nodes
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builder.add_node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("a", 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node_a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)
# 5. Add edges
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builder.add_edge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(START, "a")
# 6. Conditional routing
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builder.add_conditional_edges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(
    "a", router,
    {"yes": "b", "no": "c"}
)
# 7. Compile + run
graph = 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builder.compile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()
result = 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graph.invoke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(</a:t>
            </a:r>
            <a:r>
              <a:rPr sz="1200" dirty="0" err="1">
                <a:solidFill>
                  <a:srgbClr val="DAE4F0"/>
                </a:solidFill>
                <a:latin typeface="Cascadia Mono"/>
              </a:rPr>
              <a:t>input_data</a:t>
            </a:r>
            <a:r>
              <a:rPr sz="1200" dirty="0">
                <a:solidFill>
                  <a:srgbClr val="DAE4F0"/>
                </a:solidFill>
                <a:latin typeface="Cascadia Mono"/>
              </a:rPr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PRACTICAL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Architecture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Use this before implementing a LangGraph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4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2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2960" y="1892807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74519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Can I describe the State in a few fields?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14015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7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Does every node have one clear responsibility?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935223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008375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16935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Are normal edges and conditional edges easy to follow?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56431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529583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38143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Does every loop have a clear exit / retry condition?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977639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1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59351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Should any complex component become a subgraph?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498847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571999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80559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Do I need persistence, memory or human approval?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020055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093207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001768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Would checkpointing help debugging or recovery?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541264"/>
            <a:ext cx="320040" cy="320040"/>
          </a:xfrm>
          <a:prstGeom prst="ellipse">
            <a:avLst/>
          </a:prstGeom>
          <a:solidFill>
            <a:srgbClr val="30D3B8"/>
          </a:solidFill>
          <a:ln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614416"/>
            <a:ext cx="3200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0A111F"/>
                </a:solidFill>
                <a:latin typeface="Apto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522976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Aptos"/>
              </a:rPr>
              <a:t>Can I test each node independently?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The LangGraph mental model in one slide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4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3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0D3B8"/>
                </a:solidFill>
                <a:latin typeface="Aptos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783080"/>
            <a:ext cx="8138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Shared information flowing through the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4A90E2"/>
                </a:solidFill>
                <a:latin typeface="Aptos"/>
              </a:rPr>
              <a:t>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404872"/>
            <a:ext cx="8138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Small, testable units of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26664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9C70FF"/>
                </a:solidFill>
                <a:latin typeface="Aptos"/>
              </a:rPr>
              <a:t>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026664"/>
            <a:ext cx="8138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Explicit workflow connections.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48456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7A646"/>
                </a:solidFill>
                <a:latin typeface="Aptos"/>
              </a:rPr>
              <a:t>Conditional + Loops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648456"/>
            <a:ext cx="8138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Decisions and retries become visible in the graph.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7CF8B"/>
                </a:solidFill>
                <a:latin typeface="Aptos"/>
              </a:rPr>
              <a:t>Subgraphs + Modularity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270248"/>
            <a:ext cx="8138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Keep complex systems organized and reusable.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0D3B8"/>
                </a:solidFill>
                <a:latin typeface="Aptos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892040"/>
            <a:ext cx="8138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Checkpointing enables memory, recovery and time travel.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13831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9C70FF"/>
                </a:solidFill>
                <a:latin typeface="Aptos"/>
              </a:rPr>
              <a:t>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5513831"/>
            <a:ext cx="8138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Aptos"/>
              </a:rPr>
              <a:t>Combine reasoning, tools and graph control 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6172200"/>
            <a:ext cx="9509760" cy="347472"/>
          </a:xfrm>
          <a:prstGeom prst="roundRect">
            <a:avLst/>
          </a:prstGeom>
          <a:solidFill>
            <a:srgbClr val="18263D"/>
          </a:solidFill>
          <a:ln w="12700">
            <a:solidFill>
              <a:srgbClr val="30D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6272784"/>
            <a:ext cx="91440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30D3B8"/>
                </a:solidFill>
                <a:latin typeface="Aptos"/>
              </a:rPr>
              <a:t>LANGGRAPH = STATE + NODES + EDGES + DECISIONS + PERSISTENCE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0D3B8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B"/>
                </a:solidFill>
                <a:latin typeface="Aptos"/>
              </a:rPr>
              <a:t>References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AB7CA"/>
                </a:solidFill>
                <a:latin typeface="Aptos"/>
              </a:rPr>
              <a:t>Official LangGraph resources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283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AB7CA"/>
                </a:solidFill>
                <a:latin typeface="Aptos"/>
              </a:rPr>
              <a:t>4</a:t>
            </a:r>
            <a:r>
              <a:rPr lang="en-IN" sz="900" b="1" dirty="0">
                <a:solidFill>
                  <a:srgbClr val="AAB7CA"/>
                </a:solidFill>
                <a:latin typeface="Aptos"/>
              </a:rPr>
              <a:t>4</a:t>
            </a:r>
            <a:endParaRPr sz="900" b="1" dirty="0">
              <a:solidFill>
                <a:srgbClr val="AAB7C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2412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LangGraph Documentation — docs.langchain.com/oss/python/langgraph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LangGraph Python Reference — reference.langchain.com/python/langgraph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Persistence &amp; Checkpointing — LangGraph documentation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Time Travel — LangGraph documentation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Subgraphs — LangGraph documentation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30D3B8"/>
                </a:solidFill>
                <a:latin typeface="Aptos"/>
              </a:rPr>
              <a:t>• </a:t>
            </a:r>
            <a:r>
              <a:rPr sz="1600">
                <a:solidFill>
                  <a:srgbClr val="F4F7FB"/>
                </a:solidFill>
                <a:latin typeface="Aptos"/>
              </a:rPr>
              <a:t>Interrupts / Human-in-the-loop — LangGraph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AAB7CA"/>
                </a:solidFill>
                <a:latin typeface="Aptos"/>
              </a:rPr>
              <a:t>Use the official documentation for version-specific API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2987</Words>
  <Application>Microsoft Office PowerPoint</Application>
  <PresentationFormat>Widescreen</PresentationFormat>
  <Paragraphs>539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akudari varsha</dc:creator>
  <cp:keywords/>
  <dc:description>generated using python-pptx</dc:description>
  <cp:lastModifiedBy>Ranju Sahu</cp:lastModifiedBy>
  <cp:revision>4</cp:revision>
  <dcterms:created xsi:type="dcterms:W3CDTF">2013-01-27T09:14:16Z</dcterms:created>
  <dcterms:modified xsi:type="dcterms:W3CDTF">2026-08-25T03:32:09Z</dcterms:modified>
  <cp:category/>
</cp:coreProperties>
</file>